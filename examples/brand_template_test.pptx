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EAF1FF"/>
                </a:solidFill>
                <a:latin typeface="Calibri"/>
              </a:rPr>
              <a:t>Revenue vs Plan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ln w="31750">
              <a:solidFill>
                <a:srgbClr val="2F80ED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</c:v>
                </c:pt>
                <c:pt idx="1">
                  <c:v>2.9</c:v>
                </c:pt>
                <c:pt idx="2">
                  <c:v>3.1</c:v>
                </c:pt>
                <c:pt idx="3">
                  <c:v>3.3</c:v>
                </c:pt>
                <c:pt idx="4">
                  <c:v>3.5</c:v>
                </c:pt>
                <c:pt idx="5">
                  <c:v>3.8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($M)</c:v>
                </c:pt>
              </c:strCache>
            </c:strRef>
          </c:tx>
          <c:spPr>
            <a:ln w="31750">
              <a:solidFill>
                <a:srgbClr val="1FA2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</c:v>
                </c:pt>
                <c:pt idx="1">
                  <c:v>2.9</c:v>
                </c:pt>
                <c:pt idx="2">
                  <c:v>3.0</c:v>
                </c:pt>
                <c:pt idx="3">
                  <c:v>3.2</c:v>
                </c:pt>
                <c:pt idx="4">
                  <c:v>3.4</c:v>
                </c:pt>
                <c:pt idx="5">
                  <c:v>3.6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B376E"/>
            </a:solidFill>
          </a:ln>
        </c:spPr>
        <c:txPr>
          <a:bodyPr/>
          <a:lstStyle/>
          <a:p>
            <a:pPr>
              <a:defRPr sz="1100">
                <a:solidFill>
                  <a:srgbClr val="B7C9E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1B376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B376E"/>
            </a:solidFill>
          </a:ln>
        </c:spPr>
        <c:txPr>
          <a:bodyPr/>
          <a:lstStyle/>
          <a:p>
            <a:pPr>
              <a:defRPr sz="1100">
                <a:solidFill>
                  <a:srgbClr val="B7C9EA"/>
                </a:solidFill>
                <a:latin typeface="Calibri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B7C9E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EAF1FF"/>
                </a:solidFill>
                <a:latin typeface="Calibri Light"/>
              </a:rPr>
              <a:t>Brand Template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B7C9EA"/>
                </a:solidFill>
                <a:latin typeface="Calibri Light"/>
              </a:rPr>
              <a:t>Dark navy + blue accent example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399"/>
            <a:ext cx="45720" cy="5486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399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AF1FF"/>
                </a:solidFill>
                <a:latin typeface="Calibri Light"/>
              </a:rPr>
              <a:t>Executive 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5775" y="2171699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79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79"/>
            <a:ext cx="54864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2926079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EAF1FF"/>
                </a:solidFill>
                <a:latin typeface="Calibri"/>
              </a:rPr>
              <a:t>INFO  Theme loaded from JSON and applied across components.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AF1FF"/>
                </a:solidFill>
                <a:latin typeface="Calibri Light"/>
              </a:rPr>
              <a:t>Quarterly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13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" cy="14630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EA7D3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AF1FF"/>
                </a:solidFill>
                <a:latin typeface="Calibri Light"/>
              </a:rPr>
              <a:t>$3.8M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6C281"/>
                </a:solidFill>
                <a:latin typeface="Calibri"/>
              </a:rPr>
              <a:t>▲ +14%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13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7258" y="1325880"/>
            <a:ext cx="45720" cy="14630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EA7D3"/>
                </a:solidFill>
                <a:latin typeface="Calibri"/>
              </a:rPr>
              <a:t>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AF1FF"/>
                </a:solidFill>
                <a:latin typeface="Calibri Light"/>
              </a:rPr>
              <a:t>62.4%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6C281"/>
                </a:solidFill>
                <a:latin typeface="Calibri"/>
              </a:rPr>
              <a:t>▲ +2.1pp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32588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13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325880"/>
            <a:ext cx="45720" cy="14630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EA7D3"/>
                </a:solidFill>
                <a:latin typeface="Calibri"/>
              </a:rP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AF1FF"/>
                </a:solidFill>
                <a:latin typeface="Calibri Light"/>
              </a:rPr>
              <a:t>2.9%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5D6A"/>
                </a:solidFill>
                <a:latin typeface="Calibri"/>
              </a:rPr>
              <a:t>▼ +0.3pp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7C9EA"/>
                </a:solidFill>
                <a:latin typeface="Calibri"/>
              </a:rPr>
              <a:t>Platform modernization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31546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F80ED"/>
                </a:solidFill>
                <a:latin typeface="Calibri"/>
              </a:rPr>
              <a:t>78%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1B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8796290" cy="164592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7C9EA"/>
                </a:solidFill>
                <a:latin typeface="Calibri"/>
              </a:rPr>
              <a:t>Enterprise rollout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38404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F80ED"/>
                </a:solidFill>
                <a:latin typeface="Calibri"/>
              </a:rPr>
              <a:t>61%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6052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1B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6879150" cy="164592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262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7C9EA"/>
                </a:solidFill>
                <a:latin typeface="Calibri"/>
              </a:rPr>
              <a:t>Automation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45262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F80ED"/>
                </a:solidFill>
                <a:latin typeface="Calibri"/>
              </a:rPr>
              <a:t>84%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1B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846320"/>
            <a:ext cx="9472927" cy="164592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AF1FF"/>
                </a:solidFill>
                <a:latin typeface="Calibri Light"/>
              </a:rPr>
              <a:t>Trend and Priorities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98448"/>
          <a:ext cx="5547207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87287" y="1298448"/>
            <a:ext cx="55472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EAF1FF"/>
                </a:solidFill>
                <a:latin typeface="Calibri Light"/>
              </a:rPr>
              <a:t>H2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7287" y="1664207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6C28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1664207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8EA7D3"/>
                </a:solidFill>
                <a:latin typeface="Calibri"/>
              </a:rPr>
              <a:t>Accelerate enterprise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198424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8EA7D3"/>
                </a:solidFill>
                <a:latin typeface="Calibri"/>
              </a:rPr>
              <a:t>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198424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AF1FF"/>
                </a:solidFill>
                <a:latin typeface="Calibri"/>
              </a:rPr>
              <a:t>Consolidate support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287" y="230428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6C28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30428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8EA7D3"/>
                </a:solidFill>
                <a:latin typeface="Calibri"/>
              </a:rPr>
              <a:t>Expand partner channel enablement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262432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8EA7D3"/>
                </a:solidFill>
                <a:latin typeface="Calibri"/>
              </a:rPr>
              <a:t>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6243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AF1FF"/>
                </a:solidFill>
                <a:latin typeface="Calibri"/>
              </a:rPr>
              <a:t>Harden observability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