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Monthly Revenue vs Target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5FAD5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solidFill>
              <a:srgbClr val="7EC8A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450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Revenue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1750">
              <a:solidFill>
                <a:srgbClr val="5FAD5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</c:v>
                </c:pt>
                <c:pt idx="1">
                  <c:v>380</c:v>
                </c:pt>
                <c:pt idx="2">
                  <c:v>410</c:v>
                </c:pt>
                <c:pt idx="3">
                  <c:v>470</c:v>
                </c:pt>
                <c:pt idx="4">
                  <c:v>510</c:v>
                </c:pt>
                <c:pt idx="5">
                  <c:v>580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($K)</c:v>
                </c:pt>
              </c:strCache>
            </c:strRef>
          </c:tx>
          <c:spPr>
            <a:ln w="31750">
              <a:solidFill>
                <a:srgbClr val="7EC8A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</c:v>
                </c:pt>
                <c:pt idx="1">
                  <c:v>380</c:v>
                </c:pt>
                <c:pt idx="2">
                  <c:v>400</c:v>
                </c:pt>
                <c:pt idx="3">
                  <c:v>450</c:v>
                </c:pt>
                <c:pt idx="4">
                  <c:v>490</c:v>
                </c:pt>
                <c:pt idx="5">
                  <c:v>550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3450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D9E3E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Revenue by Region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FAD56"/>
              </a:solidFill>
            </c:spPr>
          </c:dPt>
          <c:dPt>
            <c:idx val="1"/>
            <c:spPr>
              <a:solidFill>
                <a:srgbClr val="7EC8A0"/>
              </a:solidFill>
            </c:spPr>
          </c:dPt>
          <c:dPt>
            <c:idx val="2"/>
            <c:spPr>
              <a:solidFill>
                <a:srgbClr val="3E8035"/>
              </a:solidFill>
            </c:spPr>
          </c:dPt>
          <c:dPt>
            <c:idx val="3"/>
            <c:spPr>
              <a:solidFill>
                <a:srgbClr val="8CC48A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</c:pieChart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Monthly Recurring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MRR ($K)</c:v>
                </c:pt>
              </c:strCache>
            </c:strRef>
          </c:tx>
          <c:spPr>
            <a:solidFill>
              <a:srgbClr val="5FAD5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98</c:v>
                </c:pt>
                <c:pt idx="2">
                  <c:v>105</c:v>
                </c:pt>
                <c:pt idx="3">
                  <c:v>112</c:v>
                </c:pt>
                <c:pt idx="4">
                  <c:v>120</c:v>
                </c:pt>
                <c:pt idx="5">
                  <c:v>128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450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Evaluation Snapshot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Speed</c:v>
                </c:pt>
              </c:strCache>
            </c:strRef>
          </c:tx>
          <c:spPr>
            <a:solidFill>
              <a:srgbClr val="5FAD5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85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Flexibility</c:v>
                </c:pt>
              </c:strCache>
            </c:strRef>
          </c:tx>
          <c:spPr>
            <a:solidFill>
              <a:srgbClr val="7EC8A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Build</c:v>
                </c:pt>
                <c:pt idx="1">
                  <c:v>Buy</c:v>
                </c:pt>
                <c:pt idx="2">
                  <c:v>Hybrid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34504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Revenue Mix (Donut)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5FAD56"/>
              </a:solidFill>
            </c:spPr>
          </c:dPt>
          <c:dPt>
            <c:idx val="1"/>
            <c:spPr>
              <a:solidFill>
                <a:srgbClr val="7EC8A0"/>
              </a:solidFill>
            </c:spPr>
          </c:dPt>
          <c:dPt>
            <c:idx val="2"/>
            <c:spPr>
              <a:solidFill>
                <a:srgbClr val="3E8035"/>
              </a:solidFill>
            </c:spPr>
          </c:dPt>
          <c:dPt>
            <c:idx val="3"/>
            <c:spPr>
              <a:solidFill>
                <a:srgbClr val="8CC48A"/>
              </a:solidFill>
            </c:spPr>
          </c:dPt>
          <c:cat>
            <c:strRef>
              <c:f>Sheet1!$A$2:$A$5</c:f>
              <c:strCache>
                <c:ptCount val="4"/>
                <c:pt idx="0">
                  <c:v>APAC</c:v>
                </c:pt>
                <c:pt idx="1">
                  <c:v>EMEA</c:v>
                </c:pt>
                <c:pt idx="2">
                  <c:v>Americas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30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D9E3E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noFill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rPr sz="2000">
                <a:solidFill>
                  <a:srgbClr val="FFFFFF"/>
                </a:solidFill>
                <a:latin typeface="Calibri"/>
              </a:rPr>
              <a:t>Capability Scorecard</a:t>
            </a:r>
          </a:p>
        </c:rich>
      </c:tx>
      <c:layout/>
      <c:overlay val="0"/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ln w="31750">
              <a:solidFill>
                <a:srgbClr val="5FAD56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88</c:v>
                </c:pt>
                <c:pt idx="3">
                  <c:v>75</c:v>
                </c:pt>
                <c:pt idx="4">
                  <c:v>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1750">
              <a:solidFill>
                <a:srgbClr val="7EC8A0"/>
              </a:solidFill>
            </a:ln>
          </c:spPr>
          <c:cat>
            <c:strRef>
              <c:f>Sheet1!$A$2:$A$6</c:f>
              <c:strCache>
                <c:ptCount val="5"/>
                <c:pt idx="0">
                  <c:v>Reliability</c:v>
                </c:pt>
                <c:pt idx="1">
                  <c:v>Usability</c:v>
                </c:pt>
                <c:pt idx="2">
                  <c:v>Security</c:v>
                </c:pt>
                <c:pt idx="3">
                  <c:v>Performance</c:v>
                </c:pt>
                <c:pt idx="4">
                  <c:v>Extensibility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86</c:v>
                </c:pt>
                <c:pt idx="2">
                  <c:v>92</c:v>
                </c:pt>
                <c:pt idx="3">
                  <c:v>84</c:v>
                </c:pt>
                <c:pt idx="4">
                  <c:v>80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>
          <c:spPr>
            <a:ln>
              <a:solidFill>
                <a:srgbClr val="34504E"/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spPr>
          <a:ln>
            <a:solidFill>
              <a:srgbClr val="34504E"/>
            </a:solidFill>
          </a:ln>
        </c:spPr>
        <c:txPr>
          <a:bodyPr/>
          <a:lstStyle/>
          <a:p>
            <a:pPr>
              <a:defRPr sz="1100">
                <a:solidFill>
                  <a:srgbClr val="D9E3E0"/>
                </a:solidFill>
                <a:latin typeface="Calibri"/>
              </a:defRPr>
            </a:pPr>
          </a:p>
        </c:txPr>
        <c:crossAx val="207361264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Q2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D9E3E0"/>
                </a:solidFill>
                <a:latin typeface="Calibri Light"/>
              </a:rPr>
              <a:t>Performance metrics, trends, and outlook —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79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79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Key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72039" y="2125979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Performance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+18%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7258" y="132588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24,370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32588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32588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916" y="150876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CHURN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173736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214884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06060"/>
                </a:solidFill>
                <a:latin typeface="Calibri"/>
              </a:rPr>
              <a:t>▼ +0.4pp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5FAD56"/>
                </a:solidFill>
                <a:latin typeface="Calibri Light"/>
              </a:rPr>
              <a:t>98.7%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D9E3E0"/>
                </a:solidFill>
                <a:latin typeface="Calibri"/>
              </a:rPr>
              <a:t>System 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30-day rolling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7258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5FAD56"/>
                </a:solidFill>
                <a:latin typeface="Calibri Light"/>
              </a:rPr>
              <a:t>4.2s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258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D9E3E0"/>
                </a:solidFill>
                <a:latin typeface="Calibri"/>
              </a:rPr>
              <a:t>Avg Response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7258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p95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7316" y="3337560"/>
            <a:ext cx="3637178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5FAD56"/>
                </a:solidFill>
                <a:latin typeface="Calibri Light"/>
              </a:rPr>
              <a:t>$42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148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0" i="0">
                <a:solidFill>
                  <a:srgbClr val="D9E3E0"/>
                </a:solidFill>
                <a:latin typeface="Calibri"/>
              </a:rPr>
              <a:t>CAC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316" y="457200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Customer acquisition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Product Revenue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25839" cy="320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3039" y="1280160"/>
            <a:ext cx="2062919" cy="320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Q1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5959" y="1280160"/>
            <a:ext cx="2062919" cy="320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Q2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8879" y="1280160"/>
            <a:ext cx="1375279" cy="320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84159" y="1280160"/>
            <a:ext cx="1650335" cy="320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412583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Alpha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3039" y="160020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$420K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5959" y="160020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$510K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08879" y="1600200"/>
            <a:ext cx="137527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+21%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84159" y="1600200"/>
            <a:ext cx="1650335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412583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Beta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83039" y="1920240"/>
            <a:ext cx="206291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$280K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45959" y="1920240"/>
            <a:ext cx="206291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$295K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08879" y="1920240"/>
            <a:ext cx="137527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+5%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84159" y="1920240"/>
            <a:ext cx="1650335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40280"/>
            <a:ext cx="412583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Gamma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3039" y="224028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$190K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5959" y="224028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$240K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08879" y="2240280"/>
            <a:ext cx="137527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+26%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4159" y="2240280"/>
            <a:ext cx="1650335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412583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Delta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3039" y="2560320"/>
            <a:ext cx="206291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$95K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5959" y="2560320"/>
            <a:ext cx="206291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$88K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8879" y="2560320"/>
            <a:ext cx="1375279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-7%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4159" y="2560320"/>
            <a:ext cx="1650335" cy="32004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Behind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80360"/>
            <a:ext cx="412583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Epsilon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3039" y="288036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$60K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5959" y="2880360"/>
            <a:ext cx="206291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$75K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08879" y="2880360"/>
            <a:ext cx="1375279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+25%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84159" y="2880360"/>
            <a:ext cx="1650335" cy="32004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 bIns="91440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Revenue Trend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87287" y="1280160"/>
          <a:ext cx="5547207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4160520"/>
          <a:ext cx="11277295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Roadmap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" y="1773936"/>
            <a:ext cx="64008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Redesign onboarding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" y="2093976"/>
            <a:ext cx="64008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Launch mobile app v2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" y="2414016"/>
            <a:ext cx="64008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Integrate SSO providers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" y="2734056"/>
            <a:ext cx="64008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Expand 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7258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Priorities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7258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5FAD56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Define OKRs for 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7258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5FAD56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1578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Security audit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7258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5FAD56"/>
                </a:solidFill>
                <a:latin typeface="Calibri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Migrate to GCP Cloud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7258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5FAD56"/>
                </a:solidFill>
                <a:latin typeface="Calibri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Enable A/B testing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1280160"/>
            <a:ext cx="363717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16459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5FAD56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164592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A8BAB5"/>
                </a:solidFill>
                <a:latin typeface="Calibri"/>
              </a:rPr>
              <a:t>Deploy rate limiting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7316" y="19659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196596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Fix dashboard load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22860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5FAD56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228600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A8BAB5"/>
                </a:solidFill>
                <a:latin typeface="Calibri"/>
              </a:rPr>
              <a:t>Update privacy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7316" y="2606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1636" y="260604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Archive legacy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29260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636" y="2926080"/>
            <a:ext cx="336285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Notify affected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10486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Notices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2F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" cy="6858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32588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D9F0E8"/>
                </a:solidFill>
                <a:latin typeface="Calibri"/>
              </a:rPr>
              <a:t>INFO  Database migration scheduled for July 4 — expect 2 min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4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219456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5EDD8"/>
                </a:solidFill>
                <a:latin typeface="Calibri"/>
              </a:rPr>
              <a:t>⚠  WARNING  Churn has increased 0.4pp — review retention playbook this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39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2F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39"/>
            <a:ext cx="54864" cy="6858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" y="3063239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D9F0E0"/>
                </a:solidFill>
                <a:latin typeface="Calibri"/>
              </a:rPr>
              <a:t>✓  SUCCESS  Uptime target of 99.5% achieved for third consecutive month.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277295" cy="685800"/>
          </a:xfrm>
          <a:prstGeom prst="roundRect">
            <a:avLst>
              <a:gd name="adj" fmla="val 5333"/>
            </a:avLst>
          </a:prstGeom>
          <a:solidFill>
            <a:srgbClr val="5A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" y="3931920"/>
            <a:ext cx="10948111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400" b="0" i="0">
                <a:solidFill>
                  <a:srgbClr val="FFDEDB"/>
                </a:solidFill>
                <a:latin typeface="Calibri"/>
              </a:rPr>
              <a:t>✕  ERROR  Payment gateway timeout rate exceeded SLA threshold on June 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77295" cy="1188720"/>
          </a:xfrm>
          <a:prstGeom prst="roundRect">
            <a:avLst>
              <a:gd name="adj" fmla="val 3846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54864" cy="1188720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212080"/>
            <a:ext cx="10673791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1">
                <a:solidFill>
                  <a:srgbClr val="D9E3E0"/>
                </a:solidFill>
                <a:latin typeface="Calibri Light"/>
              </a:rPr>
              <a:t>“The goal is not to build more features — it's to make existing ones indispensable.”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760720"/>
            <a:ext cx="10673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— Product Review,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Sprint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Week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Authentication service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1371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FAD56"/>
                </a:solidFill>
                <a:latin typeface="Calibri"/>
              </a:rPr>
              <a:t>85%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9585700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API v3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20574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FAD56"/>
                </a:solidFill>
                <a:latin typeface="Calibri"/>
              </a:rPr>
              <a:t>62%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6991923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Data warehouse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2743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FAD56"/>
                </a:solidFill>
                <a:latin typeface="Calibri"/>
              </a:rPr>
              <a:t>40%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632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063240"/>
            <a:ext cx="4510918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Mobile parity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34290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FAD56"/>
                </a:solidFill>
                <a:latin typeface="Calibri"/>
              </a:rPr>
              <a:t>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0262338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Legacy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41148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FAD56"/>
                </a:solidFill>
                <a:latin typeface="Calibri"/>
              </a:rPr>
              <a:t>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34840"/>
            <a:ext cx="11277295" cy="16459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2255459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9641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F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9F0E0"/>
                </a:solidFill>
                <a:latin typeface="Calibri"/>
              </a:rPr>
              <a:t>Operational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685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4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5EDD8"/>
                </a:solidFill>
                <a:latin typeface="Calibri"/>
              </a:rPr>
              <a:t>Degraded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9729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5A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DEDB"/>
                </a:solidFill>
                <a:latin typeface="Calibri"/>
              </a:rPr>
              <a:t>Outage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4773" y="50292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F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D9F0E0"/>
                </a:solidFill>
                <a:latin typeface="Calibri"/>
              </a:rPr>
              <a:t>Healthy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640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1277295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 Light"/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16736"/>
            <a:ext cx="11277295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D9E3E0"/>
                </a:solidFill>
                <a:latin typeface="Calibri Light"/>
              </a:rPr>
              <a:t>Composite layout — all components composed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79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MRR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22243" y="2011679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NPS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+4pts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011679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-8%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331" y="2011679"/>
            <a:ext cx="2682163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331" y="2011679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0931" y="219456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LTV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0931" y="2423160"/>
            <a:ext cx="227068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$890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2834640"/>
            <a:ext cx="227068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+6%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57200" y="3657599"/>
          <a:ext cx="11277295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React Pattern Adaptations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Tabs +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TabsPanel (inspired by Radix/shadcn Tabs)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1387" y="2011680"/>
            <a:ext cx="2709595" cy="27432"/>
          </a:xfrm>
          <a:prstGeom prst="roundRect">
            <a:avLst>
              <a:gd name="adj" fmla="val 33333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523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1645919"/>
            <a:ext cx="281932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A8BAB5"/>
                </a:solidFill>
                <a:latin typeface="Calibri"/>
              </a:rPr>
              <a:t>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77295" cy="1005839"/>
          </a:xfrm>
          <a:prstGeom prst="roundRect">
            <a:avLst>
              <a:gd name="adj" fmla="val 454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0911535" cy="640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Q2 analytics summary: Revenue is up 18% YoY, activation improved by 6%, and churn remains above target in two enterprise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StepFlow (inspired by Ant Design Steps)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5979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1747" y="3982943"/>
            <a:ext cx="2471851" cy="27432"/>
          </a:xfrm>
          <a:prstGeom prst="roundRect">
            <a:avLst>
              <a:gd name="adj" fmla="val 33333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3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3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Discovery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9947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9947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7883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7831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7831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5767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95715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715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651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Launch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23599" y="3868643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23599" y="3877787"/>
            <a:ext cx="25603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4251959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73526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3943" y="571500"/>
            <a:ext cx="2130552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Image + Legend + KPIGrid</a:t>
            </a:r>
          </a:p>
        </p:txBody>
      </p:sp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586" y="1280160"/>
            <a:ext cx="4226560" cy="2377440"/>
          </a:xfrm>
          <a:prstGeom prst="rect">
            <a:avLst/>
          </a:prstGeom>
          <a:ln w="12700">
            <a:solidFill>
              <a:srgbClr val="94A3B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67412" y="1280160"/>
            <a:ext cx="4267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Region Color Legend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412" y="1682496"/>
            <a:ext cx="109728" cy="109728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8580" y="1600200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412" y="195681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8580" y="187451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EMEA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7412" y="223113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8580" y="214883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Americas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7412" y="2505455"/>
            <a:ext cx="109728" cy="109728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8580" y="2423159"/>
            <a:ext cx="406591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NEW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1,284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7258" y="397764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5858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858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14.2%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+1.1pp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97764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7316" y="397764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416052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PIPELINE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$3.4M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8006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53212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WIN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06060"/>
                </a:solidFill>
                <a:latin typeface="Calibri"/>
              </a:rPr>
              <a:t>▼ -2pp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7258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7258" y="553212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5858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SALES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5858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27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5858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-3 days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7316" y="5532120"/>
            <a:ext cx="3637178" cy="1371600"/>
          </a:xfrm>
          <a:prstGeom prst="roundRect">
            <a:avLst>
              <a:gd name="adj" fmla="val 333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7316" y="5532120"/>
            <a:ext cx="45720" cy="13716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5916" y="571500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UPSELL MRR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5916" y="5943600"/>
            <a:ext cx="322569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$48K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5916" y="6355080"/>
            <a:ext cx="32256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1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SparklineCard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NET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$1.28M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551176"/>
            <a:ext cx="497992" cy="2743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92936" y="2511817"/>
            <a:ext cx="497992" cy="66790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09216" y="2456157"/>
            <a:ext cx="497992" cy="122450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5497" y="2322576"/>
            <a:ext cx="497992" cy="256031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1777" y="2222389"/>
            <a:ext cx="497992" cy="356218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8058" y="2066544"/>
            <a:ext cx="497992" cy="512063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77258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7258" y="1298448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6714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6714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$3.4M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6714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6714" y="2551176"/>
            <a:ext cx="497992" cy="2743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994" y="2476195"/>
            <a:ext cx="497992" cy="10241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9275" y="2373782"/>
            <a:ext cx="497992" cy="204825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45555" y="2271369"/>
            <a:ext cx="497992" cy="307238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61835" y="2168956"/>
            <a:ext cx="497992" cy="409651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8116" y="2066544"/>
            <a:ext cx="497992" cy="512063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7316" y="1298448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7316" y="1298448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6772" y="1481328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WIN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6772" y="1847088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6772" y="2359152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+2pp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6772" y="2551176"/>
            <a:ext cx="497992" cy="2743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33053" y="2450592"/>
            <a:ext cx="497992" cy="128015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49333" y="2322576"/>
            <a:ext cx="497992" cy="256031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65613" y="2194560"/>
            <a:ext cx="497992" cy="384047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81894" y="2194560"/>
            <a:ext cx="497992" cy="384047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98174" y="2066544"/>
            <a:ext cx="497992" cy="512063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108960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TICKET 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-21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3877056"/>
            <a:ext cx="497992" cy="512063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92936" y="3998976"/>
            <a:ext cx="497992" cy="390143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09216" y="4096512"/>
            <a:ext cx="497992" cy="292607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5497" y="4218432"/>
            <a:ext cx="497992" cy="170687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1777" y="4315968"/>
            <a:ext cx="497992" cy="73151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58058" y="4361688"/>
            <a:ext cx="497992" cy="27432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77258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77258" y="3108960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6714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ACTIVATION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714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68%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6714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+7pp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6714" y="4361688"/>
            <a:ext cx="497992" cy="2743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12994" y="4270951"/>
            <a:ext cx="497992" cy="118168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29275" y="4192172"/>
            <a:ext cx="497992" cy="196947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45555" y="4074003"/>
            <a:ext cx="497992" cy="315116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61835" y="3955835"/>
            <a:ext cx="497992" cy="433284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78116" y="3877056"/>
            <a:ext cx="497992" cy="512063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97316" y="3108960"/>
            <a:ext cx="3637178" cy="1463040"/>
          </a:xfrm>
          <a:prstGeom prst="roundRect">
            <a:avLst>
              <a:gd name="adj" fmla="val 3125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7316" y="3108960"/>
            <a:ext cx="36576" cy="14630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16772" y="3291840"/>
            <a:ext cx="323484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CLOUD SPEND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16772" y="3657600"/>
            <a:ext cx="3234842" cy="5120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$184K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6772" y="4169663"/>
            <a:ext cx="323484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-3%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16772" y="4361688"/>
            <a:ext cx="497992" cy="27432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833053" y="4227415"/>
            <a:ext cx="497992" cy="161704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49333" y="4092661"/>
            <a:ext cx="497992" cy="296458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65613" y="3877056"/>
            <a:ext cx="497992" cy="512063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1894" y="3957908"/>
            <a:ext cx="497992" cy="431211"/>
          </a:xfrm>
          <a:prstGeom prst="rect">
            <a:avLst/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98174" y="4011809"/>
            <a:ext cx="497992" cy="37731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493776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4937760"/>
            <a:ext cx="45720" cy="9144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5800" y="512064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8BAB5"/>
                </a:solidFill>
                <a:latin typeface="Calibri"/>
              </a:rPr>
              <a:t>SparklineCard combines a primary KPI, change signal, and compact trend view in one surface. Use it when a standard metric card is too static for dashboard storytelling.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2728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2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95967" y="571500"/>
            <a:ext cx="1938528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Timeline +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Program Roadmap (MUI Timeline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18004"/>
            <a:ext cx="10911535" cy="18288"/>
          </a:xfrm>
          <a:prstGeom prst="roundRect">
            <a:avLst>
              <a:gd name="adj" fmla="val 50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137160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37160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523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723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723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Pilot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4407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8607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607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Enterprise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291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491" y="243687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491" y="261975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Automation Phase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60175" y="223570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4375" y="1760219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A8BAB5"/>
                </a:solidFill>
                <a:latin typeface="Calibri"/>
              </a:rPr>
              <a:t>Q1 '27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19431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Scale +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656608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Decision Matrix (shadcn composable style)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Build In-House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Full control over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Can optimize for existing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Higher upfront engineering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Longer time-to-market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31681" y="3611880"/>
            <a:ext cx="3191601" cy="2240280"/>
          </a:xfrm>
          <a:prstGeom prst="roundRect">
            <a:avLst>
              <a:gd name="adj" fmla="val 1632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31681" y="3611880"/>
            <a:ext cx="3191601" cy="27432"/>
          </a:xfrm>
          <a:prstGeom prst="roundRect">
            <a:avLst>
              <a:gd name="adj" fmla="val 33333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14561" y="3657600"/>
            <a:ext cx="282584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Buy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561" y="3977639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5729" y="3977639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Fastest path to 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561" y="4233672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15729" y="4233672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Vendor support included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4561" y="4489704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5729" y="4489704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Recurring license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561" y="4745736"/>
            <a:ext cx="201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0">
                <a:solidFill>
                  <a:srgbClr val="5FAD56"/>
                </a:solidFill>
                <a:latin typeface="Calibri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729" y="4745736"/>
            <a:ext cx="262467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Less flexibility on edge cases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7206162" y="3291840"/>
          <a:ext cx="4528332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11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80015" y="57150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Heatmap +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Feature Adoption Score by Platform &amp; Quarter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9E3E0"/>
                </a:solidFill>
                <a:latin typeface="Calibri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0903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9E3E0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8767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9E3E0"/>
                </a:solidFill>
                <a:latin typeface="Calibri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6631" y="1600200"/>
            <a:ext cx="256786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D9E3E0"/>
                </a:solidFill>
                <a:latin typeface="Calibri"/>
              </a:rPr>
              <a:t>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438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87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9191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539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0903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7055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78C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4919" y="1847088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FA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631" y="1828800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FB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9191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4B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0903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7055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6A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4919" y="2139696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75C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6631" y="2121408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14015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81328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FA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49191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7DB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0903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17055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1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4919" y="2432303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8C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6631" y="2414015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3D5A5E"/>
                </a:solidFill>
                <a:latin typeface="Calibri"/>
              </a:rPr>
              <a:t>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706623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Reports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81328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4B8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9191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0903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7055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6AB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4919" y="2724911"/>
            <a:ext cx="2531287" cy="256032"/>
          </a:xfrm>
          <a:prstGeom prst="roundRect">
            <a:avLst>
              <a:gd name="adj" fmla="val 7142"/>
            </a:avLst>
          </a:prstGeom>
          <a:solidFill>
            <a:srgbClr val="539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66631" y="2706623"/>
            <a:ext cx="2567863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API Latency (ms)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21365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OK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66494" y="3236976"/>
            <a:ext cx="909294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66494" y="3447288"/>
            <a:ext cx="90929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Warn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75789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75789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Critical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11924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77258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Error Rate (%)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1424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2.1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7258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7258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OK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40976" y="3236976"/>
            <a:ext cx="727435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0976" y="3447288"/>
            <a:ext cx="727435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Warn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8411" y="3236976"/>
            <a:ext cx="2546024" cy="201168"/>
          </a:xfrm>
          <a:prstGeom prst="roundRect">
            <a:avLst>
              <a:gd name="adj" fmla="val 9090"/>
            </a:avLst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68411" y="3447288"/>
            <a:ext cx="254602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Critical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2777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7316" y="2999232"/>
            <a:ext cx="236416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Uptime 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1482" y="2999232"/>
            <a:ext cx="12730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98.5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7316" y="3236976"/>
            <a:ext cx="1818589" cy="201168"/>
          </a:xfrm>
          <a:prstGeom prst="roundRect">
            <a:avLst>
              <a:gd name="adj" fmla="val 9090"/>
            </a:avLst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7316" y="3447288"/>
            <a:ext cx="1818589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Below SLA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15906" y="3236976"/>
            <a:ext cx="1454871" cy="201168"/>
          </a:xfrm>
          <a:prstGeom prst="roundRect">
            <a:avLst>
              <a:gd name="adj" fmla="val 909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15906" y="3447288"/>
            <a:ext cx="1454871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Degraded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370777" y="3236976"/>
            <a:ext cx="363717" cy="201168"/>
          </a:xfrm>
          <a:prstGeom prst="roundRect">
            <a:avLst>
              <a:gd name="adj" fmla="val 909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370777" y="3447288"/>
            <a:ext cx="363717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Healthy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70630" y="3145536"/>
            <a:ext cx="36576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1931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87991" y="571500"/>
            <a:ext cx="1746504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Code + Annotations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6471742" cy="4297680"/>
          </a:xfrm>
          <a:prstGeom prst="roundRect">
            <a:avLst>
              <a:gd name="adj" fmla="val 851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98448"/>
            <a:ext cx="6471742" cy="274320"/>
          </a:xfrm>
          <a:prstGeom prst="roundRect">
            <a:avLst>
              <a:gd name="adj" fmla="val 13333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1353312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35331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70078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078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import pptx_components as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0195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0195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10312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10312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builder = pc.SlideBuilder(prs)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30428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30428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builder.add(pc.SectionHeader("My Slide", badge_text="v1.0"))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50545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50545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builder.skip(0.2)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70662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70662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builder.add_row(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290779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90779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    pc.MetricCard("Revenue", "$1.2M", "+12%", True),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10896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10896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    pc.MetricCard("Churn",   "3.1%",  "+0.2pp", False),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31012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31012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    h=1.5,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3511296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511296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712464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712464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builder.add(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3913632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913632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    pc.BarChart(months, data, title="Monthly Trend"),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4114800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114800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    h=2.8,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315968"/>
            <a:ext cx="274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onsolas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315968"/>
            <a:ext cx="586823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onsolas"/>
              </a:rPr>
              <a:t>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1822" y="129844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16200000">
            <a:off x="7111822" y="1563623"/>
            <a:ext cx="128016" cy="128016"/>
          </a:xfrm>
          <a:prstGeom prst="triangle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4702" y="148132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 SlideBuilder to compose slides with rows, columns, and grids.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822" y="2487168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16200000">
            <a:off x="7111822" y="2752344"/>
            <a:ext cx="128016" cy="128016"/>
          </a:xfrm>
          <a:prstGeom prst="triangle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4702" y="267004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add_row() automatically distributes width equally.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11822" y="367588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2F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6200000">
            <a:off x="7111822" y="3941063"/>
            <a:ext cx="128016" cy="128016"/>
          </a:xfrm>
          <a:prstGeom prst="triangle">
            <a:avLst/>
          </a:prstGeom>
          <a:solidFill>
            <a:srgbClr val="2F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4702" y="385876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F0E8"/>
                </a:solidFill>
                <a:latin typeface="Calibri"/>
              </a:rPr>
              <a:t>set h= to control the rendered height of each component.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1822" y="4864607"/>
            <a:ext cx="4622673" cy="658368"/>
          </a:xfrm>
          <a:prstGeom prst="roundRect">
            <a:avLst>
              <a:gd name="adj" fmla="val 6944"/>
            </a:avLst>
          </a:prstGeom>
          <a:solidFill>
            <a:srgbClr val="4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6200000">
            <a:off x="7111822" y="5129783"/>
            <a:ext cx="128016" cy="128016"/>
          </a:xfrm>
          <a:prstGeom prst="triangle">
            <a:avLst/>
          </a:prstGeom>
          <a:solidFill>
            <a:srgbClr val="4A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4702" y="5047488"/>
            <a:ext cx="4256913" cy="292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5EDD8"/>
                </a:solidFill>
                <a:latin typeface="Calibri"/>
              </a:rPr>
              <a:t>Mismatched weights cause rendering issues — validate inputs.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Revenue Bridge — H1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WaterfallChart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Revenue Contribution by Category ($K)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77155"/>
            <a:ext cx="11277295" cy="9144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674957"/>
            <a:ext cx="1564015" cy="2006770"/>
          </a:xfrm>
          <a:prstGeom prst="roundRect">
            <a:avLst>
              <a:gd name="adj" fmla="val 1169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5501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FAD56"/>
                </a:solidFill>
                <a:latin typeface="Calibri"/>
              </a:rPr>
              <a:t>+500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6079" y="2193332"/>
            <a:ext cx="1564015" cy="481624"/>
          </a:xfrm>
          <a:prstGeom prst="roundRect">
            <a:avLst>
              <a:gd name="adj" fmla="val 3796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1215" y="2670385"/>
            <a:ext cx="54864" cy="9144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6079" y="197387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FAD56"/>
                </a:solidFill>
                <a:latin typeface="Calibri"/>
              </a:rPr>
              <a:t>+120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60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New Logos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959" y="1852181"/>
            <a:ext cx="1564015" cy="341150"/>
          </a:xfrm>
          <a:prstGeom prst="roundRect">
            <a:avLst>
              <a:gd name="adj" fmla="val 536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0095" y="2188760"/>
            <a:ext cx="54864" cy="9144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959" y="222076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FAD56"/>
                </a:solidFill>
                <a:latin typeface="Calibri"/>
              </a:rPr>
              <a:t>+85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95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Upsell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3839" y="1691640"/>
            <a:ext cx="1564015" cy="160541"/>
          </a:xfrm>
          <a:prstGeom prst="roundRect">
            <a:avLst>
              <a:gd name="adj" fmla="val 11391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8975" y="1847609"/>
            <a:ext cx="54864" cy="9144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3839" y="1879613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FAD56"/>
                </a:solidFill>
                <a:latin typeface="Calibri"/>
              </a:rPr>
              <a:t>+40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83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Expansion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32719" y="1691640"/>
            <a:ext cx="1564015" cy="240812"/>
          </a:xfrm>
          <a:prstGeom prst="roundRect">
            <a:avLst>
              <a:gd name="adj" fmla="val 7593"/>
            </a:avLst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77855" y="1687068"/>
            <a:ext cx="54864" cy="9144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32719" y="1959884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06060"/>
                </a:solidFill>
                <a:latin typeface="Calibri"/>
              </a:rPr>
              <a:t>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271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51599" y="1932452"/>
            <a:ext cx="1564015" cy="140473"/>
          </a:xfrm>
          <a:prstGeom prst="roundRect">
            <a:avLst>
              <a:gd name="adj" fmla="val 13017"/>
            </a:avLst>
          </a:prstGeom>
          <a:solidFill>
            <a:srgbClr val="E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6735" y="1927880"/>
            <a:ext cx="54864" cy="9144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1599" y="1712996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E06060"/>
                </a:solidFill>
                <a:latin typeface="Calibri"/>
              </a:rPr>
              <a:t>-35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159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Discounts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0479" y="2072926"/>
            <a:ext cx="1564015" cy="2608801"/>
          </a:xfrm>
          <a:prstGeom prst="roundRect">
            <a:avLst>
              <a:gd name="adj" fmla="val 1169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70479" y="1853470"/>
            <a:ext cx="156401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5FAD56"/>
                </a:solidFill>
                <a:latin typeface="Calibri"/>
              </a:rPr>
              <a:t>650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0479" y="4736591"/>
            <a:ext cx="156401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D9E3E0"/>
                </a:solidFill>
                <a:latin typeface="Calibri"/>
              </a:rPr>
              <a:t>Net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9912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Additional React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59975" y="57150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Accordion +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Accordion (FAQ Pattern / MUI inspired)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19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How do we scale headcount?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1645919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5FAD56"/>
                </a:solidFill>
                <a:latin typeface="Calibri"/>
              </a:rPr>
              <a:t>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20823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3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12263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Hiring plan targets 40% growth in engineering and product through Q4 2026. Focus on mid/senior IC roles and two new manager positions.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16351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1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What's our go-to-market strategy?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4455" y="2816351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5FAD56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3"/>
            <a:ext cx="11277295" cy="347472"/>
          </a:xfrm>
          <a:prstGeom prst="roundRect">
            <a:avLst>
              <a:gd name="adj" fmla="val 10526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3"/>
            <a:ext cx="107743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How do we reduce churn?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4455" y="3255263"/>
            <a:ext cx="137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5FAD56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FeatureGrid (Product Showcase Pattern)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589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9589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Real-time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2018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04407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4407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4898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Enterprise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397763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09226" y="41605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9226" y="417880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452628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Rich Analytics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9589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9589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Global Scale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2018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04407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4407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API-First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6836" y="4983479"/>
            <a:ext cx="3667658" cy="868680"/>
          </a:xfrm>
          <a:prstGeom prst="roundRect">
            <a:avLst>
              <a:gd name="adj" fmla="val 5263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09226" y="5166359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09226" y="5184647"/>
            <a:ext cx="1828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3D5A5E"/>
                </a:solidFill>
                <a:latin typeface="Calibri"/>
              </a:rPr>
              <a:t>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9716" y="5532120"/>
            <a:ext cx="330189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24/7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67367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4: Advanced Charts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36047" y="571500"/>
            <a:ext cx="1298448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ScatterPlot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Algorithm Performance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160520"/>
            <a:ext cx="10362895" cy="274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7432" cy="2560320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645920"/>
            <a:ext cx="18288" cy="256032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645920"/>
            <a:ext cx="10362895" cy="18288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88003" y="1645920"/>
            <a:ext cx="18288" cy="256032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362895" cy="18288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645920"/>
            <a:ext cx="18288" cy="256032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926080"/>
            <a:ext cx="10362895" cy="18288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451" y="1645920"/>
            <a:ext cx="18288" cy="256032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566160"/>
            <a:ext cx="10362895" cy="18288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60175" y="1645920"/>
            <a:ext cx="18288" cy="2560320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10362895" cy="18288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Best
(Simple &amp; Accurate)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64592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High Effort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Avoid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926080"/>
            <a:ext cx="5181447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Feasible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1228" y="3026664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1540" y="30175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Low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35160" y="2066544"/>
            <a:ext cx="182880" cy="182880"/>
          </a:xfrm>
          <a:prstGeom prst="roundRect">
            <a:avLst>
              <a:gd name="adj" fmla="val 37500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3760" y="20665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Best performer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6297" y="3250692"/>
            <a:ext cx="155448" cy="155448"/>
          </a:xfrm>
          <a:prstGeom prst="roundRect">
            <a:avLst>
              <a:gd name="adj" fmla="val 44117"/>
            </a:avLst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7465" y="32369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Mid-range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965" y="2514600"/>
            <a:ext cx="164592" cy="164592"/>
          </a:xfrm>
          <a:prstGeom prst="roundRect">
            <a:avLst>
              <a:gd name="adj" fmla="val 41666"/>
            </a:avLst>
          </a:prstGeom>
          <a:solidFill>
            <a:srgbClr val="FF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9277" y="250545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High complexity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6209" y="3767328"/>
            <a:ext cx="146304" cy="146304"/>
          </a:xfrm>
          <a:prstGeom prst="roundRect">
            <a:avLst>
              <a:gd name="adj" fmla="val 46875"/>
            </a:avLst>
          </a:prstGeom>
          <a:solidFill>
            <a:srgbClr val="96F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8233" y="3749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51959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Implementation 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645920"/>
            <a:ext cx="3200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Accuracy (%)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50335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4: Hierarchical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2039" y="57150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GroupedTable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Revenue by Region &amp; 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59098" cy="2926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366765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16298" y="1600200"/>
            <a:ext cx="2819323" cy="2926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2018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2025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5622" y="1600200"/>
            <a:ext cx="2819323" cy="2926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1342" y="1618488"/>
            <a:ext cx="27278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2026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54946" y="1600200"/>
            <a:ext cx="1879549" cy="292608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0666" y="1618488"/>
            <a:ext cx="178810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YoY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92807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11095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6298" y="1892807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2018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$580M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5622" y="1892807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1342" y="1911095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$715M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54946" y="1892807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0666" y="1911095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+23%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48839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167127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USA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2148839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2018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$500M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5622" y="2148839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1342" y="2167127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$620M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4946" y="2148839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0666" y="2167127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+24%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404872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231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Canada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16298" y="2404872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2018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$80M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35622" y="2404872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1342" y="24231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$95M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54946" y="2404872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00666" y="24231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+19%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660904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67919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SubtotalNA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6298" y="2660904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2018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$580M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35622" y="2660904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1342" y="267919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$715M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4946" y="2660904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0666" y="267919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+23%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08376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0266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EMEA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6298" y="3008376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62018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$350M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35622" y="3008376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1342" y="30266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$425M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54946" y="3008376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0666" y="30266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+21%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264408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2826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UK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16298" y="3264408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2018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$200M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35622" y="3264408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1342" y="32826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$245M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54946" y="3264408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0666" y="32826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+22%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0440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5387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France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16298" y="3520440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62018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$150M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35622" y="3520440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1342" y="35387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$180M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54946" y="3520440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00666" y="35387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+20%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776472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3794760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SubtotalEMEA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16298" y="3776472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62018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$350M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35622" y="3776472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342" y="3794760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$425M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54946" y="3776472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00666" y="3794760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+21%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123944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4142232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APAC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16298" y="4123944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62018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$220M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35622" y="4123944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081342" y="4142232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$285M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854946" y="4123944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00666" y="4142232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+30%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379976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4398264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India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16298" y="4379976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62018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$120M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35622" y="4379976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81342" y="4398264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$165M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54946" y="4379976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00666" y="4398264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+38%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4636008"/>
            <a:ext cx="3759098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4654296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  Australia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16298" y="4636008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62018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$100M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35622" y="4636008"/>
            <a:ext cx="2819323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342" y="4654296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$120M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54946" y="4636008"/>
            <a:ext cx="1879549" cy="256032"/>
          </a:xfrm>
          <a:prstGeom prst="rect">
            <a:avLst/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00666" y="4654296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+20%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4892040"/>
            <a:ext cx="3759098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4910328"/>
            <a:ext cx="366765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SubtotalAPAC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16298" y="4892040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62018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$220M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35622" y="4892040"/>
            <a:ext cx="2819323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81342" y="4910328"/>
            <a:ext cx="272788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$285M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54946" y="4892040"/>
            <a:ext cx="1879549" cy="256032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900666" y="4910328"/>
            <a:ext cx="178810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A8BAB5"/>
                </a:solidFill>
                <a:latin typeface="Calibri"/>
              </a:rPr>
              <a:t>+30%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43935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4: Chart Extensions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8031" y="571500"/>
            <a:ext cx="1426464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Donut + Radar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82163" y="258775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i="0">
                <a:solidFill>
                  <a:srgbClr val="5FAD56"/>
                </a:solidFill>
                <a:latin typeface="Calibri"/>
              </a:rPr>
              <a:t>72%
Enterprise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87287" y="1298448"/>
          <a:ext cx="5547207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89120"/>
            <a:ext cx="11277295" cy="914400"/>
          </a:xfrm>
          <a:prstGeom prst="roundRect">
            <a:avLst>
              <a:gd name="adj" fmla="val 5000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45720" cy="91440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957255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8BAB5"/>
                </a:solidFill>
                <a:latin typeface="Calibri"/>
              </a:rPr>
              <a:t>These chart variants round out the standard chart set: DonutChart emphasizes a headline metric in the center, while RadarChart compares capability balance across multiple axes.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37534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4: Planning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4023" y="571500"/>
            <a:ext cx="1490472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Funnel +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454871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Demand Funnel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4548710" cy="720090"/>
          </a:xfrm>
          <a:prstGeom prst="roundRect">
            <a:avLst>
              <a:gd name="adj" fmla="val 2539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4548710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D5A5E"/>
                </a:solidFill>
                <a:latin typeface="Calibri"/>
              </a:rPr>
              <a:t>Visitors  12,840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7786" y="2612898"/>
            <a:ext cx="1707537" cy="720090"/>
          </a:xfrm>
          <a:prstGeom prst="roundRect">
            <a:avLst>
              <a:gd name="adj" fmla="val 2539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7786" y="2612898"/>
            <a:ext cx="170753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D5A5E"/>
                </a:solidFill>
                <a:latin typeface="Calibri"/>
              </a:rPr>
              <a:t>Qualified  4,820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5489" y="3515868"/>
            <a:ext cx="572131" cy="720090"/>
          </a:xfrm>
          <a:prstGeom prst="roundRect">
            <a:avLst>
              <a:gd name="adj" fmla="val 3196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5489" y="3515868"/>
            <a:ext cx="572131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D5A5E"/>
                </a:solidFill>
                <a:latin typeface="Calibri"/>
              </a:rPr>
              <a:t>Pipeline  1,615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8577" y="4418838"/>
            <a:ext cx="145955" cy="720090"/>
          </a:xfrm>
          <a:prstGeom prst="roundRect">
            <a:avLst>
              <a:gd name="adj" fmla="val 12529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8577" y="4418838"/>
            <a:ext cx="14595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D5A5E"/>
                </a:solidFill>
                <a:latin typeface="Calibri"/>
              </a:rPr>
              <a:t>Closed Won  412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8790" y="1298448"/>
            <a:ext cx="65457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Cross-Functional Delivery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0390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Kickoff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7647" y="1828799"/>
            <a:ext cx="5486" cy="45720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71036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Wk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1173" y="1828799"/>
            <a:ext cx="5486" cy="45720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4562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Wk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699" y="1828799"/>
            <a:ext cx="5486" cy="45720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8088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A8BAB5"/>
                </a:solidFill>
                <a:latin typeface="Calibri"/>
              </a:rPr>
              <a:t>Wk 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8225" y="1828799"/>
            <a:ext cx="5486" cy="45720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68735" y="1618488"/>
            <a:ext cx="36576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8BAB5"/>
                </a:solidFill>
                <a:latin typeface="Calibri"/>
              </a:rP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31752" y="1828799"/>
            <a:ext cx="5486" cy="45720"/>
          </a:xfrm>
          <a:prstGeom prst="rect">
            <a:avLst/>
          </a:prstGeom>
          <a:solidFill>
            <a:srgbClr val="A8B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8790" y="19796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0390" y="2052827"/>
            <a:ext cx="5174104" cy="54864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60390" y="1967102"/>
            <a:ext cx="165571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5254" y="1967102"/>
            <a:ext cx="154598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Observability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9139" y="1967102"/>
            <a:ext cx="1759195" cy="226314"/>
          </a:xfrm>
          <a:prstGeom prst="roundRect">
            <a:avLst>
              <a:gd name="adj" fmla="val 16161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4003" y="1967102"/>
            <a:ext cx="164946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Data Contracts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75299" y="19671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163" y="19671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Failover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8790" y="24368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0390" y="2510027"/>
            <a:ext cx="5174104" cy="54864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74318" y="24243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9182" y="24243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Admin UX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23068" y="2424302"/>
            <a:ext cx="1397008" cy="226314"/>
          </a:xfrm>
          <a:prstGeom prst="roundRect">
            <a:avLst>
              <a:gd name="adj" fmla="val 16161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7932" y="2424302"/>
            <a:ext cx="1287280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Usage Alerts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2263" y="2424302"/>
            <a:ext cx="1293526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37127" y="2424302"/>
            <a:ext cx="118379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Self-Serve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8790" y="28940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GTM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60390" y="2967227"/>
            <a:ext cx="5174104" cy="54864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60390" y="2881502"/>
            <a:ext cx="1138303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5254" y="2881502"/>
            <a:ext cx="1028575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Messaging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02175" y="2881502"/>
            <a:ext cx="1448749" cy="226314"/>
          </a:xfrm>
          <a:prstGeom prst="roundRect">
            <a:avLst>
              <a:gd name="adj" fmla="val 16161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7039" y="2881502"/>
            <a:ext cx="1339021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Pricing Test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61371" y="2881502"/>
            <a:ext cx="1241785" cy="226314"/>
          </a:xfrm>
          <a:prstGeom prst="roundRect">
            <a:avLst>
              <a:gd name="adj" fmla="val 16161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6235" y="2881502"/>
            <a:ext cx="1132057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Partner Pack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8790" y="335127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0390" y="3424427"/>
            <a:ext cx="5174104" cy="54864"/>
          </a:xfrm>
          <a:prstGeom prst="rect">
            <a:avLst/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81282" y="3338702"/>
            <a:ext cx="827856" cy="226314"/>
          </a:xfrm>
          <a:prstGeom prst="roundRect">
            <a:avLst>
              <a:gd name="adj" fmla="val 16161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6146" y="3338702"/>
            <a:ext cx="718128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SLA Review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64362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9226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Headcount Plan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68335" y="3338702"/>
            <a:ext cx="1345267" cy="226314"/>
          </a:xfrm>
          <a:prstGeom prst="roundRect">
            <a:avLst>
              <a:gd name="adj" fmla="val 16161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3199" y="3338702"/>
            <a:ext cx="1235539" cy="2263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A5E"/>
                </a:solidFill>
                <a:latin typeface="Calibri"/>
              </a:rPr>
              <a:t>Vendor Audit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6770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Phase 5: Long-form Storytelling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45775" y="57150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295" cy="4480560"/>
          </a:xfrm>
          <a:prstGeom prst="roundRect">
            <a:avLst>
              <a:gd name="adj" fmla="val 1020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4572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7215" y="1481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A8BAB5"/>
                </a:solidFill>
                <a:latin typeface="Calibri"/>
              </a:rPr>
              <a:t>Page 1/1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Executive Narrative - Structured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7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Narrative in one slide with decision support 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93975"/>
            <a:ext cx="7485680" cy="3502152"/>
          </a:xfrm>
          <a:prstGeom prst="roundRect">
            <a:avLst>
              <a:gd name="adj" fmla="val 783"/>
            </a:avLst>
          </a:prstGeom>
          <a:solidFill>
            <a:srgbClr val="3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03703"/>
            <a:ext cx="7229648" cy="32826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Q2 performance stabilized after concentration risk mitigation and onboarding process redesign. Margin expansion creates room for selective reinvestment, but service quality and migration complexity still require focused execution through Q3.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4048" y="2093975"/>
            <a:ext cx="3242974" cy="3502152"/>
          </a:xfrm>
          <a:prstGeom prst="roundRect">
            <a:avLst>
              <a:gd name="adj" fmla="val 844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776" y="2185415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Decision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776" y="2404871"/>
            <a:ext cx="3023518" cy="231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- Protect margin gains
- Reduce support load
- Prioritize retention levers
- Tighten ownership by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776" y="4956048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Next review: validate churn trend by segment.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A8BAB5"/>
                </a:solidFill>
                <a:latin typeface="Calibri"/>
              </a:rPr>
              <a:t>Page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3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Q2 opened with concentrated enterprise exposure: two strategic accounts represented 28% of net new ARR and introduced procurement timing risk. The commercial team reduced dependency by improving mid-market coverage, tightening qualification standards, and rebalancing outbound sequences toward faster-velocity segments.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A8BAB5"/>
                </a:solidFill>
                <a:latin typeface="Calibri"/>
              </a:rPr>
              <a:t>Page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3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Execution improved in the operating model. Onboarding cycle time dropped 19% after workflow simplification and proactive implementation playbooks. At the same time, migration volume increased support load, highlighting where product instrumentation and self-service diagnostics were still too shallow.
(continued on next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769"/>
            </a:avLst>
          </a:prstGeom>
          <a:solidFill>
            <a:srgbClr val="465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4572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A8BAB5"/>
                </a:solidFill>
                <a:latin typeface="Calibri"/>
              </a:rPr>
              <a:t>Page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99713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 Light"/>
              </a:rPr>
              <a:t>Executive Narrative - Auto Paginated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19"/>
            <a:ext cx="109115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Long text automatically split into multiple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52728"/>
            <a:ext cx="7485680" cy="4965192"/>
          </a:xfrm>
          <a:prstGeom prst="roundRect">
            <a:avLst>
              <a:gd name="adj" fmla="val 552"/>
            </a:avLst>
          </a:prstGeom>
          <a:solidFill>
            <a:srgbClr val="3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62455"/>
            <a:ext cx="7229648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D9E3E0"/>
                </a:solidFill>
                <a:latin typeface="Calibri"/>
              </a:rPr>
              <a:t>Financially, gross margin improved by 2.3 points due to infrastructure right-sizing and contract renegotiation in third-party services. This gain is expected to partially normalize in Q3 while regional failover hardening and observability upgrades are in flight.
The second-half plan focuses on durable retention drivers, expansion motion enablement, and service-quality stabilization. Decision velocity and cross-functional accountability are now the central execution constraints, not strategy clarity.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4048" y="1252728"/>
            <a:ext cx="3242974" cy="4965192"/>
          </a:xfrm>
          <a:prstGeom prst="roundRect">
            <a:avLst>
              <a:gd name="adj" fmla="val 844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3776" y="1344168"/>
            <a:ext cx="302351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Steering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3776" y="1563624"/>
            <a:ext cx="3023518" cy="327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D9E3E0"/>
                </a:solidFill>
                <a:latin typeface="Calibri"/>
              </a:rPr>
              <a:t>- Watch enterprise concentration
- Keep onboarding gains sticky
- Fund observability upgrades
- Track p95 latency 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3776" y="5577840"/>
            <a:ext cx="302351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Auto-generated narrative section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54864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8331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Theme Cascade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1999" y="571500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Section Overrides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FFF7EA"/>
          </a:solidFill>
          <a:ln w="12700">
            <a:solidFill>
              <a:srgbClr val="C69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463039"/>
            <a:ext cx="45720" cy="146304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2C16"/>
                </a:solidFill>
                <a:latin typeface="Calibri"/>
              </a:rPr>
              <a:t>Local theme patch: editorial warm palette.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6F4828"/>
                </a:solidFill>
                <a:latin typeface="Calibri"/>
              </a:rPr>
              <a:t>Warm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FFF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035808"/>
            <a:ext cx="45720" cy="1371600"/>
          </a:xfrm>
          <a:prstGeom prst="rect">
            <a:avLst/>
          </a:prstGeom>
          <a:solidFill>
            <a:srgbClr val="C1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4A2C16"/>
                </a:solidFill>
                <a:latin typeface="Calibri Light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+2pp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298448"/>
            <a:ext cx="5547207" cy="3474720"/>
          </a:xfrm>
          <a:prstGeom prst="roundRect">
            <a:avLst>
              <a:gd name="adj" fmla="val 1315"/>
            </a:avLst>
          </a:prstGeom>
          <a:solidFill>
            <a:srgbClr val="E8F5FF"/>
          </a:solidFill>
          <a:ln w="12700">
            <a:solidFill>
              <a:srgbClr val="7399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1879" y="1463039"/>
            <a:ext cx="5218023" cy="1463040"/>
          </a:xfrm>
          <a:prstGeom prst="roundRect">
            <a:avLst>
              <a:gd name="adj" fmla="val 3125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1879" y="1463039"/>
            <a:ext cx="45720" cy="146304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0479" y="1645919"/>
            <a:ext cx="489798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22B4C"/>
                </a:solidFill>
                <a:latin typeface="Calibri"/>
              </a:rPr>
              <a:t>Local theme patch: corporate blue palette.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479" y="2084831"/>
            <a:ext cx="48979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2F4D74"/>
                </a:solidFill>
                <a:latin typeface="Calibri"/>
              </a:rPr>
              <a:t>Cool Section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1879" y="3035808"/>
            <a:ext cx="5218023" cy="1371600"/>
          </a:xfrm>
          <a:prstGeom prst="roundRect">
            <a:avLst>
              <a:gd name="adj" fmla="val 3333"/>
            </a:avLst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1879" y="3035808"/>
            <a:ext cx="45720" cy="1371600"/>
          </a:xfrm>
          <a:prstGeom prst="rect">
            <a:avLst/>
          </a:prstGeom>
          <a:solidFill>
            <a:srgbClr val="1A6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479" y="321868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8BAB5"/>
                </a:solidFill>
                <a:latin typeface="Calibri"/>
              </a:rPr>
              <a:t>UPTIME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447288"/>
            <a:ext cx="4806543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22B4C"/>
                </a:solidFill>
                <a:latin typeface="Calibri Light"/>
              </a:rPr>
              <a:t>99.97%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0479" y="3858768"/>
            <a:ext cx="4806543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5FAD56"/>
                </a:solidFill>
                <a:latin typeface="Calibri"/>
              </a:rPr>
              <a:t>▲ +0.04pp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38928"/>
            <a:ext cx="11277295" cy="960120"/>
          </a:xfrm>
          <a:prstGeom prst="roundRect">
            <a:avLst>
              <a:gd name="adj" fmla="val 4761"/>
            </a:avLst>
          </a:prstGeom>
          <a:solidFill>
            <a:srgbClr val="345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38928"/>
            <a:ext cx="45720" cy="960120"/>
          </a:xfrm>
          <a:prstGeom prst="rect">
            <a:avLst/>
          </a:prstGeom>
          <a:solidFill>
            <a:srgbClr val="5FA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21808"/>
            <a:ext cx="10957255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8BAB5"/>
                </a:solidFill>
                <a:latin typeface="Calibri"/>
              </a:rPr>
              <a:t>Both cards inherit the slide theme, then apply container-scoped token patches. Use this slide to check contrast, spacing, and callout consistency across local overrides.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