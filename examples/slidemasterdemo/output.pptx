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2"/>
    <p:sldId id="263" r:id="rId11"/>
    <p:sldId id="264" r:id="rId10"/>
  </p:sldIdLst>
  <p:sldSz cx="9144000" cy="5143500" type="screen16x9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 Teng Neo" initials="WTN" lastIdx="5" clrIdx="0">
    <p:extLst>
      <p:ext uri="{19B8F6BF-5375-455C-9EA6-DF929625EA0E}">
        <p15:presenceInfo xmlns:p15="http://schemas.microsoft.com/office/powerpoint/2012/main" userId="S-1-5-21-4211029173-3255825636-1277964214-343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88"/>
    <a:srgbClr val="8BB2FF"/>
    <a:srgbClr val="004EEA"/>
    <a:srgbClr val="CAD0DD"/>
    <a:srgbClr val="F68D36"/>
    <a:srgbClr val="611985"/>
    <a:srgbClr val="003087"/>
    <a:srgbClr val="5A198B"/>
    <a:srgbClr val="0D227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CAF10-8757-4942-B3D3-45598E752989}" v="1" dt="2021-10-22T04:19:49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4" autoAdjust="0"/>
    <p:restoredTop sz="93969" autoAdjust="0"/>
  </p:normalViewPr>
  <p:slideViewPr>
    <p:cSldViewPr>
      <p:cViewPr varScale="1">
        <p:scale>
          <a:sx n="84" d="100"/>
          <a:sy n="84" d="100"/>
        </p:scale>
        <p:origin x="834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-2220"/>
    </p:cViewPr>
  </p:sorterViewPr>
  <p:notesViewPr>
    <p:cSldViewPr>
      <p:cViewPr varScale="1">
        <p:scale>
          <a:sx n="152" d="100"/>
          <a:sy n="152" d="100"/>
        </p:scale>
        <p:origin x="6408" y="192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Value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HP</c:v>
                </c:pt>
                <c:pt idx="1">
                  <c:v>Attack</c:v>
                </c:pt>
                <c:pt idx="2">
                  <c:v>Defense</c:v>
                </c:pt>
                <c:pt idx="3">
                  <c:v>Sp. Atk</c:v>
                </c:pt>
                <c:pt idx="4">
                  <c:v>Sp. Def</c:v>
                </c:pt>
                <c:pt idx="5">
                  <c:v>Speed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55</c:v>
                </c:pt>
                <c:pt idx="2">
                  <c:v>40</c:v>
                </c:pt>
                <c:pt idx="3">
                  <c:v>50</c:v>
                </c:pt>
                <c:pt idx="4">
                  <c:v>50</c:v>
                </c:pt>
                <c:pt idx="5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1F5F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Franchise Revenue ($B)</c:v>
                </c:pt>
              </c:strCache>
            </c:strRef>
          </c:tx>
          <c:spPr>
            <a:ln w="31750">
              <a:solidFill>
                <a:srgbClr val="2563EB"/>
              </a:solidFill>
            </a:ln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1996</c:v>
                </c:pt>
                <c:pt idx="1">
                  <c:v>1999</c:v>
                </c:pt>
                <c:pt idx="2">
                  <c:v>2003</c:v>
                </c:pt>
                <c:pt idx="3">
                  <c:v>2010</c:v>
                </c:pt>
                <c:pt idx="4">
                  <c:v>2016</c:v>
                </c:pt>
                <c:pt idx="5">
                  <c:v>2021</c:v>
                </c:pt>
                <c:pt idx="6">
                  <c:v>2023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</c:v>
                </c:pt>
                <c:pt idx="1">
                  <c:v>5.0</c:v>
                </c:pt>
                <c:pt idx="2">
                  <c:v>6.5</c:v>
                </c:pt>
                <c:pt idx="3">
                  <c:v>9.0</c:v>
                </c:pt>
                <c:pt idx="4">
                  <c:v>15.0</c:v>
                </c:pt>
                <c:pt idx="5">
                  <c:v>17.0</c:v>
                </c:pt>
                <c:pt idx="6">
                  <c:v>21.0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1F5F9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F1F5F9"/>
            </a:solidFill>
          </a:ln>
        </c:spPr>
        <c:txPr>
          <a:bodyPr/>
          <a:lstStyle/>
          <a:p>
            <a:pPr>
              <a:defRPr sz="900">
                <a:solidFill>
                  <a:srgbClr val="334155"/>
                </a:solidFill>
                <a:latin typeface="Calibri"/>
              </a:defRPr>
            </a:pPr>
          </a:p>
        </c:txPr>
        <c:crossAx val="2118791784"/>
        <c:crosses val="autoZero"/>
      </c:valAx>
      <c:spPr>
        <a:noFill/>
      </c:spPr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AF544-415A-0B49-A866-477D0136A5DE}" type="datetimeFigureOut">
              <a:rPr lang="en-US" smtClean="0">
                <a:latin typeface="Arial" panose="020B0604020202020204" pitchFamily="34" charset="0"/>
              </a:rPr>
              <a:t>11/2/2021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80BF5-F6DB-CF4F-BE0B-1271BAACCD62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9874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697F5787-4636-46B4-9F75-BD9318F6EA37}" type="datetimeFigureOut">
              <a:rPr lang="en-GB" smtClean="0"/>
              <a:pPr/>
              <a:t>02/11/2021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6AE423D-0B8E-479B-BD8E-453FB371F1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95998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Option - Generic (Default)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4860032" y="1288841"/>
            <a:ext cx="4032449" cy="168353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900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4515966"/>
            <a:ext cx="1751689" cy="288032"/>
          </a:xfrm>
        </p:spPr>
        <p:txBody>
          <a:bodyPr>
            <a:normAutofit/>
          </a:bodyPr>
          <a:lstStyle>
            <a:lvl1pPr marL="0" indent="0" algn="l">
              <a:buNone/>
              <a:defRPr sz="105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0033" y="3459891"/>
            <a:ext cx="4032448" cy="4788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033" y="3219822"/>
            <a:ext cx="4032448" cy="288701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0033" y="3952693"/>
            <a:ext cx="4032448" cy="561947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71714" y="61685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15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8">
          <p15:clr>
            <a:srgbClr val="FBAE40"/>
          </p15:clr>
        </p15:guide>
        <p15:guide id="10" orient="horz" pos="65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ver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860032" y="1288841"/>
            <a:ext cx="4032449" cy="168353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900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4515966"/>
            <a:ext cx="1751689" cy="288032"/>
          </a:xfrm>
        </p:spPr>
        <p:txBody>
          <a:bodyPr>
            <a:normAutofit/>
          </a:bodyPr>
          <a:lstStyle>
            <a:lvl1pPr marL="0" indent="0" algn="l">
              <a:buNone/>
              <a:defRPr sz="105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0033" y="3459891"/>
            <a:ext cx="4032448" cy="4788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033" y="3219822"/>
            <a:ext cx="4032448" cy="288701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0033" y="3952693"/>
            <a:ext cx="4032448" cy="561947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</p:spTree>
    <p:extLst>
      <p:ext uri="{BB962C8B-B14F-4D97-AF65-F5344CB8AC3E}">
        <p14:creationId xmlns:p14="http://schemas.microsoft.com/office/powerpoint/2010/main" val="391267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8">
          <p15:clr>
            <a:srgbClr val="FBAE40"/>
          </p15:clr>
        </p15:guide>
        <p15:guide id="10" orient="horz" pos="6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860032" y="1288841"/>
            <a:ext cx="4032449" cy="168353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900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4515966"/>
            <a:ext cx="1751689" cy="288032"/>
          </a:xfrm>
        </p:spPr>
        <p:txBody>
          <a:bodyPr>
            <a:normAutofit/>
          </a:bodyPr>
          <a:lstStyle>
            <a:lvl1pPr marL="0" indent="0" algn="l">
              <a:buNone/>
              <a:defRPr sz="105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0033" y="3459891"/>
            <a:ext cx="4032448" cy="4788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033" y="3219822"/>
            <a:ext cx="4032448" cy="288701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0033" y="3952693"/>
            <a:ext cx="4032448" cy="561947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</p:spTree>
    <p:extLst>
      <p:ext uri="{BB962C8B-B14F-4D97-AF65-F5344CB8AC3E}">
        <p14:creationId xmlns:p14="http://schemas.microsoft.com/office/powerpoint/2010/main" val="347202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 userDrawn="1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9" userDrawn="1">
          <p15:clr>
            <a:srgbClr val="FBAE40"/>
          </p15:clr>
        </p15:guide>
        <p15:guide id="10" orient="horz" pos="6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860032" y="1288841"/>
            <a:ext cx="4032449" cy="1683533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2900" b="1" cap="all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TITLE IN OPEN SANS, BOLD, CAPS,</a:t>
            </a:r>
            <a:br>
              <a:rPr lang="en-US" dirty="0"/>
            </a:br>
            <a:r>
              <a:rPr lang="en-US" dirty="0"/>
              <a:t>SIZE 29,</a:t>
            </a:r>
            <a:br>
              <a:rPr lang="en-US" dirty="0"/>
            </a:br>
            <a:r>
              <a:rPr lang="en-US" dirty="0"/>
              <a:t>left ALIGN</a:t>
            </a:r>
            <a:endParaRPr lang="en-GB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CA90A6-A426-EA4C-9C16-C8BD80098F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0032" y="4515966"/>
            <a:ext cx="1751689" cy="288032"/>
          </a:xfrm>
        </p:spPr>
        <p:txBody>
          <a:bodyPr>
            <a:normAutofit/>
          </a:bodyPr>
          <a:lstStyle>
            <a:lvl1pPr marL="0" indent="0" algn="l">
              <a:buNone/>
              <a:defRPr sz="105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CE97A19-E0D7-CD47-9414-E73C0F164E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0033" y="3459891"/>
            <a:ext cx="4032448" cy="4788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Designation, Department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85EE222-D0FA-3B43-9135-02B23C740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0033" y="3219822"/>
            <a:ext cx="4032448" cy="288701"/>
          </a:xfrm>
        </p:spPr>
        <p:txBody>
          <a:bodyPr>
            <a:normAutofit/>
          </a:bodyPr>
          <a:lstStyle>
            <a:lvl1pPr marL="0" indent="0" algn="l">
              <a:buNone/>
              <a:defRPr sz="1600" b="1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CB518A3-39CE-3A43-91A3-E855A204ED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0033" y="3952693"/>
            <a:ext cx="4032448" cy="561947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rgbClr val="FFFFFF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RI / Entity / Programme</a:t>
            </a:r>
          </a:p>
        </p:txBody>
      </p:sp>
    </p:spTree>
    <p:extLst>
      <p:ext uri="{BB962C8B-B14F-4D97-AF65-F5344CB8AC3E}">
        <p14:creationId xmlns:p14="http://schemas.microsoft.com/office/powerpoint/2010/main" val="136555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76" userDrawn="1">
          <p15:clr>
            <a:srgbClr val="FBAE40"/>
          </p15:clr>
        </p15:guide>
        <p15:guide id="4" orient="horz" pos="3038">
          <p15:clr>
            <a:srgbClr val="FBAE40"/>
          </p15:clr>
        </p15:guide>
        <p15:guide id="5" pos="5534">
          <p15:clr>
            <a:srgbClr val="FBAE40"/>
          </p15:clr>
        </p15:guide>
        <p15:guide id="6" pos="2988" userDrawn="1">
          <p15:clr>
            <a:srgbClr val="FBAE40"/>
          </p15:clr>
        </p15:guide>
        <p15:guide id="10" orient="horz" pos="6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403350" y="1178913"/>
            <a:ext cx="5029200" cy="27432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One Header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1403350" y="1674491"/>
            <a:ext cx="5029200" cy="27432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Two Header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403350" y="2181686"/>
            <a:ext cx="5029200" cy="27432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Three Header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1403350" y="2681555"/>
            <a:ext cx="5029200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Four Header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6732588" y="1178912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6732588" y="1674491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6732588" y="2181686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 i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0" hasCustomPrompt="1"/>
          </p:nvPr>
        </p:nvSpPr>
        <p:spPr>
          <a:xfrm>
            <a:off x="6732588" y="2681555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21" hasCustomPrompt="1"/>
          </p:nvPr>
        </p:nvSpPr>
        <p:spPr>
          <a:xfrm>
            <a:off x="1403350" y="3161526"/>
            <a:ext cx="5029200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 baseline="0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Section Five Header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22" hasCustomPrompt="1"/>
          </p:nvPr>
        </p:nvSpPr>
        <p:spPr>
          <a:xfrm>
            <a:off x="6732588" y="3158084"/>
            <a:ext cx="1079772" cy="274320"/>
          </a:xfrm>
        </p:spPr>
        <p:txBody>
          <a:bodyPr anchor="ctr">
            <a:noAutofit/>
          </a:bodyPr>
          <a:lstStyle>
            <a:lvl1pPr marL="0" indent="0">
              <a:buNone/>
              <a:defRPr sz="1600" b="1">
                <a:solidFill>
                  <a:srgbClr val="003087"/>
                </a:solidFill>
              </a:defRPr>
            </a:lvl1pPr>
          </a:lstStyle>
          <a:p>
            <a:pPr lvl="0"/>
            <a:r>
              <a:rPr lang="en-US" dirty="0"/>
              <a:t>Page</a:t>
            </a:r>
          </a:p>
        </p:txBody>
      </p:sp>
      <p:sp>
        <p:nvSpPr>
          <p:cNvPr id="2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99592" y="336411"/>
            <a:ext cx="7920880" cy="4691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en-US" dirty="0"/>
              <a:t>Content in Open Sans, bold, size 20, left align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86095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8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99592" y="339502"/>
            <a:ext cx="7920880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rgbClr val="003087"/>
                </a:solidFill>
              </a:defRPr>
            </a:lvl1pPr>
          </a:lstStyle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899592" y="1131590"/>
            <a:ext cx="7920880" cy="32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input content (min. text size 16)</a:t>
            </a:r>
          </a:p>
        </p:txBody>
      </p:sp>
    </p:spTree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2" pos="39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D31065-48EE-3E44-8580-C08AEC29A78A}"/>
              </a:ext>
            </a:extLst>
          </p:cNvPr>
          <p:cNvSpPr/>
          <p:nvPr userDrawn="1"/>
        </p:nvSpPr>
        <p:spPr>
          <a:xfrm>
            <a:off x="0" y="0"/>
            <a:ext cx="827584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23528" y="339502"/>
            <a:ext cx="8496944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323528" y="1131590"/>
            <a:ext cx="8496944" cy="32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input content (min. text size 16)</a:t>
            </a:r>
          </a:p>
        </p:txBody>
      </p:sp>
    </p:spTree>
    <p:extLst>
      <p:ext uri="{BB962C8B-B14F-4D97-AF65-F5344CB8AC3E}">
        <p14:creationId xmlns:p14="http://schemas.microsoft.com/office/powerpoint/2010/main" val="261513532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1560" y="1275606"/>
            <a:ext cx="5492700" cy="954107"/>
          </a:xfrm>
        </p:spPr>
        <p:txBody>
          <a:bodyPr wrap="square" anchor="t">
            <a:spAutoFit/>
          </a:bodyPr>
          <a:lstStyle>
            <a:lvl1pPr algn="l">
              <a:defRPr sz="2800" baseline="0">
                <a:solidFill>
                  <a:srgbClr val="003087"/>
                </a:solidFill>
                <a:latin typeface="Open Sans"/>
                <a:cs typeface="Open Sans"/>
              </a:defRPr>
            </a:lvl1pPr>
          </a:lstStyle>
          <a:p>
            <a:r>
              <a:rPr lang="en-US" dirty="0"/>
              <a:t>Section header in Open Sans, bold, size 28, left align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256381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044375" y="1530724"/>
            <a:ext cx="4114800" cy="205740"/>
          </a:xfrm>
        </p:spPr>
        <p:txBody>
          <a:bodyPr anchor="ctr"/>
          <a:lstStyle>
            <a:lvl1pPr marL="0" indent="0">
              <a:buNone/>
              <a:defRPr sz="1500" baseline="0"/>
            </a:lvl1pPr>
          </a:lstStyle>
          <a:p>
            <a:pPr lvl="0"/>
            <a:r>
              <a:rPr lang="en-US" dirty="0"/>
              <a:t>Research Institute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44375" y="1293100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1044375" y="1768348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Tel: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1044375" y="2005970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1044375" y="1055476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 b="1" baseline="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043608" y="3191005"/>
            <a:ext cx="4114800" cy="205740"/>
          </a:xfrm>
        </p:spPr>
        <p:txBody>
          <a:bodyPr anchor="ctr"/>
          <a:lstStyle>
            <a:lvl1pPr marL="0" indent="0">
              <a:buNone/>
              <a:defRPr sz="1500" baseline="0"/>
            </a:lvl1pPr>
          </a:lstStyle>
          <a:p>
            <a:pPr lvl="0"/>
            <a:r>
              <a:rPr lang="en-US" dirty="0"/>
              <a:t>Research Institute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1043608" y="2953386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1043608" y="3428624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Tel: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1043608" y="3666243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/>
            </a:lvl1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30" hasCustomPrompt="1"/>
          </p:nvPr>
        </p:nvSpPr>
        <p:spPr>
          <a:xfrm>
            <a:off x="1043608" y="2715767"/>
            <a:ext cx="4114800" cy="205740"/>
          </a:xfrm>
        </p:spPr>
        <p:txBody>
          <a:bodyPr anchor="ctr">
            <a:noAutofit/>
          </a:bodyPr>
          <a:lstStyle>
            <a:lvl1pPr marL="0" indent="0">
              <a:buNone/>
              <a:defRPr sz="1500" b="1" baseline="0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6" name="Text Placeholder 39"/>
          <p:cNvSpPr>
            <a:spLocks noGrp="1"/>
          </p:cNvSpPr>
          <p:nvPr>
            <p:ph type="body" sz="quarter" idx="31" hasCustomPrompt="1"/>
          </p:nvPr>
        </p:nvSpPr>
        <p:spPr>
          <a:xfrm>
            <a:off x="5292080" y="1055494"/>
            <a:ext cx="2743200" cy="115621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baseline="0"/>
            </a:lvl1pPr>
          </a:lstStyle>
          <a:p>
            <a:pPr lvl="0"/>
            <a:r>
              <a:rPr lang="en-US" dirty="0"/>
              <a:t>Insert Research Institute logo here </a:t>
            </a:r>
          </a:p>
        </p:txBody>
      </p:sp>
      <p:sp>
        <p:nvSpPr>
          <p:cNvPr id="17" name="Text Placeholder 39"/>
          <p:cNvSpPr>
            <a:spLocks noGrp="1"/>
          </p:cNvSpPr>
          <p:nvPr>
            <p:ph type="body" sz="quarter" idx="32" hasCustomPrompt="1"/>
          </p:nvPr>
        </p:nvSpPr>
        <p:spPr>
          <a:xfrm>
            <a:off x="5292080" y="2715766"/>
            <a:ext cx="2743200" cy="11562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baseline="0"/>
            </a:lvl1pPr>
          </a:lstStyle>
          <a:p>
            <a:pPr lvl="0"/>
            <a:r>
              <a:rPr lang="en-US" dirty="0"/>
              <a:t>Insert Research Institute logo here 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971600" y="333465"/>
            <a:ext cx="188832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500" b="1" kern="1200" baseline="0" dirty="0">
                <a:solidFill>
                  <a:srgbClr val="003087"/>
                </a:solidFill>
                <a:latin typeface="Open Sans"/>
                <a:ea typeface="+mj-ea"/>
                <a:cs typeface="Open Sans"/>
              </a:rPr>
              <a:t>Contact us</a:t>
            </a:r>
          </a:p>
        </p:txBody>
      </p:sp>
    </p:spTree>
    <p:extLst>
      <p:ext uri="{BB962C8B-B14F-4D97-AF65-F5344CB8AC3E}">
        <p14:creationId xmlns:p14="http://schemas.microsoft.com/office/powerpoint/2010/main" val="274294274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ack Cover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4660760" y="1995686"/>
            <a:ext cx="20097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2400" b="1" kern="1200" baseline="0" dirty="0">
                <a:solidFill>
                  <a:srgbClr val="003087"/>
                </a:solidFill>
                <a:latin typeface="Open Sans"/>
                <a:ea typeface="+mj-ea"/>
                <a:cs typeface="Open Sans"/>
              </a:rPr>
              <a:t>THANK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75AD7-A0FE-C44E-AF02-9867EA4F9B5F}"/>
              </a:ext>
            </a:extLst>
          </p:cNvPr>
          <p:cNvSpPr/>
          <p:nvPr userDrawn="1"/>
        </p:nvSpPr>
        <p:spPr>
          <a:xfrm>
            <a:off x="4711579" y="2836934"/>
            <a:ext cx="14029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100" b="0" kern="1200" baseline="0" dirty="0">
                <a:solidFill>
                  <a:srgbClr val="003087"/>
                </a:solidFill>
                <a:latin typeface="Open Sans"/>
                <a:ea typeface="+mj-ea"/>
                <a:cs typeface="Open Sans"/>
              </a:rPr>
              <a:t>www.a-star.edu.sg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7ABC79-F056-DF4F-8786-B9175747C5D5}"/>
              </a:ext>
            </a:extLst>
          </p:cNvPr>
          <p:cNvCxnSpPr/>
          <p:nvPr userDrawn="1"/>
        </p:nvCxnSpPr>
        <p:spPr>
          <a:xfrm>
            <a:off x="4788024" y="2787774"/>
            <a:ext cx="1800200" cy="0"/>
          </a:xfrm>
          <a:prstGeom prst="line">
            <a:avLst/>
          </a:prstGeom>
          <a:ln w="3175">
            <a:solidFill>
              <a:srgbClr val="003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Star_Logo_RGB_LowRes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7" y="407959"/>
            <a:ext cx="1728191" cy="54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11299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168006"/>
      </p:ext>
    </p:extLst>
  </p:cSld>
  <p:clrMapOvr>
    <a:masterClrMapping/>
  </p:clrMapOvr>
  <p:transition spd="slow">
    <p:push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9592" y="339502"/>
            <a:ext cx="7920880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Title in Open Sans, bold, size 20, left align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9592" y="1131590"/>
            <a:ext cx="7920880" cy="3240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input content (min. text size 16)</a:t>
            </a:r>
          </a:p>
          <a:p>
            <a:pPr lvl="4"/>
            <a:endParaRPr lang="en-GB" dirty="0"/>
          </a:p>
        </p:txBody>
      </p:sp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830888" y="473199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78BDA8-D60F-4FDE-A05C-5882F3D646E1}" type="slidenum">
              <a:rPr lang="en-US" sz="7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Star_Powerpoint_Image Template05.jp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21240" cy="5143500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621240" y="4866501"/>
            <a:ext cx="8527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kern="120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OFFICIAL</a:t>
            </a:r>
            <a:r>
              <a:rPr lang="en-SG" sz="1000" kern="1200" baseline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(CLOSED) / SENSITIVE HIGH (WHEN FILLED)</a:t>
            </a: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8" r:id="rId2"/>
    <p:sldLayoutId id="2147483676" r:id="rId3"/>
    <p:sldLayoutId id="2147483677" r:id="rId4"/>
    <p:sldLayoutId id="2147483669" r:id="rId5"/>
    <p:sldLayoutId id="2147483650" r:id="rId6"/>
    <p:sldLayoutId id="2147483679" r:id="rId7"/>
    <p:sldLayoutId id="2147483672" r:id="rId8"/>
    <p:sldLayoutId id="2147483671" r:id="rId9"/>
    <p:sldLayoutId id="2147483674" r:id="rId10"/>
    <p:sldLayoutId id="2147483675" r:id="rId11"/>
  </p:sldLayoutIdLst>
  <p:transition spd="slow">
    <p:push dir="u"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baseline="0">
          <a:solidFill>
            <a:srgbClr val="003087"/>
          </a:solidFill>
          <a:latin typeface="Open Sans"/>
          <a:ea typeface="+mj-ea"/>
          <a:cs typeface="Open San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 pitchFamily="34" charset="0"/>
        <a:buNone/>
        <a:tabLst/>
        <a:defRPr sz="1600" kern="1200">
          <a:solidFill>
            <a:schemeClr val="tx1"/>
          </a:solidFill>
          <a:latin typeface="Open Sans"/>
          <a:ea typeface="+mn-ea"/>
          <a:cs typeface="Open Sans"/>
        </a:defRPr>
      </a:lvl1pPr>
      <a:lvl2pPr marL="457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685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9144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1430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Relationship Id="rId3" Type="http://schemas.openxmlformats.org/officeDocument/2006/relationships/image" Target="../media/image9.jpg"/><Relationship Id="rId4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Pikachu — Species Profile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April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Source: Wikipedia · pokemondb.net · pokumon.com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631139"/>
            <a:ext cx="2560320" cy="239532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Pikachu?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0111"/>
            <a:ext cx="2880360" cy="2694737"/>
          </a:xfrm>
          <a:prstGeom prst="rect">
            <a:avLst/>
          </a:prstGeom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3534156" y="136245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12344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First introduced in Pokémon Red &amp; Blue (1996); created by Atsuko Nishida.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34156" y="168249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55448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Name combines "pika" (sparkle) and "chū" (mouse squeak) in Japanese.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4156" y="200253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87452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Evolved from Pichu (high Friendship) → Pikachu → Raichu (Thunder Stone).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4156" y="232257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9456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Voiced by Ikue Ōtani in virtually every appearance since 1997.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i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62" y="1188720"/>
            <a:ext cx="1921035" cy="2194560"/>
          </a:xfrm>
          <a:prstGeom prst="rect">
            <a:avLst/>
          </a:prstGeom>
          <a:ln>
            <a:noFill/>
          </a:ln>
        </p:spPr>
      </p:pic>
      <p:pic>
        <p:nvPicPr>
          <p:cNvPr id="5" name="Picture 4" descr="pikach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134" y="1188720"/>
            <a:ext cx="2345729" cy="2194560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raich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78" y="1188720"/>
            <a:ext cx="2468880" cy="2194560"/>
          </a:xfrm>
          <a:prstGeom prst="rect">
            <a:avLst/>
          </a:prstGeom>
          <a:ln>
            <a:noFill/>
          </a:ln>
        </p:spPr>
      </p:pic>
      <p:sp>
        <p:nvSpPr>
          <p:cNvPr id="7" name="Rounded Rectangle 6"/>
          <p:cNvSpPr/>
          <p:nvPr/>
        </p:nvSpPr>
        <p:spPr>
          <a:xfrm>
            <a:off x="365760" y="3657600"/>
            <a:ext cx="2682239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457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236219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Pichu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89120"/>
            <a:ext cx="236219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Baby Electric-type · Evolves via high Friendship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0879" y="3657600"/>
            <a:ext cx="2682239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0879" y="3657600"/>
            <a:ext cx="457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79" y="3840480"/>
            <a:ext cx="236219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Pikachu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79" y="4389120"/>
            <a:ext cx="236219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Mouse Pokémon #025 · 0.4 m · 6.0 kg · Electric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999" y="3657600"/>
            <a:ext cx="2682239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999" y="3657600"/>
            <a:ext cx="4572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599" y="3840480"/>
            <a:ext cx="236219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Raichu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599" y="4389120"/>
            <a:ext cx="236219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Mouse Pokémon #026 · Evolves with Thunder 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Stats  (pokemondb.net)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234440"/>
          <a:ext cx="84124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ikac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36705"/>
            <a:ext cx="2304288" cy="2155789"/>
          </a:xfrm>
          <a:prstGeom prst="rect">
            <a:avLst/>
          </a:prstGeom>
          <a:ln>
            <a:noFill/>
          </a:ln>
        </p:spPr>
      </p:pic>
      <p:sp>
        <p:nvSpPr>
          <p:cNvPr id="5" name="Rounded Rectangle 4"/>
          <p:cNvSpPr/>
          <p:nvPr/>
        </p:nvSpPr>
        <p:spPr>
          <a:xfrm>
            <a:off x="2852928" y="1234440"/>
            <a:ext cx="287121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52928" y="12344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81528" y="1417320"/>
            <a:ext cx="24597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POKÉDEX 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645920"/>
            <a:ext cx="245973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 Light"/>
              </a:rPr>
              <a:t>#025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2057400"/>
            <a:ext cx="24597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alibri"/>
              </a:rPr>
              <a:t>▲ Gen 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07024" y="1234440"/>
            <a:ext cx="287121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7024" y="123444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5624" y="1417320"/>
            <a:ext cx="24597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BASE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5624" y="1645920"/>
            <a:ext cx="245973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 Light"/>
              </a:rPr>
              <a:t>320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2057400"/>
            <a:ext cx="24597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alibri"/>
              </a:rPr>
              <a:t>▲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8" y="2788920"/>
            <a:ext cx="287121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52928" y="278892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8" y="2971800"/>
            <a:ext cx="24597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SPEED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3200400"/>
            <a:ext cx="245973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 Light"/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3611880"/>
            <a:ext cx="24597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alibri"/>
              </a:rPr>
              <a:t>▲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07024" y="2788920"/>
            <a:ext cx="287121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07024" y="2788920"/>
            <a:ext cx="457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2971800"/>
            <a:ext cx="24597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CATCH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3200400"/>
            <a:ext cx="245973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Calibri Light"/>
              </a:rPr>
              <a:t>190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3611880"/>
            <a:ext cx="24597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Calibri"/>
              </a:rPr>
              <a:t>▲ / 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Pokémon Franchise 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234440"/>
          <a:ext cx="84124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Facts  (Wikipedia)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70916" y="136245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138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First introduced in Pokémon Red &amp; Blue (1996); created by Atsuko Nishida.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" y="168249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8138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Name combines "pika" (sparkle) and "chū" (mouse squeak) in Japanese.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" y="200253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8138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Evolved from Pichu (high Friendship) → Pikachu → Raichu (Thunder Stone).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" y="232257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8138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Voiced by Ikue Ōtani in virtually every appearance since 1997.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" y="264261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8138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Ranked 2nd "Person of the Year" by TIME magazine in 1999.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" y="296265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34640"/>
            <a:ext cx="8138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Appeared in all 5 Super Smash Bros. games as a playable fighter.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" y="328269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54680"/>
            <a:ext cx="8138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"Surprised Pikachu" became one of the internet's most widely used memes.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" y="3602736"/>
            <a:ext cx="64008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81381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Gigantamax form (Sword &amp; Shield) revisits the original "Fat Pikachu"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Pikachu Through the Years  (pokumon.com)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548640" y="2776118"/>
            <a:ext cx="8046720" cy="18288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463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228599" y="2218334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Feb 1996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28599" y="240121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Pokémon Red &amp; Green launch in Japan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871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480" y="289499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Apr 1997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480" y="307787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Anime series premieres; Pikachu stars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7279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9560" y="2218334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Sep 1998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9560" y="240121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Pokémon Red &amp; Blue launch in North America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6687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3640" y="289499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Jul 1998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3640" y="307787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First Pokémon movie (Mewtwo Strikes Back)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0951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7720" y="2218334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Nov 1998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7720" y="240121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Pokémon Yellow — Pikachu walks with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503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1800" y="289499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Nov 1999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1800" y="307787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Generation II (Gold &amp; Silver) launches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4911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5880" y="2218334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Jul 2016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5880" y="240121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Pokémon GO global launch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4319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29960" y="289499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May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9960" y="307787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Detective Pikachu live-action film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727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24040" y="2218334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Nov 2019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4040" y="240121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0F172A"/>
                </a:solidFill>
                <a:latin typeface="Calibri"/>
              </a:rPr>
              <a:t>Pokémon Sword &amp; Shield — Gigantamax form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31352" y="272125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2894990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  <a:latin typeface="Calibri"/>
              </a:rPr>
              <a:t>Apr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307787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Still the world's most recognised Pokémon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STAR PPT Template 100420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2DA73BAA8551419E77B640F39D3F5D" ma:contentTypeVersion="6" ma:contentTypeDescription="Create a new document." ma:contentTypeScope="" ma:versionID="21c58f6b325cf0e9268961e2972608ab">
  <xsd:schema xmlns:xsd="http://www.w3.org/2001/XMLSchema" xmlns:xs="http://www.w3.org/2001/XMLSchema" xmlns:p="http://schemas.microsoft.com/office/2006/metadata/properties" xmlns:ns2="29cd325b-2eee-4c5d-9db9-3a6710214490" xmlns:ns3="8f380673-f5d0-4d30-88c7-34c2a6233ab8" targetNamespace="http://schemas.microsoft.com/office/2006/metadata/properties" ma:root="true" ma:fieldsID="8b8e6628b342892ff5b2f6532106b444" ns2:_="" ns3:_="">
    <xsd:import namespace="29cd325b-2eee-4c5d-9db9-3a6710214490"/>
    <xsd:import namespace="8f380673-f5d0-4d30-88c7-34c2a6233ab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3:p4a88d1dd77d4cb8a736582c2d3c5e4a" minOccurs="0"/>
                <xsd:element ref="ns2:TaxCatchAll" minOccurs="0"/>
                <xsd:element ref="ns3:cb38fe7aa1c5445ebcca08ecfde264d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d325b-2eee-4c5d-9db9-3a671021449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11" nillable="true" ma:displayName="Taxonomy Catch All Column" ma:hidden="true" ma:list="{3f75ea47-4b25-40cf-90b4-58a1cc895f21}" ma:internalName="TaxCatchAll" ma:showField="CatchAllData" ma:web="29cd325b-2eee-4c5d-9db9-3a6710214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80673-f5d0-4d30-88c7-34c2a6233ab8" elementFormDefault="qualified">
    <xsd:import namespace="http://schemas.microsoft.com/office/2006/documentManagement/types"/>
    <xsd:import namespace="http://schemas.microsoft.com/office/infopath/2007/PartnerControls"/>
    <xsd:element name="p4a88d1dd77d4cb8a736582c2d3c5e4a" ma:index="10" ma:taxonomy="true" ma:internalName="p4a88d1dd77d4cb8a736582c2d3c5e4a" ma:taxonomyFieldName="Security_x0020_Classification" ma:displayName="Security Classification" ma:default="-1;#Official Open|2bae7c29-0188-4e7d-8c62-1a438b954f8b" ma:fieldId="{94a88d1d-d77d-4cb8-a736-582c2d3c5e4a}" ma:sspId="974cb554-9eb7-495d-b1d8-159d1abb80f5" ma:termSetId="b44889cd-d78c-4551-b063-7a7a1cb7eda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cb38fe7aa1c5445ebcca08ecfde264dd" ma:index="13" ma:taxonomy="true" ma:internalName="cb38fe7aa1c5445ebcca08ecfde264dd" ma:taxonomyFieldName="Sensitive_x0020_Category" ma:displayName="Sensitive Category" ma:default="-1;#Non-Sensitive|a6c191f4-2dd3-46ec-8289-9409bff4fe86" ma:fieldId="{cb38fe7a-a1c5-445e-bcca-08ecfde264dd}" ma:sspId="974cb554-9eb7-495d-b1d8-159d1abb80f5" ma:termSetId="557ecf87-9d5f-4a78-a4ea-1caff5fb2a63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4a88d1dd77d4cb8a736582c2d3c5e4a xmlns="8f380673-f5d0-4d30-88c7-34c2a6233ab8">
      <Terms xmlns="http://schemas.microsoft.com/office/infopath/2007/PartnerControls">
        <TermInfo xmlns="http://schemas.microsoft.com/office/infopath/2007/PartnerControls">
          <TermName xmlns="http://schemas.microsoft.com/office/infopath/2007/PartnerControls">Official Open</TermName>
          <TermId xmlns="http://schemas.microsoft.com/office/infopath/2007/PartnerControls">2bae7c29-0188-4e7d-8c62-1a438b954f8b</TermId>
        </TermInfo>
      </Terms>
    </p4a88d1dd77d4cb8a736582c2d3c5e4a>
    <cb38fe7aa1c5445ebcca08ecfde264dd xmlns="8f380673-f5d0-4d30-88c7-34c2a6233ab8">
      <Terms xmlns="http://schemas.microsoft.com/office/infopath/2007/PartnerControls">
        <TermInfo xmlns="http://schemas.microsoft.com/office/infopath/2007/PartnerControls">
          <TermName xmlns="http://schemas.microsoft.com/office/infopath/2007/PartnerControls">Non-Sensitive</TermName>
          <TermId xmlns="http://schemas.microsoft.com/office/infopath/2007/PartnerControls">a6c191f4-2dd3-46ec-8289-9409bff4fe86</TermId>
        </TermInfo>
      </Terms>
    </cb38fe7aa1c5445ebcca08ecfde264dd>
    <TaxCatchAll xmlns="29cd325b-2eee-4c5d-9db9-3a6710214490">
      <Value>2</Value>
      <Value>1</Value>
    </TaxCatchAl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DA6A45-2D52-4662-9515-0F96AE580D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cd325b-2eee-4c5d-9db9-3a6710214490"/>
    <ds:schemaRef ds:uri="8f380673-f5d0-4d30-88c7-34c2a6233a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493CE9-1D7C-4D79-916C-3386876BE1A7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8e5633f6-dc03-4192-9dd3-80edd9b4d150"/>
    <ds:schemaRef ds:uri="http://www.w3.org/XML/1998/namespace"/>
    <ds:schemaRef ds:uri="8f380673-f5d0-4d30-88c7-34c2a6233ab8"/>
    <ds:schemaRef ds:uri="29cd325b-2eee-4c5d-9db9-3a6710214490"/>
  </ds:schemaRefs>
</ds:datastoreItem>
</file>

<file path=customXml/itemProps3.xml><?xml version="1.0" encoding="utf-8"?>
<ds:datastoreItem xmlns:ds="http://schemas.openxmlformats.org/officeDocument/2006/customXml" ds:itemID="{14217316-243D-43FC-8067-AD2F8B2B72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A-STAR_PPT_Template_2020_(16.9)_200203.thmx</Template>
  <TotalTime>21553</TotalTime>
  <Words>618</Words>
  <Application>Microsoft Office PowerPoint</Application>
  <PresentationFormat>On-screen Show (16:9)</PresentationFormat>
  <Paragraphs>182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Open Sans</vt:lpstr>
      <vt:lpstr>Wingdings</vt:lpstr>
      <vt:lpstr>ASTAR PPT Template 10042012</vt:lpstr>
      <vt:lpstr>HBMS/HHP IAF-PP  Mid Term Review (MTR)</vt:lpstr>
      <vt:lpstr>PowerPoint Presentation</vt:lpstr>
      <vt:lpstr>Programme Summary</vt:lpstr>
      <vt:lpstr>Programme Overview</vt:lpstr>
      <vt:lpstr>Programme Benchmarking</vt:lpstr>
      <vt:lpstr>Industry Engagements</vt:lpstr>
      <vt:lpstr>Programme Status - IRS</vt:lpstr>
      <vt:lpstr>Programme Status</vt:lpstr>
      <vt:lpstr>Programme Status</vt:lpstr>
      <vt:lpstr>Programme Status</vt:lpstr>
      <vt:lpstr>Future Research and Industry Engagement Plans</vt:lpstr>
      <vt:lpstr>Scientific Advisory Board (SAB) Report</vt:lpstr>
      <vt:lpstr> Additional Supporting Slides  (Up to 10 slides)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ASTAR CORP COMMS</dc:creator>
  <cp:lastModifiedBy>Nidyah Sani</cp:lastModifiedBy>
  <cp:revision>1581</cp:revision>
  <cp:lastPrinted>2020-03-09T03:14:02Z</cp:lastPrinted>
  <dcterms:created xsi:type="dcterms:W3CDTF">2014-03-27T05:25:01Z</dcterms:created>
  <dcterms:modified xsi:type="dcterms:W3CDTF">2021-11-02T02:13:59Z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0x0101008A2DA73BAA8551419E77B640F39D3F5D</vt:lpwstr>
  </property>
  <property fmtid="{D5CDD505-2E9C-101B-9397-08002B2CF9AE}" pid="3" name="MSIP_Label_3f9331f7-95a2-472a-92bc-d73219eb516b_Enabled">
    <vt:lpwstr>True</vt:lpwstr>
  </property>
  <property fmtid="{D5CDD505-2E9C-101B-9397-08002B2CF9AE}" pid="4" name="MSIP_Label_3f9331f7-95a2-472a-92bc-d73219eb516b_SiteId">
    <vt:lpwstr>0b11c524-9a1c-4e1b-84cb-6336aefc2243</vt:lpwstr>
  </property>
  <property fmtid="{D5CDD505-2E9C-101B-9397-08002B2CF9AE}" pid="5" name="MSIP_Label_3f9331f7-95a2-472a-92bc-d73219eb516b_Owner">
    <vt:lpwstr>GOH_Mien_Zo@a-star.edu.sg</vt:lpwstr>
  </property>
  <property fmtid="{D5CDD505-2E9C-101B-9397-08002B2CF9AE}" pid="6" name="MSIP_Label_3f9331f7-95a2-472a-92bc-d73219eb516b_SetDate">
    <vt:lpwstr>2020-02-22T05:02:31.2332598Z</vt:lpwstr>
  </property>
  <property fmtid="{D5CDD505-2E9C-101B-9397-08002B2CF9AE}" pid="7" name="MSIP_Label_3f9331f7-95a2-472a-92bc-d73219eb516b_Name">
    <vt:lpwstr>CONFIDENTIAL</vt:lpwstr>
  </property>
  <property fmtid="{D5CDD505-2E9C-101B-9397-08002B2CF9AE}" pid="8" name="MSIP_Label_3f9331f7-95a2-472a-92bc-d73219eb516b_Application">
    <vt:lpwstr>Microsoft Azure Information Protection</vt:lpwstr>
  </property>
  <property fmtid="{D5CDD505-2E9C-101B-9397-08002B2CF9AE}" pid="9" name="MSIP_Label_3f9331f7-95a2-472a-92bc-d73219eb516b_ActionId">
    <vt:lpwstr>079e5ffd-b793-4016-9d1d-217a1620b568</vt:lpwstr>
  </property>
  <property fmtid="{D5CDD505-2E9C-101B-9397-08002B2CF9AE}" pid="10" name="MSIP_Label_3f9331f7-95a2-472a-92bc-d73219eb516b_Extended_MSFT_Method">
    <vt:lpwstr>Automatic</vt:lpwstr>
  </property>
  <property fmtid="{D5CDD505-2E9C-101B-9397-08002B2CF9AE}" pid="11" name="MSIP_Label_4f288355-fb4c-44cd-b9ca-40cfc2aee5f8_Enabled">
    <vt:lpwstr>True</vt:lpwstr>
  </property>
  <property fmtid="{D5CDD505-2E9C-101B-9397-08002B2CF9AE}" pid="12" name="MSIP_Label_4f288355-fb4c-44cd-b9ca-40cfc2aee5f8_SiteId">
    <vt:lpwstr>0b11c524-9a1c-4e1b-84cb-6336aefc2243</vt:lpwstr>
  </property>
  <property fmtid="{D5CDD505-2E9C-101B-9397-08002B2CF9AE}" pid="13" name="MSIP_Label_4f288355-fb4c-44cd-b9ca-40cfc2aee5f8_Owner">
    <vt:lpwstr>GOH_Mien_Zo@a-star.edu.sg</vt:lpwstr>
  </property>
  <property fmtid="{D5CDD505-2E9C-101B-9397-08002B2CF9AE}" pid="14" name="MSIP_Label_4f288355-fb4c-44cd-b9ca-40cfc2aee5f8_SetDate">
    <vt:lpwstr>2020-02-22T05:02:31.2332598Z</vt:lpwstr>
  </property>
  <property fmtid="{D5CDD505-2E9C-101B-9397-08002B2CF9AE}" pid="15" name="MSIP_Label_4f288355-fb4c-44cd-b9ca-40cfc2aee5f8_Name">
    <vt:lpwstr>NON-SENSITIVE</vt:lpwstr>
  </property>
  <property fmtid="{D5CDD505-2E9C-101B-9397-08002B2CF9AE}" pid="16" name="MSIP_Label_4f288355-fb4c-44cd-b9ca-40cfc2aee5f8_Application">
    <vt:lpwstr>Microsoft Azure Information Protection</vt:lpwstr>
  </property>
  <property fmtid="{D5CDD505-2E9C-101B-9397-08002B2CF9AE}" pid="17" name="MSIP_Label_4f288355-fb4c-44cd-b9ca-40cfc2aee5f8_ActionId">
    <vt:lpwstr>079e5ffd-b793-4016-9d1d-217a1620b568</vt:lpwstr>
  </property>
  <property fmtid="{D5CDD505-2E9C-101B-9397-08002B2CF9AE}" pid="18" name="MSIP_Label_4f288355-fb4c-44cd-b9ca-40cfc2aee5f8_Parent">
    <vt:lpwstr>3f9331f7-95a2-472a-92bc-d73219eb516b</vt:lpwstr>
  </property>
  <property fmtid="{D5CDD505-2E9C-101B-9397-08002B2CF9AE}" pid="19" name="MSIP_Label_4f288355-fb4c-44cd-b9ca-40cfc2aee5f8_Extended_MSFT_Method">
    <vt:lpwstr>Automatic</vt:lpwstr>
  </property>
  <property fmtid="{D5CDD505-2E9C-101B-9397-08002B2CF9AE}" pid="20" name="Sensitive Category">
    <vt:lpwstr>2;#Non-Sensitive|a6c191f4-2dd3-46ec-8289-9409bff4fe86</vt:lpwstr>
  </property>
  <property fmtid="{D5CDD505-2E9C-101B-9397-08002B2CF9AE}" pid="21" name="Security Classification">
    <vt:lpwstr>1;#Official Open|2bae7c29-0188-4e7d-8c62-1a438b954f8b</vt:lpwstr>
  </property>
</Properties>
</file>