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Monthly Revenue vs Target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solidFill>
              <a:srgbClr val="93C5FD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ln w="31750">
              <a:solidFill>
                <a:srgbClr val="93C5FD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118791784"/>
        <c:crosses val="autoZero"/>
      </c:valAx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334155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by Region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</c:pieChart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Monthly Recurring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98</c:v>
                </c:pt>
                <c:pt idx="2">
                  <c:v>105</c:v>
                </c:pt>
                <c:pt idx="3">
                  <c:v>112</c:v>
                </c:pt>
                <c:pt idx="4">
                  <c:v>120</c:v>
                </c:pt>
                <c:pt idx="5">
                  <c:v>128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Evaluation Snapshot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Speed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85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Flexibility</c:v>
                </c:pt>
              </c:strCache>
            </c:strRef>
          </c:tx>
          <c:spPr>
            <a:solidFill>
              <a:srgbClr val="93C5F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Q2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Performance metrics, trends, and outlook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79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79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Key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2039" y="2125979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Performance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ACTIVE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24,370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6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▼ +0.4pp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98.7%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System Uptime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30-day rolling average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7258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Avg Response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7258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p95 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7316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$42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7316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Customer acquisition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Product Revenue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412583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3039" y="1280160"/>
            <a:ext cx="206291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Q1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5959" y="1280160"/>
            <a:ext cx="206291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Q2 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08879" y="1280160"/>
            <a:ext cx="137527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84159" y="1280160"/>
            <a:ext cx="1650335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Alpha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3039" y="160020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$420K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5959" y="160020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$510K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8879" y="160020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4159" y="160020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258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Beta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3039" y="192024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$280K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5959" y="192024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$295K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8879" y="1920240"/>
            <a:ext cx="137527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84159" y="1920240"/>
            <a:ext cx="165033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At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Gamma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3039" y="224028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$190K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5959" y="224028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$240K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8879" y="224028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4159" y="224028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41258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Delta 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3039" y="256032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$95K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5959" y="256032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$88K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08879" y="2560320"/>
            <a:ext cx="137527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4159" y="2560320"/>
            <a:ext cx="165033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Behind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8036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Epsilon SDK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3039" y="288036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$60K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5959" y="288036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$75K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8879" y="288036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4159" y="288036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Revenue Trend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87287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4160520"/>
          <a:ext cx="11277295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Roadmap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2356" y="177393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Redesign onboarding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09397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Launch mobile app v2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241401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Integrate SSO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73405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Expand 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7258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Define OKRs for 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7258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Security audit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Migrate to GCP Cloud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258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578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Enable A/B testing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1636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Deploy 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7316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Fix dashboard load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Update privacy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316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Archive legacy endpoints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29260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1636" y="292608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Notify affected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Notices &amp;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32588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1E40AF"/>
                </a:solidFill>
                <a:latin typeface="Calibri"/>
              </a:rPr>
              <a:t>INFO  Database migration scheduled for July 4 — expect 2 min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9456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92400E"/>
                </a:solidFill>
                <a:latin typeface="Calibri"/>
              </a:rPr>
              <a:t>⚠  WARNING  Churn has increased 0.4pp — review retention playbook this sprint.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63239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39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3063239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166534"/>
                </a:solidFill>
                <a:latin typeface="Calibri"/>
              </a:rPr>
              <a:t>✓  SUCCESS  Uptime target of 99.5% achieved for third consecutive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" y="393192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991B1B"/>
                </a:solidFill>
                <a:latin typeface="Calibri"/>
              </a:rPr>
              <a:t>✕  ERROR  Payment gateway timeout rate exceeded SLA threshold on June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7295" cy="118872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54864" cy="1188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5212080"/>
            <a:ext cx="1067379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334155"/>
                </a:solidFill>
                <a:latin typeface="Calibri Light"/>
              </a:rPr>
              <a:t>“The goal is not to build more features — it's to make existing ones indispensable.”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760720"/>
            <a:ext cx="106737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— Product Review,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Sprint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Authentication service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1371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9585700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 v3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6991923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Data warehouse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27432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40%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4510918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Mobile parity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34290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91%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0262338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Legacy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41148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2255459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9641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Operational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685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92400E"/>
                </a:solidFill>
                <a:latin typeface="Calibri"/>
              </a:rPr>
              <a:t>Degraded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9729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991B1B"/>
                </a:solidFill>
                <a:latin typeface="Calibri"/>
              </a:rPr>
              <a:t>Outage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4773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Composite layout — all components composed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2243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+4pts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331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331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0931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0931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$890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+6%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657599"/>
          <a:ext cx="11277295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React Pattern Adaptations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Tabs +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TabsPanel (inspired by Radix/shadcn Tabs)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1387" y="2011680"/>
            <a:ext cx="2709595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57400"/>
            <a:ext cx="11277295" cy="1005839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0911535" cy="640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Q2 analytics summary: Revenue is up 18% YoY, activation improved by 6%, and churn remains above target in two enterprise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StepFlow (inspired by Ant Design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5979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51747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3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9947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9947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7883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Prototype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7831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7831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5767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715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5715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651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23599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23599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73526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3943" y="571500"/>
            <a:ext cx="2130552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Image + Legend + KPIGrid</a:t>
            </a:r>
          </a:p>
        </p:txBody>
      </p:sp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86" y="1280160"/>
            <a:ext cx="4226560" cy="237744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67412" y="1280160"/>
            <a:ext cx="4267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Region Color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7412" y="1682496"/>
            <a:ext cx="109728" cy="109728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8580" y="1600200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APAC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67412" y="195681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8580" y="187451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EMEA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12" y="223113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8580" y="214883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Americas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67412" y="250545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8580" y="242315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Other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NEW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1,284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7258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858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858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14.2%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858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+1.1pp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PIPELINE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$3.4M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WIN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▼ -2pp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8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7258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5858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SALES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5858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27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5858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-3 days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7316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5916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UPSELL MRR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5916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$48K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5916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272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2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5967" y="571500"/>
            <a:ext cx="1938528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Timeline +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Program Roadmap (MUI Timeline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18004"/>
            <a:ext cx="10911535" cy="1828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37160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Calibri"/>
              </a:rPr>
              <a:t>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523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723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723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Calibri"/>
              </a:rPr>
              <a:t>Pilot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4407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Enterprise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291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491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491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Automation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60175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4375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Q1 '27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Scale +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6566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Decision Matrix (shadcn composable style)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Build In-House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Full control over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Can optimize for existing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Higher upfront engineering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Longer time-to-market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31681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681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4561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Buy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561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5729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Fastest path to 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561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29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Vendor support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561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15729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Recurring license cost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561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5729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Less flexibility on edge cases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206162" y="3291840"/>
          <a:ext cx="452833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1133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80015" y="571500"/>
            <a:ext cx="155448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Heatmap +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Feature Adoption Score by Platform &amp; Quarter (%)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30903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6631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Mobile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328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5C8A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9191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4A7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30903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7055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86A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4919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7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66631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Web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81328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A2BC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49191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B4C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30903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68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17055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78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8767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81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4919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98B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6631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414015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81328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7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49191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2E6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0903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17055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407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98767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84919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6631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2706623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81328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D5E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63040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61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49191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30903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55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17055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ABC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4919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CBD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6631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 Latency (ms)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21365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alibri"/>
              </a:rPr>
              <a:t>210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OK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66494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66494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Warn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75789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75789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Critical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11924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77258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Error Rate (%)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41424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alibri"/>
              </a:rPr>
              <a:t>2.1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77258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7258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OK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40976" y="3236976"/>
            <a:ext cx="727435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40976" y="3447288"/>
            <a:ext cx="727435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Warn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368411" y="3236976"/>
            <a:ext cx="2546024" cy="201168"/>
          </a:xfrm>
          <a:prstGeom prst="roundRect">
            <a:avLst>
              <a:gd name="adj" fmla="val 909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8411" y="3447288"/>
            <a:ext cx="254602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Critical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2777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97316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Uptime (%)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61482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alibri"/>
              </a:rPr>
              <a:t>98.5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97316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97316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Below SLA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15906" y="3236976"/>
            <a:ext cx="1454871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15906" y="3447288"/>
            <a:ext cx="1454871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Degraded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370777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370777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Healthy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170630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1931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87991" y="571500"/>
            <a:ext cx="1746504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Code + Annotations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6471742" cy="4114800"/>
          </a:xfrm>
          <a:prstGeom prst="roundRect">
            <a:avLst>
              <a:gd name="adj" fmla="val 888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98448"/>
            <a:ext cx="6471742" cy="27432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5216" y="1353312"/>
            <a:ext cx="914400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353312"/>
            <a:ext cx="9144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70078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0078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import pptx_components as 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0195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90195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10312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10312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 = pc.SlideBuilder(prs)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30428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builder.add(pc.SectionHeader("My Slide", badge_text="v1.0"))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50545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50545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builder.skip(0.2)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270662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70662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builder.add_row(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290779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90779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pc.MetricCard("Revenue", "$1.2M", "+12%", True),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310896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10896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pc.MetricCard("Churn",   "3.1%",  "+0.2pp", False),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31012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331012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h=1.5,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351129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351129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371246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371246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builder.add(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" y="391363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391363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pc.BarChart(months, data, title="Monthly Trend"),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" y="411480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11480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h=2.8,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31596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431596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11822" y="129844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16200000">
            <a:off x="7111822" y="1563623"/>
            <a:ext cx="128016" cy="128016"/>
          </a:xfrm>
          <a:prstGeom prst="triangle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4702" y="148132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Use SlideBuilder to compose slides with rows, columns, and grids.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11822" y="2139696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6200000">
            <a:off x="7111822" y="2404872"/>
            <a:ext cx="128016" cy="128016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4702" y="2322576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add_row() automatically distributes width equally.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11822" y="2980944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 rot="16200000">
            <a:off x="7111822" y="3246120"/>
            <a:ext cx="128016" cy="128016"/>
          </a:xfrm>
          <a:prstGeom prst="triangl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94702" y="3163824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40AF"/>
                </a:solidFill>
                <a:latin typeface="Calibri"/>
              </a:rPr>
              <a:t>set h= to control the rendered height of each component.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11822" y="3822191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6200000">
            <a:off x="7111822" y="4087368"/>
            <a:ext cx="128016" cy="128016"/>
          </a:xfrm>
          <a:prstGeom prst="triangl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94702" y="4005072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2400E"/>
                </a:solidFill>
                <a:latin typeface="Calibri"/>
              </a:rPr>
              <a:t>Mismatched weights cause rendering issues — validate inputs.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753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Revenue Bridge — H1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4023" y="571500"/>
            <a:ext cx="1490472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WaterfallChart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Revenue Contribution by Category ($K)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77155"/>
            <a:ext cx="11277295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674957"/>
            <a:ext cx="1564015" cy="2006770"/>
          </a:xfrm>
          <a:prstGeom prst="roundRect">
            <a:avLst>
              <a:gd name="adj" fmla="val 1169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55501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6079" y="2193332"/>
            <a:ext cx="1564015" cy="481624"/>
          </a:xfrm>
          <a:prstGeom prst="roundRect">
            <a:avLst>
              <a:gd name="adj" fmla="val 3796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21215" y="2670385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76079" y="197387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+120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60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New Logos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94959" y="1852181"/>
            <a:ext cx="1564015" cy="341150"/>
          </a:xfrm>
          <a:prstGeom prst="roundRect">
            <a:avLst>
              <a:gd name="adj" fmla="val 536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40095" y="2188760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959" y="222076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95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Upsell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13839" y="1691640"/>
            <a:ext cx="1564015" cy="160541"/>
          </a:xfrm>
          <a:prstGeom prst="roundRect">
            <a:avLst>
              <a:gd name="adj" fmla="val 11391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58975" y="1847609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3839" y="1879613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383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Expansion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32719" y="1691640"/>
            <a:ext cx="1564015" cy="240812"/>
          </a:xfrm>
          <a:prstGeom prst="roundRect">
            <a:avLst>
              <a:gd name="adj" fmla="val 7593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77855" y="1687068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2719" y="195988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DC2626"/>
                </a:solidFill>
                <a:latin typeface="Calibri"/>
              </a:rPr>
              <a:t>-60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271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Churn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51599" y="1932452"/>
            <a:ext cx="1564015" cy="140473"/>
          </a:xfrm>
          <a:prstGeom prst="roundRect">
            <a:avLst>
              <a:gd name="adj" fmla="val 13017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96735" y="1927880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51599" y="171299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DC2626"/>
                </a:solidFill>
                <a:latin typeface="Calibri"/>
              </a:rPr>
              <a:t>-35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159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Discounts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0479" y="2072926"/>
            <a:ext cx="1564015" cy="2608801"/>
          </a:xfrm>
          <a:prstGeom prst="roundRect">
            <a:avLst>
              <a:gd name="adj" fmla="val 1169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70479" y="1853470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  <a:latin typeface="Calibri"/>
              </a:rPr>
              <a:t>650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704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Net Revenue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