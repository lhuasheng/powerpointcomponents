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93C5FD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33415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E40AF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2400E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6653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91B1B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334155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2400E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91B1B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1133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80015" y="57150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Heatmap +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Feature Adoption Score by Platform &amp; Quarter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0903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6631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5C8A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9191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A7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0903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055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86A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4919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7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6631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Web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A2BC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9191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B4C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30903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7055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78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4919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98B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414015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81328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7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49191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E6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0903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7055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07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8767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4919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6631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706623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1328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D5E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9191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0903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55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17055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ABC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4919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CBD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6631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Latency (ms)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21365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210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66494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6494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75789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75789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Critical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1924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77258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Error Rate (%)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1424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2.1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77258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7258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OK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40976" y="3236976"/>
            <a:ext cx="727435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40976" y="3447288"/>
            <a:ext cx="72743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Warn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68411" y="3236976"/>
            <a:ext cx="2546024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8411" y="3447288"/>
            <a:ext cx="254602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Critical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2777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7316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Uptime 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1482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98.5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7316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7316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Below SLA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15906" y="3236976"/>
            <a:ext cx="1454871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5906" y="3447288"/>
            <a:ext cx="1454871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Degraded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370777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70777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Healthy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70630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1931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87991" y="571500"/>
            <a:ext cx="1746504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Code + Annotations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6471742" cy="4297680"/>
          </a:xfrm>
          <a:prstGeom prst="roundRect">
            <a:avLst>
              <a:gd name="adj" fmla="val 851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6471742" cy="27432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353312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5331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0078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0078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import pptx_components as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0195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10312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 = pc.SlideBuilder(prs)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builder.add(pc.SectionHeader("My Slide", badge_text="v1.0"))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50545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50545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builder.skip(0.2)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70662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70662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builder.add_row(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90779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90779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pc.MetricCard("Revenue", "$1.2M", "+12%", True),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10896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pc.MetricCard("Churn",   "3.1%",  "+0.2pp", False),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31012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31012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h=1.5,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51129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51129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71246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1246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builder.add(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391363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91363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pc.BarChart(months, data, title="Monthly Trend"),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411480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11480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h=2.8,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31596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31596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11822" y="129844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6200000">
            <a:off x="7111822" y="1563623"/>
            <a:ext cx="128016" cy="128016"/>
          </a:xfrm>
          <a:prstGeom prst="triangle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4702" y="148132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Use SlideBuilder to compose slides with rows, columns, and grids.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1822" y="248716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7111822" y="2752344"/>
            <a:ext cx="128016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4702" y="267004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add_row() automatically distributes width equally.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11822" y="367588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 rot="16200000">
            <a:off x="7111822" y="3941063"/>
            <a:ext cx="128016" cy="128016"/>
          </a:xfrm>
          <a:prstGeom prst="triangl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4702" y="385876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40AF"/>
                </a:solidFill>
                <a:latin typeface="Calibri"/>
              </a:rPr>
              <a:t>set h= to control the rendered height of each component.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1822" y="486460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6200000">
            <a:off x="7111822" y="5129783"/>
            <a:ext cx="128016" cy="128016"/>
          </a:xfrm>
          <a:prstGeom prst="triangl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4702" y="504748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2400E"/>
                </a:solidFill>
                <a:latin typeface="Calibri"/>
              </a:rPr>
              <a:t>Mismatched weights cause rendering issues — validate inputs.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Bridge — H1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WaterfallChart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Revenue Contribution by Category ($K)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77155"/>
            <a:ext cx="11277295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674957"/>
            <a:ext cx="1564015" cy="2006770"/>
          </a:xfrm>
          <a:prstGeom prst="roundRect">
            <a:avLst>
              <a:gd name="adj" fmla="val 1169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55501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079" y="2193332"/>
            <a:ext cx="1564015" cy="481624"/>
          </a:xfrm>
          <a:prstGeom prst="roundRect">
            <a:avLst>
              <a:gd name="adj" fmla="val 3796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1215" y="2670385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6079" y="197387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60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New Logos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959" y="1852181"/>
            <a:ext cx="1564015" cy="341150"/>
          </a:xfrm>
          <a:prstGeom prst="roundRect">
            <a:avLst>
              <a:gd name="adj" fmla="val 536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0095" y="2188760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959" y="222076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95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Upsell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3839" y="1691640"/>
            <a:ext cx="1564015" cy="160541"/>
          </a:xfrm>
          <a:prstGeom prst="roundRect">
            <a:avLst>
              <a:gd name="adj" fmla="val 11391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8975" y="1847609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3839" y="1879613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383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Expansion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2719" y="1691640"/>
            <a:ext cx="1564015" cy="240812"/>
          </a:xfrm>
          <a:prstGeom prst="roundRect">
            <a:avLst>
              <a:gd name="adj" fmla="val 7593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7855" y="1687068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2719" y="195988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-60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271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1599" y="1932452"/>
            <a:ext cx="1564015" cy="140473"/>
          </a:xfrm>
          <a:prstGeom prst="roundRect">
            <a:avLst>
              <a:gd name="adj" fmla="val 13017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96735" y="1927880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1599" y="171299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-35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159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0479" y="2072926"/>
            <a:ext cx="1564015" cy="2608801"/>
          </a:xfrm>
          <a:prstGeom prst="roundRect">
            <a:avLst>
              <a:gd name="adj" fmla="val 1169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0479" y="1853470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  <a:latin typeface="Calibri"/>
              </a:rPr>
              <a:t>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04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Net Revenue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912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Additional React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59975" y="571500"/>
            <a:ext cx="18745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Accordion +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Accordion (FAQ Pattern / MUI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19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19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How do we scale headcount?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455" y="1645919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20823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12263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Hiring plan targets 40% growth in engineering and product through Q4 2026. Focus on mid/senior IC roles and two new manager positions.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16351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What's our go-to-market strategy?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14455" y="2816351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55263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55263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How do we reduce churn?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14455" y="3255263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FeatureGrid (Product Showcase Pattern)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9589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9589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Real-time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Data synchronizes across all endpoints instantly.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2018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04407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04407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4898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Enterprise 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4898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SOC 2 Type II certified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6836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09226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9226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9716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Rich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9716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Comprehensive dashboards and custom reporting.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99589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99589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Global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Multi-region deployment with 99.99% SLA.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62018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04407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04407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4898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API-First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4898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Full REST + GraphQL coverage for integrations.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66836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09226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09226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9716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24/7 Support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9716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Dedicated account team for enterprise clients.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6736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Advanced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6047" y="571500"/>
            <a:ext cx="1298448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ScatterPlot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Algorithm Performance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160520"/>
            <a:ext cx="10362895" cy="274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64592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88003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228600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451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56616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60175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420624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Best
(Simple &amp; Accurate)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High Effort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Avoid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Feasible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1228" y="3026664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1540" y="301752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Low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35160" y="2066544"/>
            <a:ext cx="182880" cy="182880"/>
          </a:xfrm>
          <a:prstGeom prst="roundRect">
            <a:avLst>
              <a:gd name="adj" fmla="val 37500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3760" y="206654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Best performer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6297" y="3250692"/>
            <a:ext cx="155448" cy="155448"/>
          </a:xfrm>
          <a:prstGeom prst="roundRect">
            <a:avLst>
              <a:gd name="adj" fmla="val 44117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7465" y="32369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Mid-range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965" y="2514600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FF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9277" y="250545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High complexity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6209" y="3767328"/>
            <a:ext cx="146304" cy="146304"/>
          </a:xfrm>
          <a:prstGeom prst="roundRect">
            <a:avLst>
              <a:gd name="adj" fmla="val 46875"/>
            </a:avLst>
          </a:prstGeom>
          <a:solidFill>
            <a:srgbClr val="96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8233" y="37490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251959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Implementation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645920"/>
            <a:ext cx="32004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Accuracy (%)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Hierarchical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GroupedTable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0F172A"/>
                </a:solidFill>
                <a:latin typeface="Calibri"/>
              </a:rPr>
              <a:t>Revenue by Region &amp; Country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759098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366765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16298" y="1600200"/>
            <a:ext cx="2819323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2018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5622" y="1600200"/>
            <a:ext cx="2819323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1342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2026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54946" y="1600200"/>
            <a:ext cx="1879549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0666" y="1618488"/>
            <a:ext cx="178810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YoY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92807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911095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NORTH AMERICA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892807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2018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$580M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35622" y="1892807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1342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$715M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54946" y="1892807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0666" y="1911095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+23%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39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67127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USA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16298" y="2148839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2018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$500M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5622" y="2148839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1342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$620M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54946" y="2148839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0666" y="2167127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+24%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04872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231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Canada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16298" y="2404872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2018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$80M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35622" y="2404872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1342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$95M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54946" y="2404872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00666" y="24231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+19%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660904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67919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SubtotalNA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6298" y="266090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2018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$580M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35622" y="266090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1342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$715M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54946" y="2660904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00666" y="267919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+23%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008376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0266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6298" y="3008376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2018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$350M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35622" y="3008376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1342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$425M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54946" y="3008376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00666" y="30266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264408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32826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UK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16298" y="32644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2018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$200M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35622" y="32644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81342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$245M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54946" y="3264408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0666" y="32826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+22%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0440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5387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France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16298" y="3520440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62018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$150M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35622" y="3520440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1342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$180M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54946" y="3520440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00666" y="35387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76472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7947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SubtotalEMEA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16298" y="3776472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2018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$350M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35622" y="3776472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81342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$425M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54946" y="3776472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00666" y="37947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+21%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23944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414223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16298" y="412394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2018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$220M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35622" y="412394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1342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$285M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854946" y="4123944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00666" y="414223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+30%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379976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982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India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16298" y="4379976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62018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$120M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35622" y="4379976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81342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$165M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54946" y="4379976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00666" y="43982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+38%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4636008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2920" y="46542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Australia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16298" y="46360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62018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$100M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35622" y="46360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81342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$120M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54946" y="4636008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00666" y="46542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+20%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4892040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49103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SubtotalAPAC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16298" y="4892040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62018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$220M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35622" y="4892040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81342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$285M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854946" y="4892040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00666" y="49103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+30%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Animation &amp; Transitions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277295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Welcome!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33372"/>
            <a:ext cx="11277295" cy="1325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This title fades in (static → see rendered output)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4572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92%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+5pp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7258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7258" y="2331720"/>
            <a:ext cx="4572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858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858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5858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2331720"/>
            <a:ext cx="4572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5916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72%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840479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840479"/>
            <a:ext cx="4572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23359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Calibri"/>
              </a:rPr>
              <a:t>Note: python-pptx does not natively support embedded slide animations. Animation effects render at their end state in static PowerPoint. For true animations, export slides to PNG via render_frame() or use PowerPoint GUI.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