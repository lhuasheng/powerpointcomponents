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93C5FD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334155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0F172A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93C5FD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5F9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F1F5F9"/>
            </a:solidFill>
          </a:ln>
        </c:spPr>
        <c:txPr>
          <a:bodyPr/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2563EB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334155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0F172A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2563EB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16A34A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E40AF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2400E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16653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991B1B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334155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563EB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2400E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991B1B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16653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0F172A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64748B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2563EB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1133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80015" y="571500"/>
            <a:ext cx="155448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Heatmap +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 Adoption Score by Platform &amp; Quarter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0903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6631" y="1600200"/>
            <a:ext cx="256786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334155"/>
                </a:solidFill>
                <a:latin typeface="Calibri"/>
              </a:rPr>
              <a:t>Q4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Mobile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81328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5C8A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49191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A7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30903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7055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86A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4919" y="1847088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66631" y="1828800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Web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81328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2BC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49191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B4C9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30903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17055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789E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81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4919" y="2139696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98B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6631" y="2121408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414015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81328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377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49191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E6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0903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17055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407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98767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4919" y="2432303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66631" y="2414015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706623"/>
            <a:ext cx="10058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Reports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81328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D5E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63040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49191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30903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55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17055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ABC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70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4919" y="2724911"/>
            <a:ext cx="2531287" cy="256032"/>
          </a:xfrm>
          <a:prstGeom prst="roundRect">
            <a:avLst>
              <a:gd name="adj" fmla="val 7142"/>
            </a:avLst>
          </a:prstGeom>
          <a:solidFill>
            <a:srgbClr val="CBD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6631" y="2706623"/>
            <a:ext cx="2567863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63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API Latency (ms)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21365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210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66494" y="3236976"/>
            <a:ext cx="909294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66494" y="3447288"/>
            <a:ext cx="90929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275789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75789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11924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77258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Error Rate (%)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1424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2.1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77258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7258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OK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640976" y="3236976"/>
            <a:ext cx="727435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640976" y="3447288"/>
            <a:ext cx="727435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Warn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368411" y="3236976"/>
            <a:ext cx="2546024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68411" y="3447288"/>
            <a:ext cx="2546024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Critical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2777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97316" y="2999232"/>
            <a:ext cx="236416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Uptime (%)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61482" y="2999232"/>
            <a:ext cx="12730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F172A"/>
                </a:solidFill>
                <a:latin typeface="Calibri"/>
              </a:rPr>
              <a:t>98.5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97316" y="3236976"/>
            <a:ext cx="1818589" cy="201168"/>
          </a:xfrm>
          <a:prstGeom prst="roundRect">
            <a:avLst>
              <a:gd name="adj" fmla="val 909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97316" y="3447288"/>
            <a:ext cx="1818589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Below SLA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15906" y="3236976"/>
            <a:ext cx="1454871" cy="201168"/>
          </a:xfrm>
          <a:prstGeom prst="roundRect">
            <a:avLst>
              <a:gd name="adj" fmla="val 909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15906" y="3447288"/>
            <a:ext cx="1454871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Degraded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370777" y="3236976"/>
            <a:ext cx="363717" cy="201168"/>
          </a:xfrm>
          <a:prstGeom prst="roundRect">
            <a:avLst>
              <a:gd name="adj" fmla="val 909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370777" y="3447288"/>
            <a:ext cx="363717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Healthy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170630" y="3145536"/>
            <a:ext cx="36576" cy="384048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19311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3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87991" y="571500"/>
            <a:ext cx="1746504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Code + Annotations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6471742" cy="4297680"/>
          </a:xfrm>
          <a:prstGeom prst="roundRect">
            <a:avLst>
              <a:gd name="adj" fmla="val 851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6471742" cy="27432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85216" y="1353312"/>
            <a:ext cx="914400" cy="16459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353312"/>
            <a:ext cx="9144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onsolas"/>
              </a:rP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70078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70078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import pptx_components as pc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0195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90195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10312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10312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 = pc.SlideBuilder(prs)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30428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230428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builder.add(pc.SectionHeader("My Slide", badge_text="v1.0"))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50545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250545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builder.skip(0.2)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270662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70662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builder.add_row(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" y="290779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290779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pc.MetricCard("Revenue", "$1.2M", "+12%", True),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" y="310896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10896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pc.MetricCard("Churn",   "3.1%",  "+0.2pp", False),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31012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331012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h=1.5,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3511296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511296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" y="3712464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12464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builder.add(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" y="3913632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3913632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pc.BarChart(months, data, title="Monthly Trend"),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" y="4114800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4114800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    h=2.8,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315968"/>
            <a:ext cx="27432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4748B"/>
                </a:solidFill>
                <a:latin typeface="Consolas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4315968"/>
            <a:ext cx="5868238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onsolas"/>
              </a:rPr>
              <a:t>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11822" y="129844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16200000">
            <a:off x="7111822" y="1563623"/>
            <a:ext cx="128016" cy="128016"/>
          </a:xfrm>
          <a:prstGeom prst="triangle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94702" y="148132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Use SlideBuilder to compose slides with rows, columns, and grids.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1822" y="2487168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7111822" y="2752344"/>
            <a:ext cx="128016" cy="128016"/>
          </a:xfrm>
          <a:prstGeom prst="triangl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94702" y="267004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add_row() automatically distributes width equally.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11822" y="367588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 rot="16200000">
            <a:off x="7111822" y="3941063"/>
            <a:ext cx="128016" cy="128016"/>
          </a:xfrm>
          <a:prstGeom prst="triangle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94702" y="385876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40AF"/>
                </a:solidFill>
                <a:latin typeface="Calibri"/>
              </a:rPr>
              <a:t>set h= to control the rendered height of each component.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11822" y="4864607"/>
            <a:ext cx="4622673" cy="658368"/>
          </a:xfrm>
          <a:prstGeom prst="roundRect">
            <a:avLst>
              <a:gd name="adj" fmla="val 6944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6200000">
            <a:off x="7111822" y="5129783"/>
            <a:ext cx="128016" cy="128016"/>
          </a:xfrm>
          <a:prstGeom prst="triangl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94702" y="5047488"/>
            <a:ext cx="4256913" cy="2926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2400E"/>
                </a:solidFill>
                <a:latin typeface="Calibri"/>
              </a:rPr>
              <a:t>Mismatched weights cause rendering issues — validate inputs.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37534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Revenue Bridge — H1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44023" y="571500"/>
            <a:ext cx="1490472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WaterfallChart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Revenue Contribution by Category ($K)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677155"/>
            <a:ext cx="11277295" cy="914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674957"/>
            <a:ext cx="1564015" cy="2006770"/>
          </a:xfrm>
          <a:prstGeom prst="roundRect">
            <a:avLst>
              <a:gd name="adj" fmla="val 1169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455501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079" y="2193332"/>
            <a:ext cx="1564015" cy="481624"/>
          </a:xfrm>
          <a:prstGeom prst="roundRect">
            <a:avLst>
              <a:gd name="adj" fmla="val 3796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21215" y="2670385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76079" y="197387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+120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760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New Logos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94959" y="1852181"/>
            <a:ext cx="1564015" cy="341150"/>
          </a:xfrm>
          <a:prstGeom prst="roundRect">
            <a:avLst>
              <a:gd name="adj" fmla="val 536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0095" y="218876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94959" y="222076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95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Upsell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3839" y="1691640"/>
            <a:ext cx="1564015" cy="160541"/>
          </a:xfrm>
          <a:prstGeom prst="roundRect">
            <a:avLst>
              <a:gd name="adj" fmla="val 11391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58975" y="1847609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13839" y="1879613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Calibri"/>
              </a:rPr>
              <a:t>+40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383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Expansion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32719" y="1691640"/>
            <a:ext cx="1564015" cy="240812"/>
          </a:xfrm>
          <a:prstGeom prst="roundRect">
            <a:avLst>
              <a:gd name="adj" fmla="val 7593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7855" y="1687068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2719" y="1959884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-60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271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Churn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51599" y="1932452"/>
            <a:ext cx="1564015" cy="140473"/>
          </a:xfrm>
          <a:prstGeom prst="roundRect">
            <a:avLst>
              <a:gd name="adj" fmla="val 13017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96735" y="1927880"/>
            <a:ext cx="54864" cy="914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51599" y="1712996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DC2626"/>
                </a:solidFill>
                <a:latin typeface="Calibri"/>
              </a:rPr>
              <a:t>-35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159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Discounts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70479" y="2072926"/>
            <a:ext cx="1564015" cy="2608801"/>
          </a:xfrm>
          <a:prstGeom prst="roundRect">
            <a:avLst>
              <a:gd name="adj" fmla="val 1169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70479" y="1853470"/>
            <a:ext cx="1564015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2563EB"/>
                </a:solidFill>
                <a:latin typeface="Calibri"/>
              </a:rPr>
              <a:t>650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70479" y="4736591"/>
            <a:ext cx="15640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Net Revenue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912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Additional React Patterns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59975" y="571500"/>
            <a:ext cx="18745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Accordion +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Accordion (FAQ Pattern / MUI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19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19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How do we scale headcount?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14455" y="1645919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20823"/>
            <a:ext cx="11185855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12263"/>
            <a:ext cx="10820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Hiring plan targets 40% growth in engineering and product through Q4 2026. Focus on mid/senior IC roles and two new manager positions.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16351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1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What's our go-to-market strategy?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14455" y="2816351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55263"/>
            <a:ext cx="11277295" cy="347472"/>
          </a:xfrm>
          <a:prstGeom prst="roundRect">
            <a:avLst>
              <a:gd name="adj" fmla="val 10526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55263"/>
            <a:ext cx="107743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How do we reduce churn?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14455" y="3255263"/>
            <a:ext cx="137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576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FeatureGrid (Product Showcase Pattern)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99589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9589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Real-time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Data synchronizes across all endpoints instantly.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2018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004407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04407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Enterprise Security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4898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SOC 2 Type II certified infrastructure.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6836" y="397763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809226" y="416052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09226" y="417880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9716" y="452628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Rich Analytics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9716" y="4846320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Comprehensive dashboards and custom reporting.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199589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199589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Global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Multi-region deployment with 99.99% SLA.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62018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004407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04407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44898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API-First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4898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Full REST + GraphQL coverage for integrations.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66836" y="4983479"/>
            <a:ext cx="3667658" cy="868680"/>
          </a:xfrm>
          <a:prstGeom prst="roundRect">
            <a:avLst>
              <a:gd name="adj" fmla="val 5263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09226" y="5166359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09226" y="5184647"/>
            <a:ext cx="18288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49716" y="5532120"/>
            <a:ext cx="33018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0F172A"/>
                </a:solidFill>
                <a:latin typeface="Calibri"/>
              </a:rPr>
              <a:t>24/7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49716" y="5852159"/>
            <a:ext cx="3301898" cy="-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334155"/>
                </a:solidFill>
                <a:latin typeface="Calibri"/>
              </a:rPr>
              <a:t>Dedicated account team for enterprise clients.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6736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Advanced Charts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6047" y="571500"/>
            <a:ext cx="1298448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ScatterPlot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800" b="1" i="0">
                <a:solidFill>
                  <a:srgbClr val="0F172A"/>
                </a:solidFill>
                <a:latin typeface="Calibri"/>
              </a:rPr>
              <a:t>Algorithm Performance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160520"/>
            <a:ext cx="10362895" cy="274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1645920"/>
            <a:ext cx="27432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0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97280" y="164592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88003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" y="228600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92608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69451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356616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60175" y="1645920"/>
            <a:ext cx="18288" cy="25603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" y="4206240"/>
            <a:ext cx="10362895" cy="182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Best
(Simple &amp; Accurate)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164592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High Effort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Avoid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727" y="2926080"/>
            <a:ext cx="5181447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Feasible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1228" y="3026664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51540" y="301752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Low cost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35160" y="2066544"/>
            <a:ext cx="182880" cy="182880"/>
          </a:xfrm>
          <a:prstGeom prst="roundRect">
            <a:avLst>
              <a:gd name="adj" fmla="val 37500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3760" y="2066544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Best performer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6297" y="3250692"/>
            <a:ext cx="155448" cy="155448"/>
          </a:xfrm>
          <a:prstGeom prst="roundRect">
            <a:avLst>
              <a:gd name="adj" fmla="val 44117"/>
            </a:avLst>
          </a:prstGeom>
          <a:solidFill>
            <a:srgbClr val="64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77465" y="323697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Mid-range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58965" y="2514600"/>
            <a:ext cx="164592" cy="164592"/>
          </a:xfrm>
          <a:prstGeom prst="roundRect">
            <a:avLst>
              <a:gd name="adj" fmla="val 41666"/>
            </a:avLst>
          </a:prstGeom>
          <a:solidFill>
            <a:srgbClr val="FF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9277" y="2505456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High complexity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66209" y="3767328"/>
            <a:ext cx="146304" cy="146304"/>
          </a:xfrm>
          <a:prstGeom prst="roundRect">
            <a:avLst>
              <a:gd name="adj" fmla="val 46875"/>
            </a:avLst>
          </a:prstGeom>
          <a:solidFill>
            <a:srgbClr val="96FF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58233" y="374904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Calibri"/>
              </a:rPr>
              <a:t>Simple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4251959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Implementation Complexity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645920"/>
            <a:ext cx="32004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Accuracy (%)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Hierarchical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GroupedTable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i="0">
                <a:solidFill>
                  <a:srgbClr val="0F172A"/>
                </a:solidFill>
                <a:latin typeface="Calibri"/>
              </a:rPr>
              <a:t>Revenue by Region &amp; Country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759098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366765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16298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2018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2025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35622" y="1600200"/>
            <a:ext cx="2819323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1342" y="1618488"/>
            <a:ext cx="27278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2026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54946" y="1600200"/>
            <a:ext cx="1879549" cy="2926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0666" y="1618488"/>
            <a:ext cx="1788109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YoY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92807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911095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NORTH AMERICA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16298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62018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$580M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35622" y="1892807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1342" y="1911095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$715M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54946" y="1892807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00666" y="1911095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+23%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148839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67127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USA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16298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62018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$500M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35622" y="2148839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1342" y="2167127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$620M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54946" y="2148839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00666" y="2167127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04872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4231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Canada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16298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62018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$80M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35622" y="2404872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1342" y="24231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$95M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54946" y="2404872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00666" y="24231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+19%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66090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67919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16298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62018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$580M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35622" y="266090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081342" y="267919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$715M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854946" y="266090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00666" y="267919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+23%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008376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0266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EMEA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16298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62018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$350M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35622" y="3008376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1342" y="30266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$425M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54946" y="3008376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00666" y="30266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+21%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2644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32826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UK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16298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2018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$200M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035622" y="32644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81342" y="32826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$245M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54946" y="32644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00666" y="32826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0440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35387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France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16298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62018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$150M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35622" y="3520440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081342" y="35387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$180M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854946" y="3520440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00666" y="35387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3776472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3794760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SubtotalEMEA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16298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62018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$350M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035622" y="3776472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081342" y="3794760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$425M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854946" y="3776472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00666" y="3794760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+21%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4123944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02920" y="4142232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APAC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16298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262018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$220M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35622" y="4123944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81342" y="4142232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$285M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54946" y="4123944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00666" y="4142232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+30%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7200" y="4379976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98264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India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216298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62018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35622" y="4379976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81342" y="4398264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$165M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854946" y="4379976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00666" y="4398264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+38%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7200" y="4636008"/>
            <a:ext cx="3759098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02920" y="4654296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    Australia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16298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62018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$100M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035622" y="4636008"/>
            <a:ext cx="2819323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081342" y="4654296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$120M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854946" y="4636008"/>
            <a:ext cx="1879549" cy="2560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00666" y="4654296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0F172A"/>
                </a:solidFill>
                <a:latin typeface="Calibri"/>
              </a:rPr>
              <a:t>+20%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57200" y="4892040"/>
            <a:ext cx="3759098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02920" y="4910328"/>
            <a:ext cx="366765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SubtotalAPAC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216298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262018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$220M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035622" y="4892040"/>
            <a:ext cx="2819323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81342" y="4910328"/>
            <a:ext cx="2727883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$285M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854946" y="4892040"/>
            <a:ext cx="1879549" cy="256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900666" y="4910328"/>
            <a:ext cx="1788109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4748B"/>
                </a:solidFill>
                <a:latin typeface="Calibri"/>
              </a:rPr>
              <a:t>+30%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4: Animation &amp; Transitions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77295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11277295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0F172A"/>
                </a:solidFill>
                <a:latin typeface="Calibri Light"/>
              </a:rPr>
              <a:t>Welcome!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33372"/>
            <a:ext cx="11277295" cy="1325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334155"/>
                </a:solidFill>
                <a:latin typeface="Calibri Light"/>
              </a:rPr>
              <a:t>This title fades in (static → see rendered output)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92%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+5pp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7258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7258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5858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5858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2331720"/>
            <a:ext cx="3637178" cy="1097280"/>
          </a:xfrm>
          <a:prstGeom prst="roundRect">
            <a:avLst>
              <a:gd name="adj" fmla="val 4166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2331720"/>
            <a:ext cx="45720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5916" y="2514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ADOPTION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916" y="27432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72%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5916" y="31546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+12%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840479"/>
            <a:ext cx="11277295" cy="91440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840479"/>
            <a:ext cx="45720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23359"/>
            <a:ext cx="10957255" cy="5486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Note: python-pptx does not natively support embedded slide animations. Animation effects render at their end state in static PowerPoint. For true animations, export slides to PNG via render_frame() or use PowerPoint GUI.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Phase 5: Long-form Storytelling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Narrative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11277295" cy="4480560"/>
          </a:xfrm>
          <a:prstGeom prst="roundRect">
            <a:avLst>
              <a:gd name="adj" fmla="val 102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1481328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1/1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Structured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1367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Narrative in one slide with decision support 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93975"/>
            <a:ext cx="7485680" cy="3502152"/>
          </a:xfrm>
          <a:prstGeom prst="roundRect">
            <a:avLst>
              <a:gd name="adj" fmla="val 78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203703"/>
            <a:ext cx="7229648" cy="32826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performance stabilized after concentration risk mitigation and onboarding process redesign. Margin expansion creates room for selective reinvestment, but service quality and migration complexity still require focused execution through Q3.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4048" y="2093975"/>
            <a:ext cx="3242974" cy="350215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3776" y="2185415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Decision Lens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3776" y="2404871"/>
            <a:ext cx="3023518" cy="23114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Protect margin gains
- Reduce support load
- Prioritize retention levers
- Tighten ownership by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3776" y="4956048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Next review: validate churn trend by segment.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Q2 opened with concentrated enterprise exposure: two strategic accounts represented 28% of net new ARR and introduced procurement timing risk. The commercial team reduced dependency by improving mid-market coverage, tightening qualification standards, and rebalancing outbound sequences toward faster-velocity segments.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Execution improved in the operating model. Onboarding cycle time dropped 19% after workflow simplification and proactive implementation playbooks. At the same time, migration volume increased support load, highlighting where product instrumentation and self-service diagnostics were still too shallow.
(continued on next slide)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457200"/>
            <a:ext cx="11277295" cy="5943600"/>
          </a:xfrm>
          <a:prstGeom prst="roundRect">
            <a:avLst>
              <a:gd name="adj" fmla="val 769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37215" y="640080"/>
            <a:ext cx="914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Page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99713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F172A"/>
                </a:solidFill>
                <a:latin typeface="Calibri Light"/>
              </a:rPr>
              <a:t>Executive Narrative - Auto Paginated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19"/>
            <a:ext cx="1091153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Long text automatically split into multiple slides.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52728"/>
            <a:ext cx="7485680" cy="4965192"/>
          </a:xfrm>
          <a:prstGeom prst="roundRect">
            <a:avLst>
              <a:gd name="adj" fmla="val 55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362455"/>
            <a:ext cx="7229648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34155"/>
                </a:solidFill>
                <a:latin typeface="Calibri"/>
              </a:rPr>
              <a:t>Financially, gross margin improved by 2.3 points due to infrastructure right-sizing and contract renegotiation in third-party services. This gain is expected to partially normalize in Q3 while regional failover hardening and observability upgrades are in flight.
The second-half plan focuses on durable retention drivers, expansion motion enablement, and service-quality stabilization. Decision velocity and cross-functional accountability are now the central execution constraints, not strategy clarity.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4048" y="1252728"/>
            <a:ext cx="3242974" cy="4965192"/>
          </a:xfrm>
          <a:prstGeom prst="roundRect">
            <a:avLst>
              <a:gd name="adj" fmla="val 844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3776" y="1344168"/>
            <a:ext cx="302351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F172A"/>
                </a:solidFill>
                <a:latin typeface="Calibri"/>
              </a:rPr>
              <a:t>Steering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3776" y="1563624"/>
            <a:ext cx="3023518" cy="3277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- Watch enterprise concentration
- Keep onboarding gains sticky
- Fund observability upgrades
- Track p95 latency weekly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3776" y="5577840"/>
            <a:ext cx="302351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Calibri"/>
              </a:rPr>
              <a:t>Auto-generated narrative section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18331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Calibri Light"/>
              </a:rPr>
              <a:t>Theme Cascade QA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1999" y="571500"/>
            <a:ext cx="1682496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Section Overrides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FFF7EA"/>
          </a:solidFill>
          <a:ln w="12700">
            <a:solidFill>
              <a:srgbClr val="C697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463039"/>
            <a:ext cx="45720" cy="146304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4A2C16"/>
                </a:solidFill>
                <a:latin typeface="Calibri"/>
              </a:rPr>
              <a:t>Local theme patch: editorial warm palette.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F4828"/>
                </a:solidFill>
                <a:latin typeface="Calibri"/>
              </a:rPr>
              <a:t>Warm Section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FFF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3035808"/>
            <a:ext cx="45720" cy="1371600"/>
          </a:xfrm>
          <a:prstGeom prst="rect">
            <a:avLst/>
          </a:prstGeom>
          <a:solidFill>
            <a:srgbClr val="C16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RETENTION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4A2C16"/>
                </a:solidFill>
                <a:latin typeface="Calibri Light"/>
              </a:rPr>
              <a:t>94%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+2pp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298448"/>
            <a:ext cx="5547207" cy="3474720"/>
          </a:xfrm>
          <a:prstGeom prst="roundRect">
            <a:avLst>
              <a:gd name="adj" fmla="val 1315"/>
            </a:avLst>
          </a:prstGeom>
          <a:solidFill>
            <a:srgbClr val="E8F5FF"/>
          </a:solidFill>
          <a:ln w="12700">
            <a:solidFill>
              <a:srgbClr val="739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51879" y="1463039"/>
            <a:ext cx="5218023" cy="1463040"/>
          </a:xfrm>
          <a:prstGeom prst="roundRect">
            <a:avLst>
              <a:gd name="adj" fmla="val 3125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1879" y="1463039"/>
            <a:ext cx="45720" cy="146304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0479" y="1645919"/>
            <a:ext cx="489798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22B4C"/>
                </a:solidFill>
                <a:latin typeface="Calibri"/>
              </a:rPr>
              <a:t>Local theme patch: corporate blue palette.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0479" y="2084831"/>
            <a:ext cx="4897983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2F4D74"/>
                </a:solidFill>
                <a:latin typeface="Calibri"/>
              </a:rPr>
              <a:t>Cool Section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1879" y="3035808"/>
            <a:ext cx="5218023" cy="1371600"/>
          </a:xfrm>
          <a:prstGeom prst="roundRect">
            <a:avLst>
              <a:gd name="adj" fmla="val 3333"/>
            </a:avLst>
          </a:prstGeom>
          <a:solidFill>
            <a:srgbClr val="E8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1879" y="3035808"/>
            <a:ext cx="45720" cy="1371600"/>
          </a:xfrm>
          <a:prstGeom prst="rect">
            <a:avLst/>
          </a:prstGeom>
          <a:solidFill>
            <a:srgbClr val="1A63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0479" y="321868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UPTIME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0479" y="3447288"/>
            <a:ext cx="480654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122B4C"/>
                </a:solidFill>
                <a:latin typeface="Calibri Light"/>
              </a:rPr>
              <a:t>99.97%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0479" y="3858768"/>
            <a:ext cx="480654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6A34A"/>
                </a:solidFill>
                <a:latin typeface="Calibri"/>
              </a:rPr>
              <a:t>▲ +0.04pp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138928"/>
            <a:ext cx="11277295" cy="960120"/>
          </a:xfrm>
          <a:prstGeom prst="roundRect">
            <a:avLst>
              <a:gd name="adj" fmla="val 4761"/>
            </a:avLst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138928"/>
            <a:ext cx="4572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321808"/>
            <a:ext cx="10957255" cy="5943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4748B"/>
                </a:solidFill>
                <a:latin typeface="Calibri"/>
              </a:rPr>
              <a:t>Both cards inherit the slide theme, then apply container-scoped token patches. Use this slide to check contrast, spacing, and callout consistency across local overrides.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