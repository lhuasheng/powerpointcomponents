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>
                <a:solidFill>
                  <a:srgbClr val="0F172A"/>
                </a:solidFill>
                <a:latin typeface="Calibri"/>
              </a:rPr>
              <a:t>Monthly Revenue vs Target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2563EB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</c:v>
                </c:pt>
                <c:pt idx="1">
                  <c:v>380</c:v>
                </c:pt>
                <c:pt idx="2">
                  <c:v>410</c:v>
                </c:pt>
                <c:pt idx="3">
                  <c:v>470</c:v>
                </c:pt>
                <c:pt idx="4">
                  <c:v>510</c:v>
                </c:pt>
                <c:pt idx="5">
                  <c:v>580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($K)</c:v>
                </c:pt>
              </c:strCache>
            </c:strRef>
          </c:tx>
          <c:spPr>
            <a:solidFill>
              <a:srgbClr val="0E749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350</c:v>
                </c:pt>
                <c:pt idx="1">
                  <c:v>380</c:v>
                </c:pt>
                <c:pt idx="2">
                  <c:v>400</c:v>
                </c:pt>
                <c:pt idx="3">
                  <c:v>450</c:v>
                </c:pt>
                <c:pt idx="4">
                  <c:v>490</c:v>
                </c:pt>
                <c:pt idx="5">
                  <c:v>550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F1F5F9"/>
            </a:solidFill>
          </a:ln>
        </c:spPr>
        <c:txPr>
          <a:bodyPr/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1F5F9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F1F5F9"/>
            </a:solidFill>
          </a:ln>
        </c:spPr>
        <c:txPr>
          <a:bodyPr/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>
                <a:solidFill>
                  <a:srgbClr val="0F172A"/>
                </a:solidFill>
                <a:latin typeface="Calibri"/>
              </a:rPr>
              <a:t>Revenue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ln w="31750">
              <a:solidFill>
                <a:srgbClr val="2563EB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</c:v>
                </c:pt>
                <c:pt idx="1">
                  <c:v>380</c:v>
                </c:pt>
                <c:pt idx="2">
                  <c:v>410</c:v>
                </c:pt>
                <c:pt idx="3">
                  <c:v>470</c:v>
                </c:pt>
                <c:pt idx="4">
                  <c:v>510</c:v>
                </c:pt>
                <c:pt idx="5">
                  <c:v>580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($K)</c:v>
                </c:pt>
              </c:strCache>
            </c:strRef>
          </c:tx>
          <c:spPr>
            <a:ln w="31750">
              <a:solidFill>
                <a:srgbClr val="0E749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350</c:v>
                </c:pt>
                <c:pt idx="1">
                  <c:v>380</c:v>
                </c:pt>
                <c:pt idx="2">
                  <c:v>400</c:v>
                </c:pt>
                <c:pt idx="3">
                  <c:v>450</c:v>
                </c:pt>
                <c:pt idx="4">
                  <c:v>490</c:v>
                </c:pt>
                <c:pt idx="5">
                  <c:v>550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F1F5F9"/>
            </a:solidFill>
          </a:ln>
        </c:spPr>
        <c:txPr>
          <a:bodyPr/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F1F5F9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F1F5F9"/>
            </a:solidFill>
          </a:ln>
        </c:spPr>
        <c:txPr>
          <a:bodyPr/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</a:p>
        </c:txPr>
        <c:crossAx val="2118791784"/>
        <c:crosses val="autoZero"/>
      </c:valAx>
      <c:spPr>
        <a:noFill/>
      </c:spPr>
    </c:plotArea>
    <c:legend>
      <c:legendPos val="r"/>
      <c:layout/>
      <c:overlay val="0"/>
      <c:txPr>
        <a:bodyPr/>
        <a:lstStyle/>
        <a:p>
          <a:pPr>
            <a:defRPr sz="1100">
              <a:solidFill>
                <a:srgbClr val="334155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>
                <a:solidFill>
                  <a:srgbClr val="0F172A"/>
                </a:solidFill>
                <a:latin typeface="Calibri"/>
              </a:rPr>
              <a:t>Revenue by Region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0E7490"/>
              </a:solidFill>
            </c:spPr>
          </c:dPt>
          <c:dPt>
            <c:idx val="2"/>
            <c:spPr>
              <a:solidFill>
                <a:srgbClr val="C2410C"/>
              </a:solidFill>
            </c:spPr>
          </c:dPt>
          <c:dPt>
            <c:idx val="3"/>
            <c:spPr>
              <a:solidFill>
                <a:srgbClr val="93C5FD"/>
              </a:solidFill>
            </c:spPr>
          </c:dPt>
          <c:cat>
            <c:strRef>
              <c:f>Sheet1!$A$2:$A$5</c:f>
              <c:strCache>
                <c:ptCount val="4"/>
                <c:pt idx="0">
                  <c:v>APAC</c:v>
                </c:pt>
                <c:pt idx="1">
                  <c:v>EMEA</c:v>
                </c:pt>
                <c:pt idx="2">
                  <c:v>Americas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27</c:v>
                </c:pt>
                <c:pt idx="2">
                  <c:v>30</c:v>
                </c:pt>
                <c:pt idx="3">
                  <c:v>5</c:v>
                </c:pt>
              </c:numCache>
            </c:numRef>
          </c:val>
        </c:ser>
      </c:pieChart>
      <c:spPr>
        <a:noFill/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>
                <a:solidFill>
                  <a:srgbClr val="0F172A"/>
                </a:solidFill>
                <a:latin typeface="Calibri"/>
              </a:rPr>
              <a:t>Monthly Recurring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MRR ($K)</c:v>
                </c:pt>
              </c:strCache>
            </c:strRef>
          </c:tx>
          <c:spPr>
            <a:solidFill>
              <a:srgbClr val="2563EB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</c:v>
                </c:pt>
                <c:pt idx="1">
                  <c:v>98</c:v>
                </c:pt>
                <c:pt idx="2">
                  <c:v>105</c:v>
                </c:pt>
                <c:pt idx="3">
                  <c:v>112</c:v>
                </c:pt>
                <c:pt idx="4">
                  <c:v>120</c:v>
                </c:pt>
                <c:pt idx="5">
                  <c:v>128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F1F5F9"/>
            </a:solidFill>
          </a:ln>
        </c:spPr>
        <c:txPr>
          <a:bodyPr/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1F5F9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F1F5F9"/>
            </a:solidFill>
          </a:ln>
        </c:spPr>
        <c:txPr>
          <a:bodyPr/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>
                <a:solidFill>
                  <a:srgbClr val="0F172A"/>
                </a:solidFill>
                <a:latin typeface="Calibri"/>
              </a:rPr>
              <a:t>Evaluation Snapshot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Delivery Speed</c:v>
                </c:pt>
              </c:strCache>
            </c:strRef>
          </c:tx>
          <c:spPr>
            <a:solidFill>
              <a:srgbClr val="2563EB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Build</c:v>
                </c:pt>
                <c:pt idx="1">
                  <c:v>Buy</c:v>
                </c:pt>
                <c:pt idx="2">
                  <c:v>Hybrid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85</c:v>
                </c:pt>
                <c:pt idx="2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Flexibility</c:v>
                </c:pt>
              </c:strCache>
            </c:strRef>
          </c:tx>
          <c:spPr>
            <a:solidFill>
              <a:srgbClr val="0E749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Build</c:v>
                </c:pt>
                <c:pt idx="1">
                  <c:v>Buy</c:v>
                </c:pt>
                <c:pt idx="2">
                  <c:v>Hybrid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</c:v>
                </c:pt>
                <c:pt idx="1">
                  <c:v>60</c:v>
                </c:pt>
                <c:pt idx="2">
                  <c:v>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F1F5F9"/>
            </a:solidFill>
          </a:ln>
        </c:spPr>
        <c:txPr>
          <a:bodyPr/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F1F5F9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F1F5F9"/>
            </a:solidFill>
          </a:ln>
        </c:spPr>
        <c:txPr>
          <a:bodyPr/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2000">
                <a:solidFill>
                  <a:srgbClr val="0F172A"/>
                </a:solidFill>
                <a:latin typeface="Calibri"/>
              </a:rPr>
              <a:t>Revenue Mix (Donut)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0E7490"/>
              </a:solidFill>
            </c:spPr>
          </c:dPt>
          <c:dPt>
            <c:idx val="2"/>
            <c:spPr>
              <a:solidFill>
                <a:srgbClr val="C2410C"/>
              </a:solidFill>
            </c:spPr>
          </c:dPt>
          <c:dPt>
            <c:idx val="3"/>
            <c:spPr>
              <a:solidFill>
                <a:srgbClr val="93C5FD"/>
              </a:solidFill>
            </c:spPr>
          </c:dPt>
          <c:cat>
            <c:strRef>
              <c:f>Sheet1!$A$2:$A$5</c:f>
              <c:strCache>
                <c:ptCount val="4"/>
                <c:pt idx="0">
                  <c:v>APAC</c:v>
                </c:pt>
                <c:pt idx="1">
                  <c:v>EMEA</c:v>
                </c:pt>
                <c:pt idx="2">
                  <c:v>Americas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27</c:v>
                </c:pt>
                <c:pt idx="2">
                  <c:v>30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</c:spPr>
    </c:plotArea>
    <c:legend>
      <c:legendPos val="r"/>
      <c:layout/>
      <c:overlay val="0"/>
      <c:txPr>
        <a:bodyPr/>
        <a:lstStyle/>
        <a:p>
          <a:pPr>
            <a:defRPr sz="1100">
              <a:solidFill>
                <a:srgbClr val="334155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  <c:spPr>
    <a:noFill/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2000">
                <a:solidFill>
                  <a:srgbClr val="0F172A"/>
                </a:solidFill>
                <a:latin typeface="Calibri"/>
              </a:rPr>
              <a:t>Capability Scorecard</a:t>
            </a:r>
          </a:p>
        </c:rich>
      </c:tx>
      <c:layout/>
      <c:overlay val="0"/>
    </c:title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ln w="31750">
              <a:solidFill>
                <a:srgbClr val="2563EB"/>
              </a:solidFill>
            </a:ln>
          </c:spPr>
          <c:cat>
            <c:strRef>
              <c:f>Sheet1!$A$2:$A$6</c:f>
              <c:strCache>
                <c:ptCount val="5"/>
                <c:pt idx="0">
                  <c:v>Reliability</c:v>
                </c:pt>
                <c:pt idx="1">
                  <c:v>Usability</c:v>
                </c:pt>
                <c:pt idx="2">
                  <c:v>Security</c:v>
                </c:pt>
                <c:pt idx="3">
                  <c:v>Performance</c:v>
                </c:pt>
                <c:pt idx="4">
                  <c:v>Extensibility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82</c:v>
                </c:pt>
                <c:pt idx="2">
                  <c:v>88</c:v>
                </c:pt>
                <c:pt idx="3">
                  <c:v>75</c:v>
                </c:pt>
                <c:pt idx="4">
                  <c:v>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31750">
              <a:solidFill>
                <a:srgbClr val="0E7490"/>
              </a:solidFill>
            </a:ln>
          </c:spPr>
          <c:cat>
            <c:strRef>
              <c:f>Sheet1!$A$2:$A$6</c:f>
              <c:strCache>
                <c:ptCount val="5"/>
                <c:pt idx="0">
                  <c:v>Reliability</c:v>
                </c:pt>
                <c:pt idx="1">
                  <c:v>Usability</c:v>
                </c:pt>
                <c:pt idx="2">
                  <c:v>Security</c:v>
                </c:pt>
                <c:pt idx="3">
                  <c:v>Performance</c:v>
                </c:pt>
                <c:pt idx="4">
                  <c:v>Extensibility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85</c:v>
                </c:pt>
                <c:pt idx="1">
                  <c:v>86</c:v>
                </c:pt>
                <c:pt idx="2">
                  <c:v>92</c:v>
                </c:pt>
                <c:pt idx="3">
                  <c:v>84</c:v>
                </c:pt>
                <c:pt idx="4">
                  <c:v>80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ln>
            <a:solidFill>
              <a:srgbClr val="F1F5F9"/>
            </a:solidFill>
          </a:ln>
        </c:spPr>
        <c:txPr>
          <a:bodyPr/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>
          <c:spPr>
            <a:ln>
              <a:solidFill>
                <a:srgbClr val="F1F5F9"/>
              </a:solidFill>
            </a:ln>
          </c:spPr>
        </c:majorGridlines>
        <c:numFmt formatCode="General" sourceLinked="1"/>
        <c:majorTickMark val="cross"/>
        <c:minorTickMark val="none"/>
        <c:tickLblPos val="nextTo"/>
        <c:spPr>
          <a:ln>
            <a:solidFill>
              <a:srgbClr val="F1F5F9"/>
            </a:solidFill>
          </a:ln>
        </c:spPr>
        <c:txPr>
          <a:bodyPr/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</a:p>
        </c:txPr>
        <c:crossAx val="2073612648"/>
        <c:crosses val="autoZero"/>
        <c:crossBetween val="between"/>
      </c:valAx>
      <c:spPr>
        <a:noFill/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12648"/>
            <a:ext cx="11277295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0F172A"/>
                </a:solidFill>
                <a:latin typeface="Calibri Light"/>
              </a:rPr>
              <a:t>Q2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16736"/>
            <a:ext cx="11277295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 Light"/>
              </a:rPr>
              <a:t>Performance metrics, trends, and outlook — June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79"/>
            <a:ext cx="45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79"/>
            <a:ext cx="950335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Key Highlights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2039" y="2125979"/>
            <a:ext cx="1362456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45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677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Performance KPIs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45775" y="57150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Q2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457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$1.28M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▲ +18%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132588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7258" y="1325880"/>
            <a:ext cx="457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5858" y="150876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ACTIVE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5858" y="173736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24,370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5858" y="214884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▲ +7%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32588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7316" y="1325880"/>
            <a:ext cx="457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5916" y="150876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CHURN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5916" y="173736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3.2%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5916" y="214884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▼ +0.4pp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37560"/>
            <a:ext cx="363717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 i="0">
                <a:solidFill>
                  <a:srgbClr val="2563EB"/>
                </a:solidFill>
                <a:latin typeface="Calibri Light"/>
              </a:rPr>
              <a:t>98.7%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334155"/>
                </a:solidFill>
                <a:latin typeface="Calibri"/>
              </a:rPr>
              <a:t>System Uptime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720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30-day rolling average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7258" y="3337560"/>
            <a:ext cx="363717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 i="0">
                <a:solidFill>
                  <a:srgbClr val="2563EB"/>
                </a:solidFill>
                <a:latin typeface="Calibri Light"/>
              </a:rPr>
              <a:t>4.2s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7258" y="41148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334155"/>
                </a:solidFill>
                <a:latin typeface="Calibri"/>
              </a:rPr>
              <a:t>Avg Response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7258" y="45720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p95 latency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7316" y="3337560"/>
            <a:ext cx="363717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 i="0">
                <a:solidFill>
                  <a:srgbClr val="2563EB"/>
                </a:solidFill>
                <a:latin typeface="Calibri Light"/>
              </a:rPr>
              <a:t>$42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148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334155"/>
                </a:solidFill>
                <a:latin typeface="Calibri"/>
              </a:rPr>
              <a:t>CAC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7316" y="45720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Customer acquisition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Product Revenue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4125839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83039" y="1280160"/>
            <a:ext cx="2062919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Q1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645959" y="1280160"/>
            <a:ext cx="2062919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Q2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8708879" y="1280160"/>
            <a:ext cx="1375279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84159" y="1280160"/>
            <a:ext cx="1650335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4125839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Alpha Suite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83039" y="1600200"/>
            <a:ext cx="2062919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$420K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45959" y="1600200"/>
            <a:ext cx="2062919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$510K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08879" y="1600200"/>
            <a:ext cx="1375279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+21%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84159" y="1600200"/>
            <a:ext cx="165033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On track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4125839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Beta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83039" y="1920240"/>
            <a:ext cx="2062919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$280K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45959" y="1920240"/>
            <a:ext cx="2062919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$295K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08879" y="1920240"/>
            <a:ext cx="1375279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+5%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84159" y="1920240"/>
            <a:ext cx="165033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At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40280"/>
            <a:ext cx="4125839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Gamma 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83039" y="2240280"/>
            <a:ext cx="2062919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$190K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5959" y="2240280"/>
            <a:ext cx="2062919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$240K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08879" y="2240280"/>
            <a:ext cx="1375279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+26%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84159" y="2240280"/>
            <a:ext cx="165033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On track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560320"/>
            <a:ext cx="4125839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Delta 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83039" y="2560320"/>
            <a:ext cx="2062919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$95K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5959" y="2560320"/>
            <a:ext cx="2062919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$88K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08879" y="2560320"/>
            <a:ext cx="1375279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-7%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84159" y="2560320"/>
            <a:ext cx="165033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Behind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880360"/>
            <a:ext cx="4125839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Epsilon SDK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83039" y="2880360"/>
            <a:ext cx="2062919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$60K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45959" y="2880360"/>
            <a:ext cx="2062919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$75K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08879" y="2880360"/>
            <a:ext cx="1375279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+25%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84159" y="2880360"/>
            <a:ext cx="165033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On track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Revenue Trend Analysis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80160"/>
          <a:ext cx="5547207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87287" y="1280160"/>
          <a:ext cx="5547207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4160520"/>
          <a:ext cx="11277295" cy="2377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Roadmap &amp;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 Light"/>
              </a:rPr>
              <a:t>Backlog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" y="1773936"/>
            <a:ext cx="64008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Redesign onboarding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" y="2093976"/>
            <a:ext cx="64008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Launch mobile app v2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6" y="2414016"/>
            <a:ext cx="64008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Integrate SSO providers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" y="2734056"/>
            <a:ext cx="64008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Expand API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7258" y="128016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 Light"/>
              </a:rPr>
              <a:t>Priorities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7258" y="164592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i="0">
                <a:solidFill>
                  <a:srgbClr val="2563EB"/>
                </a:solidFill>
                <a:latin typeface="Calibri"/>
              </a:rP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1578" y="164592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Define OKRs for H2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7258" y="196596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i="0">
                <a:solidFill>
                  <a:srgbClr val="2563EB"/>
                </a:solidFill>
                <a:latin typeface="Calibri"/>
              </a:rP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1578" y="196596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Security audit 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7258" y="22860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i="0">
                <a:solidFill>
                  <a:srgbClr val="2563EB"/>
                </a:solidFill>
                <a:latin typeface="Calibri"/>
              </a:rPr>
              <a:t>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1578" y="228600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Migrate to GCP Cloud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7258" y="260604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i="0">
                <a:solidFill>
                  <a:srgbClr val="2563EB"/>
                </a:solidFill>
                <a:latin typeface="Calibri"/>
              </a:rPr>
              <a:t>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1578" y="260604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Enable A/B testing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7316" y="128016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 Light"/>
              </a:rPr>
              <a:t>Checklist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164592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1636" y="164592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Deploy rate limiting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7316" y="196596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1636" y="196596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Fix dashboard load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22860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1636" y="228600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Update privacy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7316" y="260604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1636" y="260604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Archive legacy endpoints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7316" y="292608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1636" y="292608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Notify affected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Notices &amp;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325880"/>
            <a:ext cx="10948111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400" b="0" i="0">
                <a:solidFill>
                  <a:srgbClr val="1E40AF"/>
                </a:solidFill>
                <a:latin typeface="Calibri"/>
              </a:rPr>
              <a:t>INFO  Database migration scheduled for July 4 — expect 2 min downtime.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54864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" y="2194560"/>
            <a:ext cx="10948111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400" b="0" i="0">
                <a:solidFill>
                  <a:srgbClr val="92400E"/>
                </a:solidFill>
                <a:latin typeface="Calibri"/>
              </a:rPr>
              <a:t>⚠  WARNING  Churn has increased 0.4pp — review retention playbook this sprint.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63239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063239"/>
            <a:ext cx="54864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" y="3063239"/>
            <a:ext cx="10948111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400" b="0" i="0">
                <a:solidFill>
                  <a:srgbClr val="166534"/>
                </a:solidFill>
                <a:latin typeface="Calibri"/>
              </a:rPr>
              <a:t>✓  SUCCESS  Uptime target of 99.5% achieved for third consecutive month.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4864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" y="3931920"/>
            <a:ext cx="10948111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400" b="0" i="0">
                <a:solidFill>
                  <a:srgbClr val="991B1B"/>
                </a:solidFill>
                <a:latin typeface="Calibri"/>
              </a:rPr>
              <a:t>✕  ERROR  Payment gateway timeout rate exceeded SLA threshold on June 12.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11277295" cy="1188720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937760"/>
            <a:ext cx="54864" cy="118872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5212080"/>
            <a:ext cx="1067379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1">
                <a:solidFill>
                  <a:srgbClr val="334155"/>
                </a:solidFill>
                <a:latin typeface="Calibri Light"/>
              </a:rPr>
              <a:t>“The goal is not to build more features — it's to make existing ones indispensable.”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760720"/>
            <a:ext cx="10673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— Product Review, May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677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Sprint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45775" y="57150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Week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Authentication service 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1371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  <a:latin typeface="Calibri"/>
              </a:rPr>
              <a:t>85%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9585700" cy="1645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API v3 rollout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20574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  <a:latin typeface="Calibri"/>
              </a:rPr>
              <a:t>62%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77440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377440"/>
            <a:ext cx="6991923" cy="1645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Data warehouse rebuild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27432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  <a:latin typeface="Calibri"/>
              </a:rPr>
              <a:t>40%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63240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3063240"/>
            <a:ext cx="4510918" cy="1645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Mobile parity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34290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  <a:latin typeface="Calibri"/>
              </a:rPr>
              <a:t>91%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49039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3749039"/>
            <a:ext cx="10262338" cy="1645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Legacy cleanup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41148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  <a:latin typeface="Calibri"/>
              </a:rPr>
              <a:t>20%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34840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4434840"/>
            <a:ext cx="2255459" cy="1645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49641" y="5029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66534"/>
                </a:solidFill>
                <a:latin typeface="Calibri"/>
              </a:rPr>
              <a:t>Operational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685" y="5029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92400E"/>
                </a:solidFill>
                <a:latin typeface="Calibri"/>
              </a:rPr>
              <a:t>Degraded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79729" y="5029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991B1B"/>
                </a:solidFill>
                <a:latin typeface="Calibri"/>
              </a:rPr>
              <a:t>Outage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44773" y="5029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66534"/>
                </a:solidFill>
                <a:latin typeface="Calibri"/>
              </a:rPr>
              <a:t>Healthy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12648"/>
            <a:ext cx="11277295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0F172A"/>
                </a:solidFill>
                <a:latin typeface="Calibri Light"/>
              </a:rPr>
              <a:t>Executive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16736"/>
            <a:ext cx="11277295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 Light"/>
              </a:rPr>
              <a:t>Composite layout — all components composed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79"/>
            <a:ext cx="2682163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79"/>
            <a:ext cx="457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MRR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227068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$128K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▲ +12%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2243" y="2011679"/>
            <a:ext cx="2682163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2243" y="2011679"/>
            <a:ext cx="457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0843" y="219456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NPS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0843" y="2423160"/>
            <a:ext cx="227068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0843" y="283464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▲ +4pts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2011679"/>
            <a:ext cx="2682163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7287" y="2011679"/>
            <a:ext cx="457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219456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2423160"/>
            <a:ext cx="227068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$42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283464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▲ -8%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331" y="2011679"/>
            <a:ext cx="2682163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331" y="2011679"/>
            <a:ext cx="457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0931" y="219456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LTV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0931" y="2423160"/>
            <a:ext cx="227068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$890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283464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▲ +6%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57200" y="3657599"/>
          <a:ext cx="11277295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50335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React Pattern Adaptations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2039" y="571500"/>
            <a:ext cx="1362456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Tabs +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 Light"/>
              </a:rPr>
              <a:t>TabsPanel (inspired by Radix/shadcn Tabs)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19"/>
            <a:ext cx="281932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1387" y="2011680"/>
            <a:ext cx="2709595" cy="27432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76523" y="1645919"/>
            <a:ext cx="281932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1645919"/>
            <a:ext cx="281932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1645919"/>
            <a:ext cx="281932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57400"/>
            <a:ext cx="11277295" cy="1005839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10911535" cy="640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Q2 analytics summary: Revenue is up 18% YoY, activation improved by 6%, and churn remains above target in two enterprise segments.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 Light"/>
              </a:rPr>
              <a:t>StepFlow (inspired by Ant Design Steps)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3982943"/>
            <a:ext cx="2471851" cy="27432"/>
          </a:xfrm>
          <a:prstGeom prst="roundRect">
            <a:avLst>
              <a:gd name="adj" fmla="val 33333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95979" y="3982943"/>
            <a:ext cx="2471851" cy="27432"/>
          </a:xfrm>
          <a:prstGeom prst="roundRect">
            <a:avLst>
              <a:gd name="adj" fmla="val 33333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3863" y="3982943"/>
            <a:ext cx="2471851" cy="27432"/>
          </a:xfrm>
          <a:prstGeom prst="roundRect">
            <a:avLst>
              <a:gd name="adj" fmla="val 33333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51747" y="3982943"/>
            <a:ext cx="2471851" cy="27432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3" y="386864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3" y="387778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4251959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Discovery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9947" y="386864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39947" y="387778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7883" y="4251959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Prototype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67831" y="386864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67831" y="387778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5767" y="4251959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Validation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95715" y="386864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95715" y="387778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651" y="4251959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Launch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23599" y="386864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23599" y="387778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4251959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Scale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73526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Phase 1 Additions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3943" y="571500"/>
            <a:ext cx="2130552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Image + Legend + KPIGrid</a:t>
            </a:r>
          </a:p>
        </p:txBody>
      </p:sp>
      <p:pic>
        <p:nvPicPr>
          <p:cNvPr id="5" name="Picture 4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586" y="1280160"/>
            <a:ext cx="4226560" cy="2377440"/>
          </a:xfrm>
          <a:prstGeom prst="rect">
            <a:avLst/>
          </a:prstGeom>
          <a:ln w="12700">
            <a:solidFill>
              <a:srgbClr val="94A3B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467412" y="1280160"/>
            <a:ext cx="426708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 Light"/>
              </a:rPr>
              <a:t>Region Color Legend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67412" y="1682496"/>
            <a:ext cx="109728" cy="109728"/>
          </a:xfrm>
          <a:prstGeom prst="roundRect">
            <a:avLst>
              <a:gd name="adj" fmla="val 8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68580" y="1600200"/>
            <a:ext cx="406591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APAC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67412" y="1956815"/>
            <a:ext cx="109728" cy="109728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68580" y="1874519"/>
            <a:ext cx="406591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EMEA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7412" y="2231135"/>
            <a:ext cx="109728" cy="109728"/>
          </a:xfrm>
          <a:prstGeom prst="roundRect">
            <a:avLst>
              <a:gd name="adj" fmla="val 8333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8580" y="2148839"/>
            <a:ext cx="406591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Americas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7412" y="2505455"/>
            <a:ext cx="109728" cy="109728"/>
          </a:xfrm>
          <a:prstGeom prst="roundRect">
            <a:avLst>
              <a:gd name="adj" fmla="val 8333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8580" y="2423159"/>
            <a:ext cx="406591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Other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7764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77640"/>
            <a:ext cx="457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16052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NEW LEADS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8912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1,284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006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▲ +9%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7258" y="397764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7258" y="3977640"/>
            <a:ext cx="457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5858" y="416052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5858" y="438912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14.2%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5858" y="48006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▲ +1.1pp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7316" y="397764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7316" y="3977640"/>
            <a:ext cx="457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5916" y="416052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PIPELINE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5916" y="438912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$3.4M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5916" y="48006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▲ +6%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53212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532120"/>
            <a:ext cx="457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7150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WIN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94360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31%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5508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▼ -2pp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77258" y="553212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77258" y="5532120"/>
            <a:ext cx="457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05858" y="57150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SALES CYCLE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5858" y="594360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27 days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5858" y="635508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▲ -3 days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7316" y="553212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97316" y="5532120"/>
            <a:ext cx="457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5916" y="57150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UPSELL MRR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5916" y="594360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$48K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5916" y="635508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▲ +12%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43935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Phase 1 Additions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08031" y="571500"/>
            <a:ext cx="1426464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SparklineCard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3637178" cy="146304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36576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481328"/>
            <a:ext cx="323484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NET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847088"/>
            <a:ext cx="3234842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$1.28M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359152"/>
            <a:ext cx="323484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+18%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2551176"/>
            <a:ext cx="497992" cy="27432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92936" y="2511817"/>
            <a:ext cx="497992" cy="6679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09216" y="2456157"/>
            <a:ext cx="497992" cy="12245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25497" y="2322576"/>
            <a:ext cx="497992" cy="256031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1777" y="2222389"/>
            <a:ext cx="497992" cy="35621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58058" y="2066544"/>
            <a:ext cx="497992" cy="51206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77258" y="1298448"/>
            <a:ext cx="3637178" cy="146304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7258" y="1298448"/>
            <a:ext cx="36576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6714" y="1481328"/>
            <a:ext cx="323484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6714" y="1847088"/>
            <a:ext cx="3234842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$3.4M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6714" y="2359152"/>
            <a:ext cx="323484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+12%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96714" y="2551176"/>
            <a:ext cx="497992" cy="27432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12994" y="2476195"/>
            <a:ext cx="497992" cy="102412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29275" y="2373782"/>
            <a:ext cx="497992" cy="204825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45555" y="2271369"/>
            <a:ext cx="497992" cy="30723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61835" y="2168956"/>
            <a:ext cx="497992" cy="409651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78116" y="2066544"/>
            <a:ext cx="497992" cy="51206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97316" y="1298448"/>
            <a:ext cx="3637178" cy="146304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7316" y="1298448"/>
            <a:ext cx="36576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6772" y="1481328"/>
            <a:ext cx="323484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WIN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6772" y="1847088"/>
            <a:ext cx="3234842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31%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6772" y="2359152"/>
            <a:ext cx="323484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+2pp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16772" y="2551176"/>
            <a:ext cx="497992" cy="27432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33053" y="2450592"/>
            <a:ext cx="497992" cy="128015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49333" y="2322576"/>
            <a:ext cx="497992" cy="256031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65613" y="2194560"/>
            <a:ext cx="497992" cy="384047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381894" y="2194560"/>
            <a:ext cx="497992" cy="384047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898174" y="2066544"/>
            <a:ext cx="497992" cy="51206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7200" y="3108960"/>
            <a:ext cx="3637178" cy="146304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3108960"/>
            <a:ext cx="36576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" y="3291840"/>
            <a:ext cx="323484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TICKET BACKLOG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657600"/>
            <a:ext cx="3234842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42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" y="4169663"/>
            <a:ext cx="323484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-21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" y="3877056"/>
            <a:ext cx="497992" cy="512063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92936" y="3998976"/>
            <a:ext cx="497992" cy="390143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709216" y="4096512"/>
            <a:ext cx="497992" cy="292607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25497" y="4218432"/>
            <a:ext cx="497992" cy="170687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1777" y="4315968"/>
            <a:ext cx="497992" cy="73151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58058" y="4361688"/>
            <a:ext cx="497992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277258" y="3108960"/>
            <a:ext cx="3637178" cy="146304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77258" y="3108960"/>
            <a:ext cx="36576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96714" y="3291840"/>
            <a:ext cx="323484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ACTIVATION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96714" y="3657600"/>
            <a:ext cx="3234842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68%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96714" y="4169663"/>
            <a:ext cx="323484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+7pp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96714" y="4361688"/>
            <a:ext cx="497992" cy="27432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12994" y="4270951"/>
            <a:ext cx="497992" cy="11816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29275" y="4192172"/>
            <a:ext cx="497992" cy="196947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045555" y="4074003"/>
            <a:ext cx="497992" cy="315116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561835" y="3955835"/>
            <a:ext cx="497992" cy="433284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078116" y="3877056"/>
            <a:ext cx="497992" cy="51206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097316" y="3108960"/>
            <a:ext cx="3637178" cy="146304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97316" y="3108960"/>
            <a:ext cx="36576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16772" y="3291840"/>
            <a:ext cx="323484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CLOUD SPEND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16772" y="3657600"/>
            <a:ext cx="3234842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$184K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16772" y="4169663"/>
            <a:ext cx="323484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-3%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16772" y="4361688"/>
            <a:ext cx="497992" cy="27432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833053" y="4227415"/>
            <a:ext cx="497992" cy="161704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349333" y="4092661"/>
            <a:ext cx="497992" cy="29645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865613" y="3877056"/>
            <a:ext cx="497992" cy="512063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381894" y="3957908"/>
            <a:ext cx="497992" cy="431211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898174" y="4011809"/>
            <a:ext cx="497992" cy="37731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57200" y="4937760"/>
            <a:ext cx="11277295" cy="9144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7200" y="4937760"/>
            <a:ext cx="4572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5800" y="5120640"/>
            <a:ext cx="10957255" cy="548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SparklineCard combines a primary KPI, change signal, and compact trend view in one surface. Use it when a standard metric card is too static for dashboard storytelling.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92728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Phase 2 Additions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95967" y="571500"/>
            <a:ext cx="1938528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Timeline +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 Light"/>
              </a:rPr>
              <a:t>Program Roadmap (MUI Timeline inspired)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18004"/>
            <a:ext cx="10911535" cy="1828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23570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-137160" y="1760219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37160" y="19431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Calibri"/>
              </a:rPr>
              <a:t>Discovery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6523" y="223570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0723" y="2436876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0723" y="261975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Calibri"/>
              </a:rPr>
              <a:t>Pilot Launch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4407" y="223570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8607" y="1760219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8607" y="19431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Enterprise Rollout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291" y="223570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491" y="2436876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491" y="261975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Automation Phase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60175" y="223570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74375" y="1760219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Q1 '27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74375" y="19431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Scale + Expansion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91840"/>
            <a:ext cx="656608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 Light"/>
              </a:rPr>
              <a:t>Decision Matrix (shadcn composable style)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11880"/>
            <a:ext cx="3191601" cy="2240280"/>
          </a:xfrm>
          <a:prstGeom prst="roundRect">
            <a:avLst>
              <a:gd name="adj" fmla="val 1632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3611880"/>
            <a:ext cx="3191601" cy="27432"/>
          </a:xfrm>
          <a:prstGeom prst="roundRect">
            <a:avLst>
              <a:gd name="adj" fmla="val 33333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657600"/>
            <a:ext cx="282584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Build In-House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977639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2563EB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3977639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Full control over 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233672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2563EB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4233672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Can optimize for existing stack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489704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2563EB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4489704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Higher upfront engineering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745736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2563EB"/>
                </a:solidFill>
                <a:latin typeface="Calibr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4745736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Longer time-to-market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31681" y="3611880"/>
            <a:ext cx="3191601" cy="2240280"/>
          </a:xfrm>
          <a:prstGeom prst="roundRect">
            <a:avLst>
              <a:gd name="adj" fmla="val 1632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831681" y="3611880"/>
            <a:ext cx="3191601" cy="27432"/>
          </a:xfrm>
          <a:prstGeom prst="roundRect">
            <a:avLst>
              <a:gd name="adj" fmla="val 33333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14561" y="3657600"/>
            <a:ext cx="282584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Buy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14561" y="3977639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2563EB"/>
                </a:solidFill>
                <a:latin typeface="Calibr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15729" y="3977639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Fastest path to launch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14561" y="4233672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2563EB"/>
                </a:solidFill>
                <a:latin typeface="Calibr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15729" y="4233672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Vendor support included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14561" y="4489704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2563EB"/>
                </a:solidFill>
                <a:latin typeface="Calibr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15729" y="4489704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Recurring license cost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14561" y="4745736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2563EB"/>
                </a:solidFill>
                <a:latin typeface="Calibri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15729" y="4745736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Less flexibility on edge cases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7206162" y="3291840"/>
          <a:ext cx="4528332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31133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Phase 3 Additions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80015" y="571500"/>
            <a:ext cx="1554480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Heatmap +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 Light"/>
              </a:rPr>
              <a:t>Feature Adoption Score by Platform &amp; Quarter (%)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00200"/>
            <a:ext cx="25678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34155"/>
                </a:solidFill>
                <a:latin typeface="Calibri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0903" y="1600200"/>
            <a:ext cx="25678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34155"/>
                </a:solidFill>
                <a:latin typeface="Calibri"/>
              </a:rP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8767" y="1600200"/>
            <a:ext cx="25678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34155"/>
                </a:solidFill>
                <a:latin typeface="Calibri"/>
              </a:rPr>
              <a:t>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66631" y="1600200"/>
            <a:ext cx="25678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34155"/>
                </a:solidFill>
                <a:latin typeface="Calibri"/>
              </a:rPr>
              <a:t>Q4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81328" y="1847088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B14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1828800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49191" y="1847088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B56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30903" y="1828800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17055" y="1847088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1E6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8767" y="1828800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78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4919" y="1847088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A4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6631" y="1828800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Web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81328" y="2139696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186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2121408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72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49191" y="2139696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20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30903" y="2121408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68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17055" y="2139696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4F6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8767" y="2121408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81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4919" y="2139696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14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6631" y="2121408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74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414015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81328" y="2432303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A4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2414015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49191" y="2432303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9BA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30903" y="2414015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17055" y="2432303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AC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98767" y="2414015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4919" y="2432303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6631" y="2414015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2706623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Reports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81328" y="2724911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81A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40" y="2706623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61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49191" y="2724911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30903" y="2706623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55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17055" y="2724911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1C6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2706623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70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4919" y="2724911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5C8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66631" y="2706623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63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2999232"/>
            <a:ext cx="236416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API Latency (ms)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21365" y="2999232"/>
            <a:ext cx="12730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F172A"/>
                </a:solidFill>
                <a:latin typeface="Calibri"/>
              </a:rPr>
              <a:t>210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3236976"/>
            <a:ext cx="909294" cy="201168"/>
          </a:xfrm>
          <a:prstGeom prst="roundRect">
            <a:avLst>
              <a:gd name="adj" fmla="val 909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447288"/>
            <a:ext cx="90929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OK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366494" y="3236976"/>
            <a:ext cx="909294" cy="201168"/>
          </a:xfrm>
          <a:prstGeom prst="roundRect">
            <a:avLst>
              <a:gd name="adj" fmla="val 909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66494" y="3447288"/>
            <a:ext cx="90929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Warn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275789" y="3236976"/>
            <a:ext cx="1818589" cy="201168"/>
          </a:xfrm>
          <a:prstGeom prst="roundRect">
            <a:avLst>
              <a:gd name="adj" fmla="val 909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75789" y="3447288"/>
            <a:ext cx="1818589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Critical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711924" y="3145536"/>
            <a:ext cx="36576" cy="38404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77258" y="2999232"/>
            <a:ext cx="236416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Error Rate (%)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41424" y="2999232"/>
            <a:ext cx="12730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F172A"/>
                </a:solidFill>
                <a:latin typeface="Calibri"/>
              </a:rPr>
              <a:t>2.1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77258" y="3236976"/>
            <a:ext cx="363717" cy="201168"/>
          </a:xfrm>
          <a:prstGeom prst="roundRect">
            <a:avLst>
              <a:gd name="adj" fmla="val 909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77258" y="3447288"/>
            <a:ext cx="363717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OK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640976" y="3236976"/>
            <a:ext cx="727435" cy="201168"/>
          </a:xfrm>
          <a:prstGeom prst="roundRect">
            <a:avLst>
              <a:gd name="adj" fmla="val 909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40976" y="3447288"/>
            <a:ext cx="727435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Warn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68411" y="3236976"/>
            <a:ext cx="2546024" cy="201168"/>
          </a:xfrm>
          <a:prstGeom prst="roundRect">
            <a:avLst>
              <a:gd name="adj" fmla="val 909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8411" y="3447288"/>
            <a:ext cx="254602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Critical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2777" y="3145536"/>
            <a:ext cx="36576" cy="38404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97316" y="2999232"/>
            <a:ext cx="236416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Uptime (%)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61482" y="2999232"/>
            <a:ext cx="12730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F172A"/>
                </a:solidFill>
                <a:latin typeface="Calibri"/>
              </a:rPr>
              <a:t>98.5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97316" y="3236976"/>
            <a:ext cx="1818589" cy="201168"/>
          </a:xfrm>
          <a:prstGeom prst="roundRect">
            <a:avLst>
              <a:gd name="adj" fmla="val 909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97316" y="3447288"/>
            <a:ext cx="1818589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Below SLA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15906" y="3236976"/>
            <a:ext cx="1454871" cy="201168"/>
          </a:xfrm>
          <a:prstGeom prst="roundRect">
            <a:avLst>
              <a:gd name="adj" fmla="val 909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15906" y="3447288"/>
            <a:ext cx="1454871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Degraded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370777" y="3236976"/>
            <a:ext cx="363717" cy="201168"/>
          </a:xfrm>
          <a:prstGeom prst="roundRect">
            <a:avLst>
              <a:gd name="adj" fmla="val 909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370777" y="3447288"/>
            <a:ext cx="363717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Healthy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1170630" y="3145536"/>
            <a:ext cx="36576" cy="38404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1931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Phase 3 Additions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87991" y="571500"/>
            <a:ext cx="1746504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Code + Annotations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6471742" cy="4297680"/>
          </a:xfrm>
          <a:prstGeom prst="roundRect">
            <a:avLst>
              <a:gd name="adj" fmla="val 851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6471742" cy="27432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1353312"/>
            <a:ext cx="914400" cy="1645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353312"/>
            <a:ext cx="9144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700784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00784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nsolas"/>
              </a:rPr>
              <a:t>import pptx_components as 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01952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901952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nsola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103120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103120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nsolas"/>
              </a:rPr>
              <a:t>builder = pc.SlideBuilder(prs)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2304288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304288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nsolas"/>
              </a:rPr>
              <a:t>builder.add(pc.SectionHeader("My Slide", badge_text="v1.0"))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2505456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onsola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505456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nsolas"/>
              </a:rPr>
              <a:t>builder.skip(0.2)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2706624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706624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nsolas"/>
              </a:rPr>
              <a:t>builder.add_row(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2907792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onsolas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2907792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nsolas"/>
              </a:rPr>
              <a:t>    pc.MetricCard("Revenue", "$1.2M", "+12%", True),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3108960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onsolas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108960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nsolas"/>
              </a:rPr>
              <a:t>    pc.MetricCard("Churn",   "3.1%",  "+0.2pp", False),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3310128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onsolas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310128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nsolas"/>
              </a:rPr>
              <a:t>    h=1.5,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3511296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onsolas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3511296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nsolas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3712464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onsolas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3712464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nsolas"/>
              </a:rPr>
              <a:t>builder.add(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" y="3913632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onsolas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3913632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nsolas"/>
              </a:rPr>
              <a:t>    pc.BarChart(months, data, title="Monthly Trend"),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" y="4114800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onsolas"/>
              </a:rPr>
              <a:t>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4114800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nsolas"/>
              </a:rPr>
              <a:t>    h=2.8,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" y="4315968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onsolas"/>
              </a:rP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4315968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nsolas"/>
              </a:rPr>
              <a:t>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11822" y="1298448"/>
            <a:ext cx="4622673" cy="658368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 rot="16200000">
            <a:off x="7111822" y="1563623"/>
            <a:ext cx="128016" cy="128016"/>
          </a:xfrm>
          <a:prstGeom prst="triangle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94702" y="1481328"/>
            <a:ext cx="4256913" cy="2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Use SlideBuilder to compose slides with rows, columns, and grids.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11822" y="2487168"/>
            <a:ext cx="4622673" cy="658368"/>
          </a:xfrm>
          <a:prstGeom prst="roundRect">
            <a:avLst>
              <a:gd name="adj" fmla="val 6944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 rot="16200000">
            <a:off x="7111822" y="2752344"/>
            <a:ext cx="128016" cy="128016"/>
          </a:xfrm>
          <a:prstGeom prst="triangl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94702" y="2670048"/>
            <a:ext cx="4256913" cy="2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add_row() automatically distributes width equally.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11822" y="3675887"/>
            <a:ext cx="4622673" cy="658368"/>
          </a:xfrm>
          <a:prstGeom prst="roundRect">
            <a:avLst>
              <a:gd name="adj" fmla="val 6944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 rot="16200000">
            <a:off x="7111822" y="3941063"/>
            <a:ext cx="128016" cy="128016"/>
          </a:xfrm>
          <a:prstGeom prst="triangl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94702" y="3858768"/>
            <a:ext cx="4256913" cy="2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40AF"/>
                </a:solidFill>
                <a:latin typeface="Calibri"/>
              </a:rPr>
              <a:t>set h= to control the rendered height of each component.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11822" y="4864607"/>
            <a:ext cx="4622673" cy="658368"/>
          </a:xfrm>
          <a:prstGeom prst="roundRect">
            <a:avLst>
              <a:gd name="adj" fmla="val 6944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 rot="16200000">
            <a:off x="7111822" y="5129783"/>
            <a:ext cx="128016" cy="128016"/>
          </a:xfrm>
          <a:prstGeom prst="triangl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94702" y="5047488"/>
            <a:ext cx="4256913" cy="2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2400E"/>
                </a:solidFill>
                <a:latin typeface="Calibri"/>
              </a:rPr>
              <a:t>Mismatched weights cause rendering issues — validate inputs.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37534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Revenue Bridge — H1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4023" y="571500"/>
            <a:ext cx="1490472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WaterfallChart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 Light"/>
              </a:rPr>
              <a:t>Revenue Contribution by Category ($K)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677155"/>
            <a:ext cx="11277295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674957"/>
            <a:ext cx="1564015" cy="2006770"/>
          </a:xfrm>
          <a:prstGeom prst="roundRect">
            <a:avLst>
              <a:gd name="adj" fmla="val 1169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55501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  <a:latin typeface="Calibri"/>
              </a:rPr>
              <a:t>+500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6079" y="2193332"/>
            <a:ext cx="1564015" cy="481624"/>
          </a:xfrm>
          <a:prstGeom prst="roundRect">
            <a:avLst>
              <a:gd name="adj" fmla="val 3796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21215" y="2670385"/>
            <a:ext cx="54864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76079" y="1973876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  <a:latin typeface="Calibri"/>
              </a:rPr>
              <a:t>+120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607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New Logos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94959" y="1852181"/>
            <a:ext cx="1564015" cy="341150"/>
          </a:xfrm>
          <a:prstGeom prst="roundRect">
            <a:avLst>
              <a:gd name="adj" fmla="val 536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40095" y="2188760"/>
            <a:ext cx="54864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959" y="2220764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  <a:latin typeface="Calibri"/>
              </a:rPr>
              <a:t>+85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95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Upsell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13839" y="1691640"/>
            <a:ext cx="1564015" cy="160541"/>
          </a:xfrm>
          <a:prstGeom prst="roundRect">
            <a:avLst>
              <a:gd name="adj" fmla="val 11391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58975" y="1847609"/>
            <a:ext cx="54864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3839" y="1879613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  <a:latin typeface="Calibri"/>
              </a:rPr>
              <a:t>+40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383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Expansion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32719" y="1691640"/>
            <a:ext cx="1564015" cy="240812"/>
          </a:xfrm>
          <a:prstGeom prst="roundRect">
            <a:avLst>
              <a:gd name="adj" fmla="val 759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77855" y="1687068"/>
            <a:ext cx="54864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2719" y="1959884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  <a:latin typeface="Calibri"/>
              </a:rPr>
              <a:t>-60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271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Churn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51599" y="1932452"/>
            <a:ext cx="1564015" cy="140473"/>
          </a:xfrm>
          <a:prstGeom prst="roundRect">
            <a:avLst>
              <a:gd name="adj" fmla="val 13017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96735" y="1927880"/>
            <a:ext cx="54864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51599" y="1712996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  <a:latin typeface="Calibri"/>
              </a:rPr>
              <a:t>-35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5159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Discounts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70479" y="2072926"/>
            <a:ext cx="1564015" cy="2608801"/>
          </a:xfrm>
          <a:prstGeom prst="roundRect">
            <a:avLst>
              <a:gd name="adj" fmla="val 1169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70479" y="1853470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  <a:latin typeface="Calibri"/>
              </a:rPr>
              <a:t>650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7047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Net Revenue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991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Additional React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9975" y="571500"/>
            <a:ext cx="1874520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Accordion +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 Light"/>
              </a:rPr>
              <a:t>Accordion (FAQ Pattern / MUI inspired)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19"/>
            <a:ext cx="11277295" cy="347472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19"/>
            <a:ext cx="1077437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How do we scale headcount?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4455" y="1645919"/>
            <a:ext cx="137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2563EB"/>
                </a:solidFill>
                <a:latin typeface="Calibri"/>
              </a:rPr>
              <a:t>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20823"/>
            <a:ext cx="11185855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12263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Hiring plan targets 40% growth in engineering and product through Q4 2026. Focus on mid/senior IC roles and two new manager positions.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16351"/>
            <a:ext cx="11277295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16351"/>
            <a:ext cx="1077437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What's our go-to-market strategy?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14455" y="2816351"/>
            <a:ext cx="137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2563EB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55263"/>
            <a:ext cx="11277295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3"/>
            <a:ext cx="1077437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How do we reduce churn?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14455" y="3255263"/>
            <a:ext cx="137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2563EB"/>
                </a:solidFill>
                <a:latin typeface="Calibri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 Light"/>
              </a:rPr>
              <a:t>FeatureGrid (Product Showcase Pattern)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77639"/>
            <a:ext cx="3667658" cy="86868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99589" y="4160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9589" y="4178807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26280"/>
            <a:ext cx="33018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Real-time Sync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2018" y="3977639"/>
            <a:ext cx="3667658" cy="86868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04407" y="4160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04407" y="4178807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4898" y="4526280"/>
            <a:ext cx="33018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Enterprise Security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6836" y="3977639"/>
            <a:ext cx="3667658" cy="86868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09226" y="4160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9226" y="4178807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9716" y="4526280"/>
            <a:ext cx="33018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Rich Analytics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79"/>
            <a:ext cx="3667658" cy="86868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199589" y="5166359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9589" y="5184647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532120"/>
            <a:ext cx="33018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Global Scale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62018" y="4983479"/>
            <a:ext cx="3667658" cy="86868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04407" y="5166359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04407" y="5184647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4898" y="5532120"/>
            <a:ext cx="33018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API-First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66836" y="4983479"/>
            <a:ext cx="3667658" cy="86868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809226" y="5166359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09226" y="5184647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9716" y="5532120"/>
            <a:ext cx="33018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24/7 Support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56736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Phase 4: Advanced Charts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36047" y="571500"/>
            <a:ext cx="1298448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ScatterPlot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Calibri"/>
              </a:rPr>
              <a:t>Algorithm Performance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160520"/>
            <a:ext cx="10362895" cy="274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645920"/>
            <a:ext cx="27432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645920"/>
            <a:ext cx="18288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645920"/>
            <a:ext cx="10362895" cy="182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88003" y="1645920"/>
            <a:ext cx="18288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2286000"/>
            <a:ext cx="10362895" cy="182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645920"/>
            <a:ext cx="18288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2926080"/>
            <a:ext cx="10362895" cy="182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9451" y="1645920"/>
            <a:ext cx="18288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3566160"/>
            <a:ext cx="10362895" cy="182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60175" y="1645920"/>
            <a:ext cx="18288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4206240"/>
            <a:ext cx="10362895" cy="182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1645920"/>
            <a:ext cx="5181447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Best
(Simple &amp; Accurate)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1645920"/>
            <a:ext cx="5181447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High Effort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926080"/>
            <a:ext cx="5181447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Avoid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2926080"/>
            <a:ext cx="5181447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Feasible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1228" y="3026664"/>
            <a:ext cx="164592" cy="164592"/>
          </a:xfrm>
          <a:prstGeom prst="roundRect">
            <a:avLst>
              <a:gd name="adj" fmla="val 41666"/>
            </a:avLst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51540" y="30175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Low cost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35160" y="2066544"/>
            <a:ext cx="182880" cy="182880"/>
          </a:xfrm>
          <a:prstGeom prst="roundRect">
            <a:avLst>
              <a:gd name="adj" fmla="val 37500"/>
            </a:avLst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3760" y="20665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Best performer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76297" y="3250692"/>
            <a:ext cx="155448" cy="155448"/>
          </a:xfrm>
          <a:prstGeom prst="roundRect">
            <a:avLst>
              <a:gd name="adj" fmla="val 44117"/>
            </a:avLst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77465" y="3236976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Mid-range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965" y="2514600"/>
            <a:ext cx="164592" cy="164592"/>
          </a:xfrm>
          <a:prstGeom prst="roundRect">
            <a:avLst>
              <a:gd name="adj" fmla="val 41666"/>
            </a:avLst>
          </a:prstGeom>
          <a:solidFill>
            <a:srgbClr val="FF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69277" y="2505456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High complexity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66209" y="3767328"/>
            <a:ext cx="146304" cy="146304"/>
          </a:xfrm>
          <a:prstGeom prst="roundRect">
            <a:avLst>
              <a:gd name="adj" fmla="val 46875"/>
            </a:avLst>
          </a:prstGeom>
          <a:solidFill>
            <a:srgbClr val="96F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58233" y="3749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Simple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251959"/>
            <a:ext cx="10362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Implementation Complexity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1645920"/>
            <a:ext cx="32004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Accuracy (%)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50335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Phase 4: Hierarchical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2039" y="571500"/>
            <a:ext cx="1362456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GroupedTable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Calibri"/>
              </a:rPr>
              <a:t>Revenue by Region &amp; Country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3759098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366765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Region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16298" y="1600200"/>
            <a:ext cx="2819323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2018" y="1618488"/>
            <a:ext cx="272788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2025 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35622" y="1600200"/>
            <a:ext cx="2819323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1342" y="1618488"/>
            <a:ext cx="272788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2026 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54946" y="1600200"/>
            <a:ext cx="1879549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00666" y="1618488"/>
            <a:ext cx="178810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YoY 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92807"/>
            <a:ext cx="375909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911095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NORTH AMERICA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6298" y="1892807"/>
            <a:ext cx="2819323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2018" y="1911095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$580M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35622" y="1892807"/>
            <a:ext cx="2819323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1342" y="1911095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$715M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54946" y="1892807"/>
            <a:ext cx="1879549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00666" y="1911095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+23%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48839"/>
            <a:ext cx="3759098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167127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    USA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16298" y="2148839"/>
            <a:ext cx="2819323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62018" y="2167127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$500M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35622" y="2148839"/>
            <a:ext cx="2819323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1342" y="2167127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$620M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54946" y="2148839"/>
            <a:ext cx="1879549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0666" y="2167127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+24%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404872"/>
            <a:ext cx="3759098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423160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    Canada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16298" y="2404872"/>
            <a:ext cx="2819323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62018" y="2423160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$80M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35622" y="2404872"/>
            <a:ext cx="2819323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1342" y="2423160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$95M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54946" y="2404872"/>
            <a:ext cx="1879549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00666" y="2423160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+19%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660904"/>
            <a:ext cx="375909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2679192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SubtotalNA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16298" y="2660904"/>
            <a:ext cx="2819323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2018" y="2679192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$580M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35622" y="2660904"/>
            <a:ext cx="2819323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81342" y="2679192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$715M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54946" y="2660904"/>
            <a:ext cx="1879549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00666" y="2679192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+23%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008376"/>
            <a:ext cx="375909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3026664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EMEA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6298" y="3008376"/>
            <a:ext cx="2819323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2018" y="3026664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$350M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35622" y="3008376"/>
            <a:ext cx="2819323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81342" y="3026664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$425M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54946" y="3008376"/>
            <a:ext cx="1879549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00666" y="3026664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+21%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264408"/>
            <a:ext cx="3759098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3282696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    UK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16298" y="3264408"/>
            <a:ext cx="2819323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62018" y="3282696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$200M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35622" y="3264408"/>
            <a:ext cx="2819323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81342" y="3282696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$245M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54946" y="3264408"/>
            <a:ext cx="1879549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00666" y="3282696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+22%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3520440"/>
            <a:ext cx="3759098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3538728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    France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16298" y="3520440"/>
            <a:ext cx="2819323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62018" y="3538728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$150M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35622" y="3520440"/>
            <a:ext cx="2819323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81342" y="3538728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$180M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54946" y="3520440"/>
            <a:ext cx="1879549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00666" y="3538728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+20%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3776472"/>
            <a:ext cx="375909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3794760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SubtotalEMEA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16298" y="3776472"/>
            <a:ext cx="2819323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62018" y="3794760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$350M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35622" y="3776472"/>
            <a:ext cx="2819323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81342" y="3794760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$425M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854946" y="3776472"/>
            <a:ext cx="1879549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00666" y="3794760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+21%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4123944"/>
            <a:ext cx="375909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2920" y="4142232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APAC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16298" y="4123944"/>
            <a:ext cx="2819323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62018" y="4142232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$220M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035622" y="4123944"/>
            <a:ext cx="2819323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081342" y="4142232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$285M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854946" y="4123944"/>
            <a:ext cx="1879549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900666" y="4142232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+30%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4379976"/>
            <a:ext cx="3759098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2920" y="4398264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    India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16298" y="4379976"/>
            <a:ext cx="2819323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62018" y="4398264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$120M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035622" y="4379976"/>
            <a:ext cx="2819323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081342" y="4398264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$165M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854946" y="4379976"/>
            <a:ext cx="1879549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900666" y="4398264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+38%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4636008"/>
            <a:ext cx="3759098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2920" y="4654296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    Australia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16298" y="4636008"/>
            <a:ext cx="2819323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262018" y="4654296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$100M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35622" y="4636008"/>
            <a:ext cx="2819323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081342" y="4654296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$120M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854946" y="4636008"/>
            <a:ext cx="1879549" cy="2560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900666" y="4654296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+20%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7200" y="4892040"/>
            <a:ext cx="375909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4910328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SubtotalAPAC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216298" y="4892040"/>
            <a:ext cx="2819323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262018" y="4910328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$220M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035622" y="4892040"/>
            <a:ext cx="2819323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081342" y="4910328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$285M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854946" y="4892040"/>
            <a:ext cx="1879549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900666" y="4910328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+30%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43935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Phase 4: Chart Extensions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08031" y="571500"/>
            <a:ext cx="1426464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Donut + Radar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298448"/>
          <a:ext cx="5547207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682163" y="258775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2563EB"/>
                </a:solidFill>
                <a:latin typeface="Calibri"/>
              </a:rPr>
              <a:t>72%
Enterprise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87287" y="1298448"/>
          <a:ext cx="5547207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389120"/>
            <a:ext cx="11277295" cy="9144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389120"/>
            <a:ext cx="4572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572000"/>
            <a:ext cx="10957255" cy="548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These chart variants round out the standard chart set: DonutChart emphasizes a headline metric in the center, while RadarChart compares capability balance across multiple axes.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37534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Phase 4: Planning Views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4023" y="571500"/>
            <a:ext cx="1490472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Funnel + 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454871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 Light"/>
              </a:rPr>
              <a:t>Demand Funnel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09928"/>
            <a:ext cx="4548710" cy="720090"/>
          </a:xfrm>
          <a:prstGeom prst="roundRect">
            <a:avLst>
              <a:gd name="adj" fmla="val 2539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09928"/>
            <a:ext cx="4548710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Visitors  12,840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7786" y="2612898"/>
            <a:ext cx="1707537" cy="720090"/>
          </a:xfrm>
          <a:prstGeom prst="roundRect">
            <a:avLst>
              <a:gd name="adj" fmla="val 2539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7786" y="2612898"/>
            <a:ext cx="1707537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Qualified  4,820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5489" y="3515868"/>
            <a:ext cx="572131" cy="720090"/>
          </a:xfrm>
          <a:prstGeom prst="roundRect">
            <a:avLst>
              <a:gd name="adj" fmla="val 3196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45489" y="3515868"/>
            <a:ext cx="572131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Pipeline  1,615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8577" y="4418838"/>
            <a:ext cx="145955" cy="720090"/>
          </a:xfrm>
          <a:prstGeom prst="roundRect">
            <a:avLst>
              <a:gd name="adj" fmla="val 12529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8577" y="4418838"/>
            <a:ext cx="14595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Closed Won  412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8790" y="1298448"/>
            <a:ext cx="65457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 Light"/>
              </a:rPr>
              <a:t>Cross-Functional Delivery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0390" y="1618488"/>
            <a:ext cx="3657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Kickoff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57647" y="1828799"/>
            <a:ext cx="5486" cy="457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71036" y="1618488"/>
            <a:ext cx="3657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Wk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51173" y="1828799"/>
            <a:ext cx="5486" cy="457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4562" y="1618488"/>
            <a:ext cx="3657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Wk 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699" y="1828799"/>
            <a:ext cx="5486" cy="457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58088" y="1618488"/>
            <a:ext cx="3657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Wk 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8225" y="1828799"/>
            <a:ext cx="5486" cy="457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68735" y="1618488"/>
            <a:ext cx="3657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Launch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731752" y="1828799"/>
            <a:ext cx="5486" cy="457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8790" y="197967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60390" y="2052827"/>
            <a:ext cx="5174104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60390" y="1967102"/>
            <a:ext cx="1655713" cy="226314"/>
          </a:xfrm>
          <a:prstGeom prst="roundRect">
            <a:avLst>
              <a:gd name="adj" fmla="val 16161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5254" y="1967102"/>
            <a:ext cx="1545985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Observability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9139" y="1967102"/>
            <a:ext cx="1759195" cy="226314"/>
          </a:xfrm>
          <a:prstGeom prst="roundRect">
            <a:avLst>
              <a:gd name="adj" fmla="val 16161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4003" y="1967102"/>
            <a:ext cx="1649467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Data Contracts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75299" y="1967102"/>
            <a:ext cx="1345267" cy="226314"/>
          </a:xfrm>
          <a:prstGeom prst="roundRect">
            <a:avLst>
              <a:gd name="adj" fmla="val 16161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30163" y="1967102"/>
            <a:ext cx="1235539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Failover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8790" y="243687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Product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60390" y="2510027"/>
            <a:ext cx="5174104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974318" y="2424302"/>
            <a:ext cx="1345267" cy="226314"/>
          </a:xfrm>
          <a:prstGeom prst="roundRect">
            <a:avLst>
              <a:gd name="adj" fmla="val 16161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29182" y="2424302"/>
            <a:ext cx="1235539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Admin UX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23068" y="2424302"/>
            <a:ext cx="1397008" cy="226314"/>
          </a:xfrm>
          <a:prstGeom prst="roundRect">
            <a:avLst>
              <a:gd name="adj" fmla="val 16161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77932" y="2424302"/>
            <a:ext cx="1287280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Usage Alerts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82263" y="2424302"/>
            <a:ext cx="1293526" cy="226314"/>
          </a:xfrm>
          <a:prstGeom prst="roundRect">
            <a:avLst>
              <a:gd name="adj" fmla="val 16161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37127" y="2424302"/>
            <a:ext cx="1183798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Self-Serve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8790" y="289407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GTM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60390" y="2967227"/>
            <a:ext cx="5174104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560390" y="2881502"/>
            <a:ext cx="1138303" cy="226314"/>
          </a:xfrm>
          <a:prstGeom prst="roundRect">
            <a:avLst>
              <a:gd name="adj" fmla="val 16161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15254" y="2881502"/>
            <a:ext cx="1028575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Messaging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02175" y="2881502"/>
            <a:ext cx="1448749" cy="226314"/>
          </a:xfrm>
          <a:prstGeom prst="roundRect">
            <a:avLst>
              <a:gd name="adj" fmla="val 16161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57039" y="2881502"/>
            <a:ext cx="1339021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Pricing Test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61371" y="2881502"/>
            <a:ext cx="1241785" cy="226314"/>
          </a:xfrm>
          <a:prstGeom prst="roundRect">
            <a:avLst>
              <a:gd name="adj" fmla="val 16161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16235" y="2881502"/>
            <a:ext cx="1132057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Partner Pack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88790" y="335127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Ops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60390" y="3424427"/>
            <a:ext cx="5174104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181282" y="3338702"/>
            <a:ext cx="827856" cy="226314"/>
          </a:xfrm>
          <a:prstGeom prst="roundRect">
            <a:avLst>
              <a:gd name="adj" fmla="val 16161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36146" y="3338702"/>
            <a:ext cx="718128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SLA Review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64362" y="3338702"/>
            <a:ext cx="1345267" cy="226314"/>
          </a:xfrm>
          <a:prstGeom prst="roundRect">
            <a:avLst>
              <a:gd name="adj" fmla="val 16161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19226" y="3338702"/>
            <a:ext cx="1235539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Headcount Plan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768335" y="3338702"/>
            <a:ext cx="1345267" cy="226314"/>
          </a:xfrm>
          <a:prstGeom prst="roundRect">
            <a:avLst>
              <a:gd name="adj" fmla="val 16161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23199" y="3338702"/>
            <a:ext cx="1235539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Vendor Audit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677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Phase 5: Long-form Storytelling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45775" y="57150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Narrative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11277295" cy="4480560"/>
          </a:xfrm>
          <a:prstGeom prst="roundRect">
            <a:avLst>
              <a:gd name="adj" fmla="val 102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772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37215" y="148132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  <a:latin typeface="Calibri"/>
              </a:rPr>
              <a:t>Page 1/1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99971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 Light"/>
              </a:rPr>
              <a:t>Executive Narrative - Structured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01367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Narrative in one slide with decision support rail.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93975"/>
            <a:ext cx="7485680" cy="3502152"/>
          </a:xfrm>
          <a:prstGeom prst="roundRect">
            <a:avLst>
              <a:gd name="adj" fmla="val 7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03703"/>
            <a:ext cx="7229648" cy="3282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Q2 performance stabilized after concentration risk mitigation and onboarding process redesign. Margin expansion creates room for selective reinvestment, but service quality and migration complexity still require focused execution through Q3.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4048" y="2093975"/>
            <a:ext cx="3242974" cy="3502152"/>
          </a:xfrm>
          <a:prstGeom prst="roundRect">
            <a:avLst>
              <a:gd name="adj" fmla="val 844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3776" y="2185415"/>
            <a:ext cx="302351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Decision Lens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3776" y="2404871"/>
            <a:ext cx="3023518" cy="23114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- Protect margin gains
- Reduce support load
- Prioritize retention levers
- Tighten ownership by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3776" y="4956048"/>
            <a:ext cx="302351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Next review: validate churn trend by segment.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76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  <a:latin typeface="Calibri"/>
              </a:rPr>
              <a:t>Page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9971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 Light"/>
              </a:rPr>
              <a:t>Executive Narrative - Auto Paginated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19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Long text automatically split into multiple slides.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52728"/>
            <a:ext cx="7485680" cy="4965192"/>
          </a:xfrm>
          <a:prstGeom prst="roundRect">
            <a:avLst>
              <a:gd name="adj" fmla="val 5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362455"/>
            <a:ext cx="7229648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Q2 opened with concentrated enterprise exposure: two strategic accounts represented 28% of net new ARR and introduced procurement timing risk. The commercial team reduced dependency by improving mid-market coverage, tightening qualification standards, and rebalancing outbound sequences toward faster-velocity segments.
(continued on next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44048" y="1252728"/>
            <a:ext cx="3242974" cy="4965192"/>
          </a:xfrm>
          <a:prstGeom prst="roundRect">
            <a:avLst>
              <a:gd name="adj" fmla="val 844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3776" y="1344168"/>
            <a:ext cx="302351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Steering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3776" y="1563624"/>
            <a:ext cx="3023518" cy="32770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- Watch enterprise concentration
- Keep onboarding gains sticky
- Fund observability upgrades
- Track p95 latency weekly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3776" y="5577840"/>
            <a:ext cx="302351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Auto-generated narrative section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76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  <a:latin typeface="Calibri"/>
              </a:rPr>
              <a:t>Page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9971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 Light"/>
              </a:rPr>
              <a:t>Executive Narrative - Auto Paginated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19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Long text automatically split into multiple slides.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52728"/>
            <a:ext cx="7485680" cy="4965192"/>
          </a:xfrm>
          <a:prstGeom prst="roundRect">
            <a:avLst>
              <a:gd name="adj" fmla="val 5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362455"/>
            <a:ext cx="7229648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Execution improved in the operating model. Onboarding cycle time dropped 19% after workflow simplification and proactive implementation playbooks. At the same time, migration volume increased support load, highlighting where product instrumentation and self-service diagnostics were still too shallow.
(continued on next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44048" y="1252728"/>
            <a:ext cx="3242974" cy="4965192"/>
          </a:xfrm>
          <a:prstGeom prst="roundRect">
            <a:avLst>
              <a:gd name="adj" fmla="val 844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3776" y="1344168"/>
            <a:ext cx="302351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Steering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3776" y="1563624"/>
            <a:ext cx="3023518" cy="32770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- Watch enterprise concentration
- Keep onboarding gains sticky
- Fund observability upgrades
- Track p95 latency weekly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3776" y="5577840"/>
            <a:ext cx="302351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Auto-generated narrative section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76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  <a:latin typeface="Calibri"/>
              </a:rPr>
              <a:t>Page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9971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 Light"/>
              </a:rPr>
              <a:t>Executive Narrative - Auto Paginated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19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Long text automatically split into multiple slides.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52728"/>
            <a:ext cx="7485680" cy="4965192"/>
          </a:xfrm>
          <a:prstGeom prst="roundRect">
            <a:avLst>
              <a:gd name="adj" fmla="val 5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362455"/>
            <a:ext cx="7229648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Financially, gross margin improved by 2.3 points due to infrastructure right-sizing and contract renegotiation in third-party services. This gain is expected to partially normalize in Q3 while regional failover hardening and observability upgrades are in flight.
The second-half plan focuses on durable retention drivers, expansion motion enablement, and service-quality stabilization. Decision velocity and cross-functional accountability are now the central execution constraints, not strategy clarity.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44048" y="1252728"/>
            <a:ext cx="3242974" cy="4965192"/>
          </a:xfrm>
          <a:prstGeom prst="roundRect">
            <a:avLst>
              <a:gd name="adj" fmla="val 844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3776" y="1344168"/>
            <a:ext cx="302351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Steering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3776" y="1563624"/>
            <a:ext cx="3023518" cy="32770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- Watch enterprise concentration
- Keep onboarding gains sticky
- Fund observability upgrades
- Track p95 latency weekly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3776" y="5577840"/>
            <a:ext cx="302351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Auto-generated narrative section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8331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Theme Cascade QA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1999" y="571500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Section Overrides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5547207" cy="3474720"/>
          </a:xfrm>
          <a:prstGeom prst="roundRect">
            <a:avLst>
              <a:gd name="adj" fmla="val 1315"/>
            </a:avLst>
          </a:prstGeom>
          <a:solidFill>
            <a:srgbClr val="FFF7EA"/>
          </a:solidFill>
          <a:ln w="12700">
            <a:solidFill>
              <a:srgbClr val="C697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463039"/>
            <a:ext cx="5218023" cy="1463040"/>
          </a:xfrm>
          <a:prstGeom prst="roundRect">
            <a:avLst>
              <a:gd name="adj" fmla="val 3125"/>
            </a:avLst>
          </a:prstGeom>
          <a:solidFill>
            <a:srgbClr val="FFF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463039"/>
            <a:ext cx="45720" cy="1463040"/>
          </a:xfrm>
          <a:prstGeom prst="rect">
            <a:avLst/>
          </a:prstGeom>
          <a:solidFill>
            <a:srgbClr val="C1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45919"/>
            <a:ext cx="489798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4A2C16"/>
                </a:solidFill>
                <a:latin typeface="Calibri"/>
              </a:rPr>
              <a:t>Local theme patch: editorial warm palette.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84831"/>
            <a:ext cx="48979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6F4828"/>
                </a:solidFill>
                <a:latin typeface="Calibri"/>
              </a:rPr>
              <a:t>Warm Section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035808"/>
            <a:ext cx="5218023" cy="1371600"/>
          </a:xfrm>
          <a:prstGeom prst="roundRect">
            <a:avLst>
              <a:gd name="adj" fmla="val 3333"/>
            </a:avLst>
          </a:prstGeom>
          <a:solidFill>
            <a:srgbClr val="FFF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035808"/>
            <a:ext cx="45720" cy="1371600"/>
          </a:xfrm>
          <a:prstGeom prst="rect">
            <a:avLst/>
          </a:prstGeom>
          <a:solidFill>
            <a:srgbClr val="C1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218688"/>
            <a:ext cx="480654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447288"/>
            <a:ext cx="480654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4A2C16"/>
                </a:solidFill>
                <a:latin typeface="Calibri Light"/>
              </a:rPr>
              <a:t>94%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858768"/>
            <a:ext cx="480654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▲ +2pp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1298448"/>
            <a:ext cx="5547207" cy="3474720"/>
          </a:xfrm>
          <a:prstGeom prst="roundRect">
            <a:avLst>
              <a:gd name="adj" fmla="val 1315"/>
            </a:avLst>
          </a:prstGeom>
          <a:solidFill>
            <a:srgbClr val="E8F5FF"/>
          </a:solidFill>
          <a:ln w="12700">
            <a:solidFill>
              <a:srgbClr val="739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1879" y="1463039"/>
            <a:ext cx="5218023" cy="1463040"/>
          </a:xfrm>
          <a:prstGeom prst="roundRect">
            <a:avLst>
              <a:gd name="adj" fmla="val 3125"/>
            </a:avLst>
          </a:prstGeom>
          <a:solidFill>
            <a:srgbClr val="E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1879" y="1463039"/>
            <a:ext cx="45720" cy="1463040"/>
          </a:xfrm>
          <a:prstGeom prst="rect">
            <a:avLst/>
          </a:prstGeom>
          <a:solidFill>
            <a:srgbClr val="1A6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0479" y="1645919"/>
            <a:ext cx="489798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22B4C"/>
                </a:solidFill>
                <a:latin typeface="Calibri"/>
              </a:rPr>
              <a:t>Local theme patch: corporate blue palette.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0479" y="2084831"/>
            <a:ext cx="48979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2F4D74"/>
                </a:solidFill>
                <a:latin typeface="Calibri"/>
              </a:rPr>
              <a:t>Cool Section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1879" y="3035808"/>
            <a:ext cx="5218023" cy="1371600"/>
          </a:xfrm>
          <a:prstGeom prst="roundRect">
            <a:avLst>
              <a:gd name="adj" fmla="val 3333"/>
            </a:avLst>
          </a:prstGeom>
          <a:solidFill>
            <a:srgbClr val="E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1879" y="3035808"/>
            <a:ext cx="45720" cy="1371600"/>
          </a:xfrm>
          <a:prstGeom prst="rect">
            <a:avLst/>
          </a:prstGeom>
          <a:solidFill>
            <a:srgbClr val="1A6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0479" y="3218688"/>
            <a:ext cx="480654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UPTIME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0479" y="3447288"/>
            <a:ext cx="480654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122B4C"/>
                </a:solidFill>
                <a:latin typeface="Calibri Light"/>
              </a:rPr>
              <a:t>99.97%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0479" y="3858768"/>
            <a:ext cx="480654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▲ +0.04pp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38928"/>
            <a:ext cx="11277295" cy="960120"/>
          </a:xfrm>
          <a:prstGeom prst="roundRect">
            <a:avLst>
              <a:gd name="adj" fmla="val 4761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138928"/>
            <a:ext cx="45720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321808"/>
            <a:ext cx="10957255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Both cards inherit the slide theme, then apply container-scoped token patches. Use this slide to check contrast, spacing, and callout consistency across local overrides.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