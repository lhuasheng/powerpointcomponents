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Mix (Donut)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  <c:spPr>
    <a:noFill/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Capability Scorecard</a:t>
            </a:r>
          </a:p>
        </c:rich>
      </c:tx>
      <c:layout/>
      <c:overlay val="0"/>
    </c:title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cat>
            <c:strRef>
              <c:f>Sheet1!$A$2:$A$6</c:f>
              <c:strCache>
                <c:ptCount val="5"/>
                <c:pt idx="0">
                  <c:v>Reliability</c:v>
                </c:pt>
                <c:pt idx="1">
                  <c:v>Usability</c:v>
                </c:pt>
                <c:pt idx="2">
                  <c:v>Security</c:v>
                </c:pt>
                <c:pt idx="3">
                  <c:v>Performance</c:v>
                </c:pt>
                <c:pt idx="4">
                  <c:v>Extensibility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82</c:v>
                </c:pt>
                <c:pt idx="2">
                  <c:v>88</c:v>
                </c:pt>
                <c:pt idx="3">
                  <c:v>75</c:v>
                </c:pt>
                <c:pt idx="4">
                  <c:v>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cat>
            <c:strRef>
              <c:f>Sheet1!$A$2:$A$6</c:f>
              <c:strCache>
                <c:ptCount val="5"/>
                <c:pt idx="0">
                  <c:v>Reliability</c:v>
                </c:pt>
                <c:pt idx="1">
                  <c:v>Usability</c:v>
                </c:pt>
                <c:pt idx="2">
                  <c:v>Security</c:v>
                </c:pt>
                <c:pt idx="3">
                  <c:v>Performance</c:v>
                </c:pt>
                <c:pt idx="4">
                  <c:v>Extensibility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</c:v>
                </c:pt>
                <c:pt idx="1">
                  <c:v>86</c:v>
                </c:pt>
                <c:pt idx="2">
                  <c:v>92</c:v>
                </c:pt>
                <c:pt idx="3">
                  <c:v>84</c:v>
                </c:pt>
                <c:pt idx="4">
                  <c:v>80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numFmt formatCode="m/d/yy" sourceLinked="1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073612648"/>
        <c:crosses val="autoZero"/>
        <c:crossBetween val="between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E40AF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2400E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6653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91B1B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334155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91B1B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4393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8031" y="571500"/>
            <a:ext cx="1426464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SparklineCard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36576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NET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+18%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551176"/>
            <a:ext cx="497992" cy="2743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92936" y="2511817"/>
            <a:ext cx="497992" cy="6679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09216" y="2456157"/>
            <a:ext cx="497992" cy="12245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25497" y="2322576"/>
            <a:ext cx="497992" cy="256031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1777" y="2222389"/>
            <a:ext cx="497992" cy="35621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8058" y="2066544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77258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7258" y="1298448"/>
            <a:ext cx="36576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6714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6714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6714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+12%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96714" y="2551176"/>
            <a:ext cx="497992" cy="2743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2994" y="2476195"/>
            <a:ext cx="497992" cy="10241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9275" y="2373782"/>
            <a:ext cx="497992" cy="204825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45555" y="2271369"/>
            <a:ext cx="497992" cy="30723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61835" y="2168956"/>
            <a:ext cx="497992" cy="409651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78116" y="2066544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97316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7316" y="1298448"/>
            <a:ext cx="36576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6772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WIN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6772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6772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6772" y="2551176"/>
            <a:ext cx="497992" cy="2743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33053" y="2450592"/>
            <a:ext cx="497992" cy="128015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49333" y="2322576"/>
            <a:ext cx="497992" cy="256031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65613" y="2194560"/>
            <a:ext cx="497992" cy="384047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381894" y="2194560"/>
            <a:ext cx="497992" cy="384047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8174" y="2066544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108960"/>
            <a:ext cx="36576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TICKET BACKLOG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-21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" y="3877056"/>
            <a:ext cx="497992" cy="512063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92936" y="3998976"/>
            <a:ext cx="497992" cy="390143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09216" y="4096512"/>
            <a:ext cx="497992" cy="292607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25497" y="4218432"/>
            <a:ext cx="497992" cy="170687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1777" y="4315968"/>
            <a:ext cx="497992" cy="73151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58058" y="4361688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77258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77258" y="3108960"/>
            <a:ext cx="36576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6714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ACTIVATION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6714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68%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6714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+7pp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96714" y="4361688"/>
            <a:ext cx="497992" cy="2743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2994" y="4270951"/>
            <a:ext cx="497992" cy="11816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9275" y="4192172"/>
            <a:ext cx="497992" cy="196947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45555" y="4074003"/>
            <a:ext cx="497992" cy="315116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61835" y="3955835"/>
            <a:ext cx="497992" cy="433284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78116" y="3877056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097316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97316" y="3108960"/>
            <a:ext cx="36576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16772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CLOUD SPEND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16772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$184K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6772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-3%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16772" y="4361688"/>
            <a:ext cx="497992" cy="2743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833053" y="4227415"/>
            <a:ext cx="497992" cy="161704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349333" y="4092661"/>
            <a:ext cx="497992" cy="29645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65613" y="3877056"/>
            <a:ext cx="497992" cy="512063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81894" y="3957908"/>
            <a:ext cx="497992" cy="431211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898174" y="4011809"/>
            <a:ext cx="497992" cy="37731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57200" y="4937760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7200" y="4937760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" y="5120640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SparklineCard combines a primary KPI, change signal, and compact trend view in one surface. Use it when a standard metric card is too static for dashboard storytelling.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5C8A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A7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86A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2BC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B4C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78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98B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E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07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D5E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BC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CBD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40AF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2400E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Real-time 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Enterprise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Rich Analytics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Global Scale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API-First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24/7 Support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0F172A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0F172A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4393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Chart Extensions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8031" y="571500"/>
            <a:ext cx="1426464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Donut + Radar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298448"/>
          <a:ext cx="5547207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2163" y="2587752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2563EB"/>
                </a:solidFill>
                <a:latin typeface="Calibri"/>
              </a:rPr>
              <a:t>72%
Enterprise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87287" y="1298448"/>
          <a:ext cx="5547207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389120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389120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These chart variants round out the standard chart set: DonutChart emphasizes a headline metric in the center, while RadarChart compares capability balance across multiple axes.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Planning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Funnel + Gantt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454871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Demand Funnel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09928"/>
            <a:ext cx="4548710" cy="720090"/>
          </a:xfrm>
          <a:prstGeom prst="roundRect">
            <a:avLst>
              <a:gd name="adj" fmla="val 2539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09928"/>
            <a:ext cx="4548710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Visitors  12,840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7786" y="2612898"/>
            <a:ext cx="1707537" cy="720090"/>
          </a:xfrm>
          <a:prstGeom prst="roundRect">
            <a:avLst>
              <a:gd name="adj" fmla="val 2539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7786" y="2612898"/>
            <a:ext cx="1707537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Qualified  4,820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5489" y="3515868"/>
            <a:ext cx="572131" cy="720090"/>
          </a:xfrm>
          <a:prstGeom prst="roundRect">
            <a:avLst>
              <a:gd name="adj" fmla="val 3196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5489" y="3515868"/>
            <a:ext cx="572131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Pipeline  1,615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8577" y="4418838"/>
            <a:ext cx="145955" cy="720090"/>
          </a:xfrm>
          <a:prstGeom prst="roundRect">
            <a:avLst>
              <a:gd name="adj" fmla="val 12529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8577" y="4418838"/>
            <a:ext cx="145955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Closed Won  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90" y="1298448"/>
            <a:ext cx="65457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Cross-Functional Delivery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0390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Kickoff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7647" y="1828799"/>
            <a:ext cx="5486" cy="45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71036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Wk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173" y="1828799"/>
            <a:ext cx="5486" cy="45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4562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Wk 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699" y="1828799"/>
            <a:ext cx="5486" cy="45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8088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Wk 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38225" y="1828799"/>
            <a:ext cx="5486" cy="45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68735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1828799"/>
            <a:ext cx="5486" cy="45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8790" y="19796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Platform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60390" y="2052827"/>
            <a:ext cx="5174104" cy="548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0390" y="1967102"/>
            <a:ext cx="1655713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5254" y="1967102"/>
            <a:ext cx="1545985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Observability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9139" y="1967102"/>
            <a:ext cx="1759195" cy="226314"/>
          </a:xfrm>
          <a:prstGeom prst="roundRect">
            <a:avLst>
              <a:gd name="adj" fmla="val 16161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4003" y="1967102"/>
            <a:ext cx="1649467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Data Contracts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75299" y="19671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0163" y="19671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Failover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8790" y="24368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Product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0390" y="2510027"/>
            <a:ext cx="5174104" cy="548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74318" y="24243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9182" y="24243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Admin 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23068" y="2424302"/>
            <a:ext cx="1397008" cy="226314"/>
          </a:xfrm>
          <a:prstGeom prst="roundRect">
            <a:avLst>
              <a:gd name="adj" fmla="val 16161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7932" y="2424302"/>
            <a:ext cx="1287280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Usage Alerts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82263" y="2424302"/>
            <a:ext cx="1293526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37127" y="2424302"/>
            <a:ext cx="1183798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Self-Serve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8790" y="28940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60390" y="2967227"/>
            <a:ext cx="5174104" cy="548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60390" y="2881502"/>
            <a:ext cx="1138303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5254" y="2881502"/>
            <a:ext cx="1028575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Messaging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02175" y="2881502"/>
            <a:ext cx="1448749" cy="226314"/>
          </a:xfrm>
          <a:prstGeom prst="roundRect">
            <a:avLst>
              <a:gd name="adj" fmla="val 16161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57039" y="2881502"/>
            <a:ext cx="1339021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Pricing Test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61371" y="2881502"/>
            <a:ext cx="1241785" cy="226314"/>
          </a:xfrm>
          <a:prstGeom prst="roundRect">
            <a:avLst>
              <a:gd name="adj" fmla="val 16161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16235" y="2881502"/>
            <a:ext cx="1132057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Partner Pack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8790" y="33512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60390" y="3424427"/>
            <a:ext cx="5174104" cy="548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181282" y="3338702"/>
            <a:ext cx="827856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6146" y="3338702"/>
            <a:ext cx="718128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SLA Review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64362" y="33387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19226" y="33387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Headcount Plan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68335" y="33387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23199" y="33387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Vendor Audit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5: Long-form Storytelling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Narrative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77295" cy="4480560"/>
          </a:xfrm>
          <a:prstGeom prst="roundRect">
            <a:avLst>
              <a:gd name="adj" fmla="val 102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148132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1/1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Structured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1367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Narrative in one slide with decision support 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93975"/>
            <a:ext cx="7485680" cy="3502152"/>
          </a:xfrm>
          <a:prstGeom prst="roundRect">
            <a:avLst>
              <a:gd name="adj" fmla="val 7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203703"/>
            <a:ext cx="7229648" cy="3282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performance stabilized after concentration risk mitigation and onboarding process redesign. Margin expansion creates room for selective reinvestment, but service quality and migration complexity still require focused execution through Q3.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4048" y="2093975"/>
            <a:ext cx="3242974" cy="350215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776" y="2185415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Decision Lens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776" y="2404871"/>
            <a:ext cx="3023518" cy="2311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Protect margin gains
- Reduce support load
- Prioritize retention levers
- Tighten ownership by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776" y="4956048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Next review: validate churn trend by segment.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opened with concentrated enterprise exposure: two strategic accounts represented 28% of net new ARR and introduced procurement timing risk. The commercial team reduced dependency by improving mid-market coverage, tightening qualification standards, and rebalancing outbound sequences toward faster-velocity segments.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Execution improved in the operating model. Onboarding cycle time dropped 19% after workflow simplification and proactive implementation playbooks. At the same time, migration volume increased support load, highlighting where product instrumentation and self-service diagnostics were still too shallow.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Financially, gross margin improved by 2.3 points due to infrastructure right-sizing and contract renegotiation in third-party services. This gain is expected to partially normalize in Q3 while regional failover hardening and observability upgrades are in flight.
The second-half plan focuses on durable retention drivers, expansion motion enablement, and service-quality stabilization. Decision velocity and cross-functional accountability are now the central execution constraints, not strategy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8331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Theme Cascade QA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1999" y="571500"/>
            <a:ext cx="168249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Overrides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FFF7EA"/>
          </a:solidFill>
          <a:ln w="12700">
            <a:solidFill>
              <a:srgbClr val="C697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463039"/>
            <a:ext cx="45720" cy="146304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4A2C16"/>
                </a:solidFill>
                <a:latin typeface="Calibri"/>
              </a:rPr>
              <a:t>Local theme patch: editorial warm palette.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F4828"/>
                </a:solidFill>
                <a:latin typeface="Calibri"/>
              </a:rPr>
              <a:t>Warm Section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3035808"/>
            <a:ext cx="45720" cy="137160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4A2C16"/>
                </a:solidFill>
                <a:latin typeface="Calibri Light"/>
              </a:rPr>
              <a:t>94%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+2pp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E8F5FF"/>
          </a:solidFill>
          <a:ln w="12700">
            <a:solidFill>
              <a:srgbClr val="739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1879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1879" y="1463039"/>
            <a:ext cx="45720" cy="146304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0479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22B4C"/>
                </a:solidFill>
                <a:latin typeface="Calibri"/>
              </a:rPr>
              <a:t>Local theme patch: corporate blue palette.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0479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F4D74"/>
                </a:solidFill>
                <a:latin typeface="Calibri"/>
              </a:rPr>
              <a:t>Cool Section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1879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1879" y="3035808"/>
            <a:ext cx="45720" cy="137160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0479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0479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22B4C"/>
                </a:solidFill>
                <a:latin typeface="Calibri Light"/>
              </a:rPr>
              <a:t>99.97%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0479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+0.04pp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38928"/>
            <a:ext cx="11277295" cy="960120"/>
          </a:xfrm>
          <a:prstGeom prst="roundRect">
            <a:avLst>
              <a:gd name="adj" fmla="val 4761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38928"/>
            <a:ext cx="4572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957255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Both cards inherit the slide theme, then apply container-scoped token patches. Use this slide to check contrast, spacing, and callout consistency across local overrides.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