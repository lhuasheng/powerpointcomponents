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Revenue vs Target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 ($K)</c:v>
                </c:pt>
              </c:strCache>
            </c:strRef>
          </c:tx>
          <c:spPr>
            <a:ln w="31750">
              <a:solidFill>
                <a:srgbClr val="3B82F6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320</c:v>
                </c:pt>
                <c:pt idx="1">
                  <c:v>380</c:v>
                </c:pt>
                <c:pt idx="2">
                  <c:v>410</c:v>
                </c:pt>
                <c:pt idx="3">
                  <c:v>470</c:v>
                </c:pt>
                <c:pt idx="4">
                  <c:v>510</c:v>
                </c:pt>
                <c:pt idx="5">
                  <c:v>580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 ($K)</c:v>
                </c:pt>
              </c:strCache>
            </c:strRef>
          </c:tx>
          <c:spPr>
            <a:ln w="31750">
              <a:solidFill>
                <a:srgbClr val="2563EB"/>
              </a:solidFill>
            </a:ln>
          </c:spPr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350</c:v>
                </c:pt>
                <c:pt idx="1">
                  <c:v>380</c:v>
                </c:pt>
                <c:pt idx="2">
                  <c:v>400</c:v>
                </c:pt>
                <c:pt idx="3">
                  <c:v>450</c:v>
                </c:pt>
                <c:pt idx="4">
                  <c:v>490</c:v>
                </c:pt>
                <c:pt idx="5">
                  <c:v>550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2118791784"/>
        <c:crosses val="autoZero"/>
      </c:valAx>
      <c:spPr>
        <a:noFill/>
      </c:spPr>
    </c:plotArea>
    <c:legend>
      <c:legendPos val="r"/>
      <c:layout/>
      <c:overlay val="0"/>
      <c:txPr>
        <a:bodyPr/>
        <a:lstStyle/>
        <a:p>
          <a:pPr>
            <a:defRPr sz="1100">
              <a:solidFill>
                <a:srgbClr val="CBD5E1"/>
              </a:solidFill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Revenue by Region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dPt>
            <c:idx val="0"/>
            <c:spPr>
              <a:solidFill>
                <a:srgbClr val="3B82F6"/>
              </a:solidFill>
            </c:spPr>
          </c:dPt>
          <c:dPt>
            <c:idx val="1"/>
            <c:spPr>
              <a:solidFill>
                <a:srgbClr val="10B981"/>
              </a:solidFill>
            </c:spPr>
          </c:dPt>
          <c:dPt>
            <c:idx val="2"/>
            <c:spPr>
              <a:solidFill>
                <a:srgbClr val="F97316"/>
              </a:solidFill>
            </c:spPr>
          </c:dPt>
          <c:dPt>
            <c:idx val="3"/>
            <c:spPr>
              <a:solidFill>
                <a:srgbClr val="8B5CF6"/>
              </a:solidFill>
            </c:spPr>
          </c:dPt>
          <c:cat>
            <c:strRef>
              <c:f>Sheet1!$A$2:$A$5</c:f>
              <c:strCache>
                <c:ptCount val="4"/>
                <c:pt idx="0">
                  <c:v>APAC</c:v>
                </c:pt>
                <c:pt idx="1">
                  <c:v>EMEA</c:v>
                </c:pt>
                <c:pt idx="2">
                  <c:v>Americas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38</c:v>
                </c:pt>
                <c:pt idx="1">
                  <c:v>27</c:v>
                </c:pt>
                <c:pt idx="2">
                  <c:v>30</c:v>
                </c:pt>
                <c:pt idx="3">
                  <c:v>5</c:v>
                </c:pt>
              </c:numCache>
            </c:numRef>
          </c:val>
        </c:ser>
      </c:pieChart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Monthly Recurring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MRR ($K)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90</c:v>
                </c:pt>
                <c:pt idx="1">
                  <c:v>98</c:v>
                </c:pt>
                <c:pt idx="2">
                  <c:v>105</c:v>
                </c:pt>
                <c:pt idx="3">
                  <c:v>112</c:v>
                </c:pt>
                <c:pt idx="4">
                  <c:v>120</c:v>
                </c:pt>
                <c:pt idx="5">
                  <c:v>128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2000">
                <a:solidFill>
                  <a:srgbClr val="F8FAFC"/>
                </a:solidFill>
                <a:latin typeface="Calibri"/>
              </a:rPr>
              <a:t>Evaluation Snapshot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Delivery Speed</c:v>
                </c:pt>
              </c:strCache>
            </c:strRef>
          </c:tx>
          <c:spPr>
            <a:solidFill>
              <a:srgbClr val="3B82F6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85</c:v>
                </c:pt>
                <c:pt idx="2">
                  <c:v>75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Flexibility</c:v>
                </c:pt>
              </c:strCache>
            </c:strRef>
          </c:tx>
          <c:spPr>
            <a:solidFill>
              <a:srgbClr val="2563E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Build</c:v>
                </c:pt>
                <c:pt idx="1">
                  <c:v>Buy</c:v>
                </c:pt>
                <c:pt idx="2">
                  <c:v>Hybrid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92</c:v>
                </c:pt>
                <c:pt idx="1">
                  <c:v>60</c:v>
                </c:pt>
                <c:pt idx="2">
                  <c:v>80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334155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4155"/>
            </a:solidFill>
          </a:ln>
        </c:spPr>
        <c:txPr>
          <a:bodyPr/>
          <a:lstStyle/>
          <a:p>
            <a:pPr>
              <a:defRPr sz="1100">
                <a:solidFill>
                  <a:srgbClr val="CBD5E1"/>
                </a:solidFill>
                <a:latin typeface="Calibri"/>
              </a:defRPr>
            </a:pPr>
          </a:p>
        </c:txPr>
        <c:crossAx val="-2068027336"/>
        <c:crosses val="autoZero"/>
      </c:valAx>
      <c:spPr>
        <a:noFill/>
      </c:spPr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  <c:spPr>
    <a:noFill/>
  </c:spPr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Q2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Performance metrics, trends, and outlook — June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11679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011679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Key Highlights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72039" y="2125979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CONFIDENTIAL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92608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292608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Executive Summary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Performance KPIs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Q2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REVENUE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$1.28M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+18%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7258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77258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05858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ACTIVE USERS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05858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24,370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5858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+7%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97316" y="132588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97316" y="132588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5916" y="150876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CHURN RATE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5916" y="173736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3.2%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5916" y="214884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+0.4pp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98.7%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System Uptime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30-day rolling average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7258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4.2s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77258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Avg Response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77258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p95 latency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7316" y="3337560"/>
            <a:ext cx="3637178" cy="685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4000" b="1" i="0">
                <a:solidFill>
                  <a:srgbClr val="3B82F6"/>
                </a:solidFill>
                <a:latin typeface="Calibri Light"/>
              </a:rPr>
              <a:t>$42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41148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2000" b="0" i="0">
                <a:solidFill>
                  <a:srgbClr val="CBD5E1"/>
                </a:solidFill>
                <a:latin typeface="Calibri"/>
              </a:rPr>
              <a:t>CAC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97316" y="457200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Customer acquisition cost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Product Revenue Breakdown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412583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Product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58303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Q1 Revenue</a:t>
            </a:r>
          </a:p>
        </p:txBody>
      </p:sp>
      <p:sp>
        <p:nvSpPr>
          <p:cNvPr id="6" name="Rectangle 5"/>
          <p:cNvSpPr/>
          <p:nvPr/>
        </p:nvSpPr>
        <p:spPr>
          <a:xfrm>
            <a:off x="6645959" y="1280160"/>
            <a:ext cx="206291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Q2 Revenue</a:t>
            </a:r>
          </a:p>
        </p:txBody>
      </p:sp>
      <p:sp>
        <p:nvSpPr>
          <p:cNvPr id="7" name="Rectangle 6"/>
          <p:cNvSpPr/>
          <p:nvPr/>
        </p:nvSpPr>
        <p:spPr>
          <a:xfrm>
            <a:off x="8708879" y="1280160"/>
            <a:ext cx="1375279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84159" y="1280160"/>
            <a:ext cx="1650335" cy="3200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Status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Alpha Suite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8303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$420K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45959" y="160020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$510K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708879" y="160020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84159" y="160020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2024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Beta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8303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$280K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45959" y="192024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$295K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08879" y="192024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+5%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084159" y="192024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At risk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24028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Gamma API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8303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$190K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45959" y="224028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$240K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708879" y="224028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+26%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84159" y="224028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2560320"/>
            <a:ext cx="412583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Delta Service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8303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$95K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5959" y="2560320"/>
            <a:ext cx="206291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$88K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08879" y="2560320"/>
            <a:ext cx="1375279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-7%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084159" y="2560320"/>
            <a:ext cx="1650335" cy="32004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Behind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2880360"/>
            <a:ext cx="412583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Epsilon SDK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8303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$60K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645959" y="2880360"/>
            <a:ext cx="206291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$75K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08879" y="2880360"/>
            <a:ext cx="1375279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+25%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84159" y="2880360"/>
            <a:ext cx="1650335" cy="3200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82880" tIns="91440" bIns="91440"/>
          <a:lstStyle/>
          <a:p>
            <a:pPr algn="l"/>
            <a:r>
              <a:rPr sz="1400" b="0">
                <a:solidFill>
                  <a:srgbClr val="F8FAFC"/>
                </a:solidFill>
                <a:latin typeface="Calibri"/>
              </a:rPr>
              <a:t>On track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Revenue Trend Analysis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57200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187287" y="1280160"/>
          <a:ext cx="5547207" cy="25603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4160520"/>
          <a:ext cx="11277295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Roadmap &amp;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562356" y="177393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Redesign onboarding flow</a:t>
            </a:r>
          </a:p>
        </p:txBody>
      </p:sp>
      <p:sp>
        <p:nvSpPr>
          <p:cNvPr id="7" name="Rectangle 6"/>
          <p:cNvSpPr/>
          <p:nvPr/>
        </p:nvSpPr>
        <p:spPr>
          <a:xfrm>
            <a:off x="562356" y="209397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Launch mobile app v2</a:t>
            </a:r>
          </a:p>
        </p:txBody>
      </p:sp>
      <p:sp>
        <p:nvSpPr>
          <p:cNvPr id="9" name="Rectangle 8"/>
          <p:cNvSpPr/>
          <p:nvPr/>
        </p:nvSpPr>
        <p:spPr>
          <a:xfrm>
            <a:off x="562356" y="241401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Integrate SSO providers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2356" y="2734056"/>
            <a:ext cx="64008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Expand API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77258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Priorities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77258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1.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1578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Define OKRs for H2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77258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1578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Security audit complete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7258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3.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51578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Migrate to GCP Cloud Run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7258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400" b="1" i="0">
                <a:solidFill>
                  <a:srgbClr val="3B82F6"/>
                </a:solidFill>
                <a:latin typeface="Calibri"/>
              </a:rPr>
              <a:t>4.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1578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Enable A/B testing framework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7316" y="1280160"/>
            <a:ext cx="363717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97316" y="164592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71636" y="164592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Deploy rate limiting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97316" y="196596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196596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Fix dashboard load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97316" y="228600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22C55E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71636" y="228600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1">
                <a:solidFill>
                  <a:srgbClr val="94A3B8"/>
                </a:solidFill>
                <a:latin typeface="Calibri"/>
              </a:rPr>
              <a:t>Update privacy policy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7316" y="260604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71636" y="260604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Archive legacy endpoints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7316" y="2926080"/>
            <a:ext cx="27432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1636" y="2926080"/>
            <a:ext cx="3362858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Notify affected users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10486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Notices &amp; Insights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32588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94944" y="132588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INFO  Database migration scheduled for July 4 — expect 2 min downtime.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19456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19456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94944" y="219456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BEB"/>
                </a:solidFill>
                <a:latin typeface="Calibri"/>
              </a:rPr>
              <a:t>⚠  WARNING  Churn has increased 0.4pp — review retention playbook this sprint.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63239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063239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94944" y="3063239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0FDF4"/>
                </a:solidFill>
                <a:latin typeface="Calibri"/>
              </a:rPr>
              <a:t>✓  SUCCESS  Uptime target of 99.5% achieved for third consecutive month.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931920"/>
            <a:ext cx="11277295" cy="685800"/>
          </a:xfrm>
          <a:prstGeom prst="roundRect">
            <a:avLst>
              <a:gd name="adj" fmla="val 5333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931920"/>
            <a:ext cx="54864" cy="6858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4944" y="3931920"/>
            <a:ext cx="10948111" cy="6858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/>
            <a:r>
              <a:rPr sz="1400" b="0" i="0">
                <a:solidFill>
                  <a:srgbClr val="FFF1F2"/>
                </a:solidFill>
                <a:latin typeface="Calibri"/>
              </a:rPr>
              <a:t>✕  ERROR  Payment gateway timeout rate exceeded SLA threshold on June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37760"/>
            <a:ext cx="11277295" cy="1188720"/>
          </a:xfrm>
          <a:prstGeom prst="roundRect">
            <a:avLst>
              <a:gd name="adj" fmla="val 3846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937760"/>
            <a:ext cx="54864" cy="118872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6384" y="5212080"/>
            <a:ext cx="1067379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1">
                <a:solidFill>
                  <a:srgbClr val="CBD5E1"/>
                </a:solidFill>
                <a:latin typeface="Calibri Light"/>
              </a:rPr>
              <a:t>“The goal is not to build more features — it's to make existing ones indispensable.”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6384" y="5760720"/>
            <a:ext cx="10673791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— Product Review, May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677095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Sprint Progress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45775" y="571500"/>
            <a:ext cx="1188720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Week 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Authentication service migration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13716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85%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6916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691640"/>
            <a:ext cx="9585700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574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API v3 rollout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77295" y="20574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62%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774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2377440"/>
            <a:ext cx="6991923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7432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Data warehouse rebuild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7295" y="27432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40%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632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" y="3063240"/>
            <a:ext cx="451091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4290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Mobile parity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34290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91%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49039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3749039"/>
            <a:ext cx="10262338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114800"/>
            <a:ext cx="10820095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Legacy cleanup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4114800"/>
            <a:ext cx="4572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 i="0">
                <a:solidFill>
                  <a:srgbClr val="3B82F6"/>
                </a:solidFill>
                <a:latin typeface="Calibri"/>
              </a:rPr>
              <a:t>20%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434840"/>
            <a:ext cx="11277295" cy="16459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4434840"/>
            <a:ext cx="2255459" cy="16459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1249641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Operational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685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BEB"/>
                </a:solidFill>
                <a:latin typeface="Calibri"/>
              </a:rPr>
              <a:t>Degraded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979729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1F2"/>
                </a:solidFill>
                <a:latin typeface="Calibri"/>
              </a:rPr>
              <a:t>Outage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844773" y="502920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0FDF4"/>
                </a:solidFill>
                <a:latin typeface="Calibri"/>
              </a:rPr>
              <a:t>Healthy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11277295" cy="6400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612648"/>
            <a:ext cx="11277295" cy="7040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4000" b="1" i="0">
                <a:solidFill>
                  <a:srgbClr val="F8FAFC"/>
                </a:solidFill>
                <a:latin typeface="Calibri Light"/>
              </a:rPr>
              <a:t>Executive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16736"/>
            <a:ext cx="11277295" cy="420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0" i="0">
                <a:solidFill>
                  <a:srgbClr val="CBD5E1"/>
                </a:solidFill>
                <a:latin typeface="Calibri Light"/>
              </a:rPr>
              <a:t>Composite layout — all components composed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MRR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$128K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22243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22243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0843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72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0843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+4pts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7287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87287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5887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CAC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5887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5887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52331" y="2011679"/>
            <a:ext cx="2682163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331" y="2011679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80931" y="219456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LTV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80931" y="2423160"/>
            <a:ext cx="227068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$890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2834640"/>
            <a:ext cx="2270683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457200" y="3657599"/>
          <a:ext cx="11277295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9503359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React Pattern Adaptations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72039" y="571500"/>
            <a:ext cx="1362456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Tabs + Steps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2588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TabsPanel (inspired by Radix/shadcn Tabs)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Overview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31387" y="2011680"/>
            <a:ext cx="2709595" cy="27432"/>
          </a:xfrm>
          <a:prstGeom prst="roundRect">
            <a:avLst>
              <a:gd name="adj" fmla="val 33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76523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1" i="0">
                <a:solidFill>
                  <a:srgbClr val="F8FAFC"/>
                </a:solidFill>
                <a:latin typeface="Calibri"/>
              </a:rPr>
              <a:t>Analytics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5847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Risks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5171" y="1645919"/>
            <a:ext cx="2819323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94A3B8"/>
                </a:solidFill>
                <a:latin typeface="Calibri"/>
              </a:rPr>
              <a:t>Decisions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57400"/>
            <a:ext cx="11277295" cy="1005839"/>
          </a:xfrm>
          <a:prstGeom prst="roundRect">
            <a:avLst>
              <a:gd name="adj" fmla="val 4545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10911535" cy="64007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CBD5E1"/>
                </a:solidFill>
                <a:latin typeface="Calibri"/>
              </a:rPr>
              <a:t>Q2 analytics summary: Revenue is up 18% YoY, activation improved by 6%, and churn remains above target in two enterprise segments.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47472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StepFlow (inspired by Ant Design Steps)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95979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23863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951747" y="3982943"/>
            <a:ext cx="2471851" cy="27432"/>
          </a:xfrm>
          <a:prstGeom prst="roundRect">
            <a:avLst>
              <a:gd name="adj" fmla="val 33333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12063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2063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0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Discovery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9947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39947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27883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Prototype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967831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67831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0F172A"/>
                </a:solidFill>
                <a:latin typeface="Calibri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55767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Validation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95715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95715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651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Launch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423599" y="3868643"/>
            <a:ext cx="256032" cy="256032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23599" y="3877787"/>
            <a:ext cx="256032" cy="2377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4251959"/>
            <a:ext cx="1280160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94A3B8"/>
                </a:solidFill>
                <a:latin typeface="Calibri"/>
              </a:rPr>
              <a:t>Scale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735263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1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603943" y="571500"/>
            <a:ext cx="2130552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Image + Legend + KPIGrid</a:t>
            </a:r>
          </a:p>
        </p:txBody>
      </p:sp>
      <p:pic>
        <p:nvPicPr>
          <p:cNvPr id="5" name="Picture 4" descr="slide_0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586" y="1280160"/>
            <a:ext cx="4226560" cy="2377440"/>
          </a:xfrm>
          <a:prstGeom prst="rect">
            <a:avLst/>
          </a:prstGeom>
          <a:ln w="12700">
            <a:solidFill>
              <a:srgbClr val="94A3B8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467412" y="1280160"/>
            <a:ext cx="4267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Region Color Legend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67412" y="1682496"/>
            <a:ext cx="109728" cy="109728"/>
          </a:xfrm>
          <a:prstGeom prst="roundRect">
            <a:avLst>
              <a:gd name="adj" fmla="val 8333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68580" y="1600200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APAC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67412" y="195681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68580" y="187451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EMEA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67412" y="223113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8580" y="214883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Americas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67412" y="2505455"/>
            <a:ext cx="109728" cy="109728"/>
          </a:xfrm>
          <a:prstGeom prst="roundRect">
            <a:avLst>
              <a:gd name="adj" fmla="val 8333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68580" y="2423159"/>
            <a:ext cx="4065914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0" i="0">
                <a:solidFill>
                  <a:srgbClr val="F8FAFC"/>
                </a:solidFill>
                <a:latin typeface="Calibri"/>
              </a:rPr>
              <a:t>Other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NEW LEADS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1,284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+9%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77258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77258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05858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CONVERSION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05858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14.2%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05858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+1.1pp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97316" y="397764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97316" y="397764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5916" y="416052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PIPELINE VALUE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5916" y="438912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$3.4M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5916" y="48006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+6%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WIN 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31%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  <a:latin typeface="Calibri"/>
              </a:rPr>
              <a:t>▼ -2pp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7258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77258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05858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SALES CYCLE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05858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27 days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05858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-3 days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097316" y="5532120"/>
            <a:ext cx="3637178" cy="1371600"/>
          </a:xfrm>
          <a:prstGeom prst="roundRect">
            <a:avLst>
              <a:gd name="adj" fmla="val 3333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97316" y="5532120"/>
            <a:ext cx="45720" cy="13716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325916" y="571500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94A3B8"/>
                </a:solidFill>
                <a:latin typeface="Calibri"/>
              </a:rPr>
              <a:t>UPSELL MRR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5916" y="5943600"/>
            <a:ext cx="3225698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$48K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5916" y="6355080"/>
            <a:ext cx="322569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  <a:latin typeface="Calibri"/>
              </a:rPr>
              <a:t>▲ +12%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45720" cy="54864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8927287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800" b="1" i="0">
                <a:solidFill>
                  <a:srgbClr val="F8FAFC"/>
                </a:solidFill>
                <a:latin typeface="Calibri Light"/>
              </a:rPr>
              <a:t>Phase 2 Additions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795967" y="571500"/>
            <a:ext cx="1938528" cy="32004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Timeline +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Program Roadmap (MUI Timeline inspired)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18004"/>
            <a:ext cx="10911535" cy="18288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48640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-137160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-137160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Discovery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76523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90723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90723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F8FAFC"/>
                </a:solidFill>
                <a:latin typeface="Calibri"/>
              </a:rPr>
              <a:t>Pilot Launch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04407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18607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8607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F8FAFC"/>
                </a:solidFill>
                <a:latin typeface="Calibri"/>
              </a:rPr>
              <a:t>Enterprise Rollout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32291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491" y="2436876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491" y="261975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Automation Phase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60175" y="2235708"/>
            <a:ext cx="182880" cy="182880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74375" y="1760219"/>
            <a:ext cx="1554480" cy="1828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1" i="0">
                <a:solidFill>
                  <a:srgbClr val="94A3B8"/>
                </a:solidFill>
                <a:latin typeface="Calibri"/>
              </a:rPr>
              <a:t>Q1 '27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74375" y="194310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100" b="0" i="0">
                <a:solidFill>
                  <a:srgbClr val="CBD5E1"/>
                </a:solidFill>
                <a:latin typeface="Calibri"/>
              </a:rPr>
              <a:t>Scale + Expansion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291840"/>
            <a:ext cx="6566082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 i="0">
                <a:solidFill>
                  <a:srgbClr val="F8FAFC"/>
                </a:solidFill>
                <a:latin typeface="Calibri Light"/>
              </a:rPr>
              <a:t>Decision Matrix (shadcn composable style)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57200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Build In-House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Full control over roadmap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7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Can optimize for existing stack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7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Higher upfront engineering cost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7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Longer time-to-market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31681" y="3611880"/>
            <a:ext cx="3191601" cy="2240280"/>
          </a:xfrm>
          <a:prstGeom prst="roundRect">
            <a:avLst>
              <a:gd name="adj" fmla="val 1632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831681" y="3611880"/>
            <a:ext cx="3191601" cy="27432"/>
          </a:xfrm>
          <a:prstGeom prst="roundRect">
            <a:avLst>
              <a:gd name="adj" fmla="val 33333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14561" y="3657600"/>
            <a:ext cx="2825841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400" b="1" i="0">
                <a:solidFill>
                  <a:srgbClr val="F8FAFC"/>
                </a:solidFill>
                <a:latin typeface="Calibri"/>
              </a:rPr>
              <a:t>Buy Platform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014561" y="3977639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15729" y="3977639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Fastest path to launch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14561" y="4233672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15729" y="4233672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Vendor support included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14561" y="4489704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15729" y="4489704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Recurring license cost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014561" y="4745736"/>
            <a:ext cx="201168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400" b="0" i="0">
                <a:solidFill>
                  <a:srgbClr val="3B82F6"/>
                </a:solidFill>
                <a:latin typeface="Calibri"/>
              </a:rPr>
              <a:t>•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15729" y="4745736"/>
            <a:ext cx="2624673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0" i="0">
                <a:solidFill>
                  <a:srgbClr val="CBD5E1"/>
                </a:solidFill>
                <a:latin typeface="Calibri"/>
              </a:rPr>
              <a:t>Less flexibility on edge cases</a:t>
            </a:r>
          </a:p>
        </p:txBody>
      </p:sp>
      <p:graphicFrame>
        <p:nvGraphicFramePr>
          <p:cNvPr id="45" name="Chart 44"/>
          <p:cNvGraphicFramePr>
            <a:graphicFrameLocks noGrp="1"/>
          </p:cNvGraphicFramePr>
          <p:nvPr/>
        </p:nvGraphicFramePr>
        <p:xfrm>
          <a:off x="7206162" y="3291840"/>
          <a:ext cx="4528332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