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3B82F6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CBD5E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Mix (Donut)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CBD5E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  <c:spPr>
    <a:noFill/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Capability Scorecard</a:t>
            </a:r>
          </a:p>
        </c:rich>
      </c:tx>
      <c:layout/>
      <c:overlay val="0"/>
    </c:title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ln w="31750">
              <a:solidFill>
                <a:srgbClr val="3B82F6"/>
              </a:solidFill>
            </a:ln>
          </c:spPr>
          <c:cat>
            <c:strRef>
              <c:f>Sheet1!$A$2:$A$6</c:f>
              <c:strCache>
                <c:ptCount val="5"/>
                <c:pt idx="0">
                  <c:v>Reliability</c:v>
                </c:pt>
                <c:pt idx="1">
                  <c:v>Usability</c:v>
                </c:pt>
                <c:pt idx="2">
                  <c:v>Security</c:v>
                </c:pt>
                <c:pt idx="3">
                  <c:v>Performance</c:v>
                </c:pt>
                <c:pt idx="4">
                  <c:v>Extensibility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82</c:v>
                </c:pt>
                <c:pt idx="2">
                  <c:v>88</c:v>
                </c:pt>
                <c:pt idx="3">
                  <c:v>75</c:v>
                </c:pt>
                <c:pt idx="4">
                  <c:v>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cat>
            <c:strRef>
              <c:f>Sheet1!$A$2:$A$6</c:f>
              <c:strCache>
                <c:ptCount val="5"/>
                <c:pt idx="0">
                  <c:v>Reliability</c:v>
                </c:pt>
                <c:pt idx="1">
                  <c:v>Usability</c:v>
                </c:pt>
                <c:pt idx="2">
                  <c:v>Security</c:v>
                </c:pt>
                <c:pt idx="3">
                  <c:v>Performance</c:v>
                </c:pt>
                <c:pt idx="4">
                  <c:v>Extensibility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85</c:v>
                </c:pt>
                <c:pt idx="1">
                  <c:v>86</c:v>
                </c:pt>
                <c:pt idx="2">
                  <c:v>92</c:v>
                </c:pt>
                <c:pt idx="3">
                  <c:v>84</c:v>
                </c:pt>
                <c:pt idx="4">
                  <c:v>80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numFmt formatCode="m/d/yy" sourceLinked="1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numFmt formatCode="General" sourceLinked="1"/>
        <c:majorTickMark val="cross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073612648"/>
        <c:crosses val="autoZero"/>
        <c:crossBetween val="between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BEB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0FDF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1F2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CBD5E1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BEB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1F2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4393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08031" y="571500"/>
            <a:ext cx="1426464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SparklineCard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NET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+18%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2551176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92936" y="2511817"/>
            <a:ext cx="497992" cy="6679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09216" y="2456157"/>
            <a:ext cx="497992" cy="1224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25497" y="2322576"/>
            <a:ext cx="497992" cy="2560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1777" y="2222389"/>
            <a:ext cx="497992" cy="35621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8058" y="2066544"/>
            <a:ext cx="497992" cy="512063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77258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7258" y="1298448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6714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6714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$3.4M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6714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+12%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96714" y="2551176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12994" y="2476195"/>
            <a:ext cx="497992" cy="1024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9275" y="2373782"/>
            <a:ext cx="497992" cy="20482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45555" y="2271369"/>
            <a:ext cx="497992" cy="30723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61835" y="2168956"/>
            <a:ext cx="497992" cy="40965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78116" y="2066544"/>
            <a:ext cx="497992" cy="512063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97316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7316" y="1298448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6772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WIN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6772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6772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16772" y="2551176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33053" y="2450592"/>
            <a:ext cx="497992" cy="12801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49333" y="2322576"/>
            <a:ext cx="497992" cy="2560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65613" y="2194560"/>
            <a:ext cx="497992" cy="38404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381894" y="2194560"/>
            <a:ext cx="497992" cy="38404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8174" y="2066544"/>
            <a:ext cx="497992" cy="512063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108960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TICKET BACKLOG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-21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" y="3877056"/>
            <a:ext cx="497992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92936" y="3998976"/>
            <a:ext cx="497992" cy="39014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09216" y="4096512"/>
            <a:ext cx="497992" cy="29260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25497" y="4218432"/>
            <a:ext cx="497992" cy="17068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1777" y="4315968"/>
            <a:ext cx="497992" cy="7315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58058" y="4361688"/>
            <a:ext cx="497992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77258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77258" y="3108960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6714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ACTIVATION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6714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68%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6714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+7pp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96714" y="4361688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12994" y="4270951"/>
            <a:ext cx="497992" cy="118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9275" y="4192172"/>
            <a:ext cx="497992" cy="19694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045555" y="4074003"/>
            <a:ext cx="497992" cy="3151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61835" y="3955835"/>
            <a:ext cx="497992" cy="4332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78116" y="3877056"/>
            <a:ext cx="497992" cy="512063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097316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97316" y="3108960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16772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CLOUD SPEND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16772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$184K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16772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-3%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16772" y="4361688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833053" y="4227415"/>
            <a:ext cx="497992" cy="1617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349333" y="4092661"/>
            <a:ext cx="497992" cy="29645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865613" y="3877056"/>
            <a:ext cx="497992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81894" y="3957908"/>
            <a:ext cx="497992" cy="43121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898174" y="4011809"/>
            <a:ext cx="497992" cy="37731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57200" y="4937760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7200" y="4937760"/>
            <a:ext cx="4572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" y="5120640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SparklineCard combines a primary KPI, change signal, and compact trend view in one surface. Use it when a standard metric card is too static for dashboard storytelling.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1133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80015" y="57150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Heatmap +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Feature Adoption Score by Platform &amp; Quarter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0903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6631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87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9191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97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0903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055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6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4919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6631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Web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65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9191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55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30903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7055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6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4919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65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414015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81328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49191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0903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7055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9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8767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4919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6631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706623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1328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4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9191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0903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55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17055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55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4919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44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6631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Latency (ms)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21365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210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66494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6494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75789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75789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1924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77258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Error Rate (%)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1424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2.1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77258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7258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OK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40976" y="3236976"/>
            <a:ext cx="727435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40976" y="3447288"/>
            <a:ext cx="72743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Warn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68411" y="3236976"/>
            <a:ext cx="2546024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8411" y="3447288"/>
            <a:ext cx="254602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2777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7316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Uptime 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1482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98.5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7316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7316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Below SLA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15906" y="3236976"/>
            <a:ext cx="1454871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5906" y="3447288"/>
            <a:ext cx="1454871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Degraded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370777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70777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Healthy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70630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1931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87991" y="571500"/>
            <a:ext cx="1746504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Code + Annotations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6471742" cy="4297680"/>
          </a:xfrm>
          <a:prstGeom prst="roundRect">
            <a:avLst>
              <a:gd name="adj" fmla="val 851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6471742" cy="274320"/>
          </a:xfrm>
          <a:prstGeom prst="roundRect">
            <a:avLst>
              <a:gd name="adj" fmla="val 1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353312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5331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0078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0078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import pptx_components as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0195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10312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 = pc.SlideBuilder(prs)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builder.add(pc.SectionHeader("My Slide", badge_text="v1.0"))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50545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50545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builder.skip(0.2)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70662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70662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builder.add_row(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90779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90779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pc.MetricCard("Revenue", "$1.2M", "+12%", True),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10896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pc.MetricCard("Churn",   "3.1%",  "+0.2pp", False),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31012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31012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h=1.5,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51129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51129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71246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1246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builder.add(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391363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91363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pc.BarChart(months, data, title="Monthly Trend"),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411480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11480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h=2.8,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31596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31596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11822" y="129844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6200000">
            <a:off x="7111822" y="1563623"/>
            <a:ext cx="128016" cy="128016"/>
          </a:xfrm>
          <a:prstGeom prst="triangl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4702" y="148132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Use SlideBuilder to compose slides with rows, columns, and grids.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1822" y="248716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7111822" y="2752344"/>
            <a:ext cx="128016" cy="128016"/>
          </a:xfrm>
          <a:prstGeom prst="triangl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4702" y="267004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add_row() automatically distributes width equally.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11822" y="367588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 rot="16200000">
            <a:off x="7111822" y="3941063"/>
            <a:ext cx="128016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4702" y="385876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set h= to control the rendered height of each component.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1822" y="486460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6200000">
            <a:off x="7111822" y="5129783"/>
            <a:ext cx="128016" cy="128016"/>
          </a:xfrm>
          <a:prstGeom prst="triangl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4702" y="504748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BEB"/>
                </a:solidFill>
                <a:latin typeface="Calibri"/>
              </a:rPr>
              <a:t>Mismatched weights cause rendering issues — validate inputs.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Bridge — H1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WaterfallChart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Revenue Contribution by Category ($K)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77155"/>
            <a:ext cx="1127729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674957"/>
            <a:ext cx="1564015" cy="2006770"/>
          </a:xfrm>
          <a:prstGeom prst="roundRect">
            <a:avLst>
              <a:gd name="adj" fmla="val 1169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55501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079" y="2193332"/>
            <a:ext cx="1564015" cy="481624"/>
          </a:xfrm>
          <a:prstGeom prst="roundRect">
            <a:avLst>
              <a:gd name="adj" fmla="val 3796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1215" y="2670385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6079" y="197387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60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New Logos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959" y="1852181"/>
            <a:ext cx="1564015" cy="341150"/>
          </a:xfrm>
          <a:prstGeom prst="roundRect">
            <a:avLst>
              <a:gd name="adj" fmla="val 536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0095" y="2188760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959" y="222076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95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Upsell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3839" y="1691640"/>
            <a:ext cx="1564015" cy="160541"/>
          </a:xfrm>
          <a:prstGeom prst="roundRect">
            <a:avLst>
              <a:gd name="adj" fmla="val 11391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8975" y="1847609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3839" y="1879613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383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Expansion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2719" y="1691640"/>
            <a:ext cx="1564015" cy="240812"/>
          </a:xfrm>
          <a:prstGeom prst="roundRect">
            <a:avLst>
              <a:gd name="adj" fmla="val 759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7855" y="1687068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2719" y="195988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-60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271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1599" y="1932452"/>
            <a:ext cx="1564015" cy="140473"/>
          </a:xfrm>
          <a:prstGeom prst="roundRect">
            <a:avLst>
              <a:gd name="adj" fmla="val 1301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96735" y="1927880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1599" y="171299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-35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159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0479" y="2072926"/>
            <a:ext cx="1564015" cy="2608801"/>
          </a:xfrm>
          <a:prstGeom prst="roundRect">
            <a:avLst>
              <a:gd name="adj" fmla="val 1169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0479" y="1853470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  <a:latin typeface="Calibri"/>
              </a:rPr>
              <a:t>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04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Net Revenue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912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Additional React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59975" y="571500"/>
            <a:ext cx="18745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Accordion +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Accordion (FAQ Pattern / MUI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19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19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How do we scale headcount?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455" y="1645919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20823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12263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Hiring plan targets 40% growth in engineering and product through Q4 2026. Focus on mid/senior IC roles and two new manager positions.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16351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What's our go-to-market strategy?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14455" y="2816351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55263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55263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How do we reduce churn?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14455" y="3255263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FeatureGrid (Product Showcase Pattern)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9589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9589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Real-time Sync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2018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04407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04407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4898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Enterprise Security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6836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9226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9226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9716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Rich Analytics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99589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9589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Global Scale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62018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04407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04407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44898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API-First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66836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09226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09226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9716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24/7 Support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6736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Advanced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6047" y="571500"/>
            <a:ext cx="129844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ScatterPlot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8FAFC"/>
                </a:solidFill>
                <a:latin typeface="Calibri"/>
              </a:rPr>
              <a:t>Algorithm Performance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160520"/>
            <a:ext cx="1036289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" cy="25603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64592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88003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228600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451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56616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60175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420624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Best
(Simple &amp; Accurate)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High Effort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Avoid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Feasible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1228" y="3026664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1540" y="301752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Low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35160" y="2066544"/>
            <a:ext cx="182880" cy="182880"/>
          </a:xfrm>
          <a:prstGeom prst="roundRect">
            <a:avLst>
              <a:gd name="adj" fmla="val 37500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3760" y="206654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Best performer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6297" y="3250692"/>
            <a:ext cx="155448" cy="155448"/>
          </a:xfrm>
          <a:prstGeom prst="roundRect">
            <a:avLst>
              <a:gd name="adj" fmla="val 44117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7465" y="32369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Mid-range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965" y="2514600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FF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9277" y="250545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High complexity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6209" y="3767328"/>
            <a:ext cx="146304" cy="146304"/>
          </a:xfrm>
          <a:prstGeom prst="roundRect">
            <a:avLst>
              <a:gd name="adj" fmla="val 46875"/>
            </a:avLst>
          </a:prstGeom>
          <a:solidFill>
            <a:srgbClr val="96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8233" y="37490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251959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Implementation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645920"/>
            <a:ext cx="32004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Accuracy (%)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Hierarchical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GroupedTable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8FAFC"/>
                </a:solidFill>
                <a:latin typeface="Calibri"/>
              </a:rPr>
              <a:t>Revenue by Region &amp; Country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759098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366765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16298" y="1600200"/>
            <a:ext cx="2819323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2018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5622" y="1600200"/>
            <a:ext cx="2819323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1342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2026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54946" y="1600200"/>
            <a:ext cx="1879549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0666" y="1618488"/>
            <a:ext cx="178810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YoY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92807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911095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NORTH AMERICA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892807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2018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$580M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35622" y="1892807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1342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$715M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54946" y="1892807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0666" y="1911095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+23%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39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67127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USA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16298" y="2148839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2018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$500M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5622" y="2148839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1342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$620M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54946" y="2148839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0666" y="2167127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+24%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04872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231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Canada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16298" y="2404872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2018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$80M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35622" y="2404872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1342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$95M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54946" y="2404872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00666" y="24231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+19%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660904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67919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SubtotalNA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6298" y="266090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2018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$580M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35622" y="266090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1342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$715M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54946" y="2660904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00666" y="267919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+23%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008376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0266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6298" y="3008376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2018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$350M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35622" y="3008376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1342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$425M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54946" y="3008376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00666" y="30266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264408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32826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UK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16298" y="32644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2018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$200M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35622" y="32644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81342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$245M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54946" y="3264408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0666" y="32826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+22%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0440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5387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France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16298" y="3520440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62018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$150M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35622" y="3520440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1342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$180M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54946" y="3520440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00666" y="35387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76472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7947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SubtotalEMEA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16298" y="3776472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2018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$350M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35622" y="3776472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81342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$425M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54946" y="3776472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00666" y="37947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+21%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23944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414223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16298" y="412394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2018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$220M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35622" y="412394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1342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$285M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854946" y="4123944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00666" y="414223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+30%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379976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982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India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16298" y="4379976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62018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$120M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35622" y="4379976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81342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$165M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54946" y="4379976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00666" y="43982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+38%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4636008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2920" y="46542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Australia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16298" y="46360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62018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$100M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35622" y="46360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81342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$120M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54946" y="4636008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00666" y="46542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+20%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4892040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49103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SubtotalAPAC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16298" y="4892040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62018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$220M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35622" y="4892040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81342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$285M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854946" y="4892040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00666" y="49103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+30%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4393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Chart Extensions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08031" y="571500"/>
            <a:ext cx="1426464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Donut + Radar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298448"/>
          <a:ext cx="5547207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2163" y="2587752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3B82F6"/>
                </a:solidFill>
                <a:latin typeface="Calibri"/>
              </a:rPr>
              <a:t>72%
Enterprise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87287" y="1298448"/>
          <a:ext cx="5547207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389120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389120"/>
            <a:ext cx="4572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These chart variants round out the standard chart set: DonutChart emphasizes a headline metric in the center, while RadarChart compares capability balance across multiple axes.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Planning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Funnel + Gantt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454871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Demand Funnel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09928"/>
            <a:ext cx="4548710" cy="720090"/>
          </a:xfrm>
          <a:prstGeom prst="roundRect">
            <a:avLst>
              <a:gd name="adj" fmla="val 2539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09928"/>
            <a:ext cx="4548710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Visitors  12,840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7786" y="2612898"/>
            <a:ext cx="1707537" cy="720090"/>
          </a:xfrm>
          <a:prstGeom prst="roundRect">
            <a:avLst>
              <a:gd name="adj" fmla="val 2539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7786" y="2612898"/>
            <a:ext cx="1707537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Qualified  4,820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5489" y="3515868"/>
            <a:ext cx="572131" cy="720090"/>
          </a:xfrm>
          <a:prstGeom prst="roundRect">
            <a:avLst>
              <a:gd name="adj" fmla="val 3196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5489" y="3515868"/>
            <a:ext cx="572131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Pipeline  1,615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8577" y="4418838"/>
            <a:ext cx="145955" cy="720090"/>
          </a:xfrm>
          <a:prstGeom prst="roundRect">
            <a:avLst>
              <a:gd name="adj" fmla="val 12529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8577" y="4418838"/>
            <a:ext cx="145955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Closed Won  412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8790" y="1298448"/>
            <a:ext cx="65457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Cross-Functional Delivery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0390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Kickoff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57647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71036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Wk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173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4562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Wk 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699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8088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Wk 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38225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68735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Launch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31752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8790" y="19796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Platform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60390" y="2052827"/>
            <a:ext cx="5174104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60390" y="1967102"/>
            <a:ext cx="1655713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5254" y="1967102"/>
            <a:ext cx="1545985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Observability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9139" y="1967102"/>
            <a:ext cx="1759195" cy="226314"/>
          </a:xfrm>
          <a:prstGeom prst="roundRect">
            <a:avLst>
              <a:gd name="adj" fmla="val 16161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4003" y="1967102"/>
            <a:ext cx="1649467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Data Contracts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75299" y="19671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30163" y="19671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Failover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8790" y="24368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Product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0390" y="2510027"/>
            <a:ext cx="5174104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974318" y="24243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9182" y="24243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Admin 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23068" y="2424302"/>
            <a:ext cx="1397008" cy="226314"/>
          </a:xfrm>
          <a:prstGeom prst="roundRect">
            <a:avLst>
              <a:gd name="adj" fmla="val 16161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7932" y="2424302"/>
            <a:ext cx="1287280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Usage Alerts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82263" y="2424302"/>
            <a:ext cx="1293526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37127" y="2424302"/>
            <a:ext cx="1183798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Self-Serve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8790" y="28940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60390" y="2967227"/>
            <a:ext cx="5174104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560390" y="2881502"/>
            <a:ext cx="1138303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5254" y="2881502"/>
            <a:ext cx="1028575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Messaging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02175" y="2881502"/>
            <a:ext cx="1448749" cy="226314"/>
          </a:xfrm>
          <a:prstGeom prst="roundRect">
            <a:avLst>
              <a:gd name="adj" fmla="val 16161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57039" y="2881502"/>
            <a:ext cx="1339021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Pricing Test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61371" y="2881502"/>
            <a:ext cx="1241785" cy="226314"/>
          </a:xfrm>
          <a:prstGeom prst="roundRect">
            <a:avLst>
              <a:gd name="adj" fmla="val 16161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16235" y="2881502"/>
            <a:ext cx="1132057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Partner Pack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8790" y="33512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Ops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60390" y="3424427"/>
            <a:ext cx="5174104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181282" y="3338702"/>
            <a:ext cx="827856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36146" y="3338702"/>
            <a:ext cx="718128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SLA Review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64362" y="33387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19226" y="33387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Headcount Plan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68335" y="33387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23199" y="33387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Vendor Audit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5: Long-form Storytelling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Narrative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11277295" cy="4480560"/>
          </a:xfrm>
          <a:prstGeom prst="roundRect">
            <a:avLst>
              <a:gd name="adj" fmla="val 102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7215" y="148132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1/1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Structured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01367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Narrative in one slide with decision support 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93975"/>
            <a:ext cx="7485680" cy="3502152"/>
          </a:xfrm>
          <a:prstGeom prst="roundRect">
            <a:avLst>
              <a:gd name="adj" fmla="val 783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203703"/>
            <a:ext cx="7229648" cy="3282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performance stabilized after concentration risk mitigation and onboarding process redesign. Margin expansion creates room for selective reinvestment, but service quality and migration complexity still require focused execution through Q3.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4048" y="2093975"/>
            <a:ext cx="3242974" cy="350215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776" y="2185415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Decision Lens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776" y="2404871"/>
            <a:ext cx="3023518" cy="23114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Protect margin gains
- Reduce support load
- Prioritize retention levers
- Tighten ownership by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3776" y="4956048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Next review: validate churn trend by segment.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opened with concentrated enterprise exposure: two strategic accounts represented 28% of net new ARR and introduced procurement timing risk. The commercial team reduced dependency by improving mid-market coverage, tightening qualification standards, and rebalancing outbound sequences toward faster-velocity segments.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Execution improved in the operating model. Onboarding cycle time dropped 19% after workflow simplification and proactive implementation playbooks. At the same time, migration volume increased support load, highlighting where product instrumentation and self-service diagnostics were still too shallow.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Financially, gross margin improved by 2.3 points due to infrastructure right-sizing and contract renegotiation in third-party services. This gain is expected to partially normalize in Q3 while regional failover hardening and observability upgrades are in flight.
The second-half plan focuses on durable retention drivers, expansion motion enablement, and service-quality stabilization. Decision velocity and cross-functional accountability are now the central execution constraints, not strategy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8331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Theme Cascade QA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1999" y="571500"/>
            <a:ext cx="168249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Section Overrides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FFF7EA"/>
          </a:solidFill>
          <a:ln w="12700">
            <a:solidFill>
              <a:srgbClr val="C697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463039"/>
            <a:ext cx="45720" cy="146304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4A2C16"/>
                </a:solidFill>
                <a:latin typeface="Calibri"/>
              </a:rPr>
              <a:t>Local theme patch: editorial warm palette.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F4828"/>
                </a:solidFill>
                <a:latin typeface="Calibri"/>
              </a:rPr>
              <a:t>Warm Section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3035808"/>
            <a:ext cx="45720" cy="137160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4A2C16"/>
                </a:solidFill>
                <a:latin typeface="Calibri Light"/>
              </a:rPr>
              <a:t>94%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+2pp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E8F5FF"/>
          </a:solidFill>
          <a:ln w="12700">
            <a:solidFill>
              <a:srgbClr val="739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1879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1879" y="1463039"/>
            <a:ext cx="45720" cy="146304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0479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22B4C"/>
                </a:solidFill>
                <a:latin typeface="Calibri"/>
              </a:rPr>
              <a:t>Local theme patch: corporate blue palette.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0479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2F4D74"/>
                </a:solidFill>
                <a:latin typeface="Calibri"/>
              </a:rPr>
              <a:t>Cool Section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1879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1879" y="3035808"/>
            <a:ext cx="45720" cy="137160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0479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0479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122B4C"/>
                </a:solidFill>
                <a:latin typeface="Calibri Light"/>
              </a:rPr>
              <a:t>99.97%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0479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+0.04pp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38928"/>
            <a:ext cx="11277295" cy="960120"/>
          </a:xfrm>
          <a:prstGeom prst="roundRect">
            <a:avLst>
              <a:gd name="adj" fmla="val 4761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38928"/>
            <a:ext cx="45720" cy="9601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21808"/>
            <a:ext cx="10957255" cy="594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Both cards inherit the slide theme, then apply container-scoped token patches. Use this slide to check contrast, spacing, and callout consistency across local overrides.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