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Monthly Revenue vs Target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Revenue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ln w="31750">
              <a:solidFill>
                <a:srgbClr val="3B82F6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ln w="31750">
              <a:solidFill>
                <a:srgbClr val="2563E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2118791784"/>
        <c:crosses val="autoZero"/>
      </c:valAx>
      <c:spPr>
        <a:noFill/>
      </c:spPr>
    </c:plotArea>
    <c:legend>
      <c:legendPos val="r"/>
      <c:layout/>
      <c:overlay val="0"/>
      <c:txPr>
        <a:bodyPr/>
        <a:lstStyle/>
        <a:p>
          <a:pPr>
            <a:defRPr sz="1100">
              <a:solidFill>
                <a:srgbClr val="CBD5E1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Revenue by Region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3B82F6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dPt>
            <c:idx val="2"/>
            <c:spPr>
              <a:solidFill>
                <a:srgbClr val="F97316"/>
              </a:solidFill>
            </c:spPr>
          </c:dPt>
          <c:dPt>
            <c:idx val="3"/>
            <c:spPr>
              <a:solidFill>
                <a:srgbClr val="8B5CF6"/>
              </a:solidFill>
            </c:spPr>
          </c:dPt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EMEA</c:v>
                </c:pt>
                <c:pt idx="2">
                  <c:v>Americas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30</c:v>
                </c:pt>
                <c:pt idx="3">
                  <c:v>5</c:v>
                </c:pt>
              </c:numCache>
            </c:numRef>
          </c:val>
        </c:ser>
      </c:pieChart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Monthly Recurring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MRR ($K)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</c:v>
                </c:pt>
                <c:pt idx="1">
                  <c:v>98</c:v>
                </c:pt>
                <c:pt idx="2">
                  <c:v>105</c:v>
                </c:pt>
                <c:pt idx="3">
                  <c:v>112</c:v>
                </c:pt>
                <c:pt idx="4">
                  <c:v>120</c:v>
                </c:pt>
                <c:pt idx="5">
                  <c:v>128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Evaluation Snapshot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Delivery Speed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85</c:v>
                </c:pt>
                <c:pt idx="2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Flexibility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92</c:v>
                </c:pt>
                <c:pt idx="1">
                  <c:v>60</c:v>
                </c:pt>
                <c:pt idx="2">
                  <c:v>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Calibri Light"/>
              </a:rPr>
              <a:t>Q2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 Light"/>
              </a:rPr>
              <a:t>Performance metrics, trends, and outlook — June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79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79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Key Highlights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5775" y="2125979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2608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Executive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Performance KPIs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Q2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$1.28M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7258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5858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ACTIVE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858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24,370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6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CHURN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5916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▼ +0.4pp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98.7%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System Uptime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30-day rolling average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7258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4.2s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Avg Response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7258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p95 latency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7316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$42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CAC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7316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Customer acquisition cost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Product Revenue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412583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83039" y="1280160"/>
            <a:ext cx="206291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Q1 Revenue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45959" y="1280160"/>
            <a:ext cx="206291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Q2 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8708879" y="1280160"/>
            <a:ext cx="137527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84159" y="1280160"/>
            <a:ext cx="1650335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Alpha Suite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83039" y="160020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$420K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5959" y="160020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$510K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08879" y="160020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84159" y="160020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412583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Beta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3039" y="192024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$280K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45959" y="192024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$295K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08879" y="1920240"/>
            <a:ext cx="137527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84159" y="1920240"/>
            <a:ext cx="1650335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At risk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4028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Gamma API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83039" y="224028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$190K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45959" y="224028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$240K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08879" y="224028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84159" y="224028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560320"/>
            <a:ext cx="412583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Delta 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83039" y="256032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$95K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5959" y="256032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$88K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08879" y="2560320"/>
            <a:ext cx="137527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-7%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84159" y="2560320"/>
            <a:ext cx="1650335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Behind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8036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Epsilon SDK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83039" y="288036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$60K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45959" y="288036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$75K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08879" y="288036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84159" y="288036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Revenue Trend Analysis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87287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4160520"/>
          <a:ext cx="11277295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Roadmap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2356" y="177393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Redesign onboarding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" y="209397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Launch mobile app v2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" y="241401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Integrate SSO providers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" y="273405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Expand API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7258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Priorities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7258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Define OKRs for 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7258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578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Security audit 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Migrate to GCP Cloud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7258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1578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Enable A/B testing 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7316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1636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Deploy rate limiting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7316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636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Fix dashboard load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Update privacy policy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7316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1636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Archive legacy endpoints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29260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1636" y="292608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Notify affected users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Notices &amp;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" y="132588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INFO  Database migration scheduled for July 4 — expect 2 min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" y="219456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FFBEB"/>
                </a:solidFill>
                <a:latin typeface="Calibri"/>
              </a:rPr>
              <a:t>⚠  WARNING  Churn has increased 0.4pp — review retention playbook this sprint.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063239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39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4944" y="3063239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0FDF4"/>
                </a:solidFill>
                <a:latin typeface="Calibri"/>
              </a:rPr>
              <a:t>✓  SUCCESS  Uptime target of 99.5% achieved for third consecutive month.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" y="393192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FF1F2"/>
                </a:solidFill>
                <a:latin typeface="Calibri"/>
              </a:rPr>
              <a:t>✕  ERROR  Payment gateway timeout rate exceeded SLA threshold on June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37760"/>
            <a:ext cx="11277295" cy="118872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54864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5212080"/>
            <a:ext cx="1067379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1">
                <a:solidFill>
                  <a:srgbClr val="CBD5E1"/>
                </a:solidFill>
                <a:latin typeface="Calibri Light"/>
              </a:rPr>
              <a:t>“The goal is not to build more features — it's to make existing ones indispensable.”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760720"/>
            <a:ext cx="106737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— Product Review,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Sprint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Week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Authentication service 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13716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85%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9585700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API v3 rollout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20574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62%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774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6991923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Data warehouse rebuild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27432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40%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632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4510918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4290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Mobile parity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34290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91%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39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3749039"/>
            <a:ext cx="10262338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Legacy cleanup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41148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20%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348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4434840"/>
            <a:ext cx="2255459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49641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0FDF4"/>
                </a:solidFill>
                <a:latin typeface="Calibri"/>
              </a:rPr>
              <a:t>Operational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685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BEB"/>
                </a:solidFill>
                <a:latin typeface="Calibri"/>
              </a:rPr>
              <a:t>Degraded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79729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1F2"/>
                </a:solidFill>
                <a:latin typeface="Calibri"/>
              </a:rPr>
              <a:t>Outage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4773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0FDF4"/>
                </a:solidFill>
                <a:latin typeface="Calibri"/>
              </a:rPr>
              <a:t>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Calibri Light"/>
              </a:rPr>
              <a:t>Executive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 Light"/>
              </a:rPr>
              <a:t>Composite layout — all components composed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MRR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$128K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2243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2243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NPS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843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+4pts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287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-8%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331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331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0931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LTV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0931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$890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+6%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57200" y="3657599"/>
          <a:ext cx="11277295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React Pattern Adaptations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Tabs +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TabsPanel (inspired by Radix/shadcn Tabs)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1387" y="2011680"/>
            <a:ext cx="2709595" cy="27432"/>
          </a:xfrm>
          <a:prstGeom prst="roundRect">
            <a:avLst>
              <a:gd name="adj" fmla="val 33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6523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57400"/>
            <a:ext cx="11277295" cy="1005839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10911535" cy="640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Q2 analytics summary: Revenue is up 18% YoY, activation improved by 6%, and churn remains above target in two enterprise segments.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StepFlow (inspired by Ant Design Steps)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95979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3863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51747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3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3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Discovery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9947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39947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7883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Prototype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67831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7831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5767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Validation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715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5715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651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Launch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423599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23599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Scale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1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Image + Legend + KPIGrid</a:t>
            </a:r>
          </a:p>
        </p:txBody>
      </p:sp>
      <p:pic>
        <p:nvPicPr>
          <p:cNvPr id="5" name="Picture 4" descr="slide_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586" y="1280160"/>
            <a:ext cx="4226560" cy="237744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467412" y="1280160"/>
            <a:ext cx="4267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Region Color Legend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67412" y="1682496"/>
            <a:ext cx="109728" cy="109728"/>
          </a:xfrm>
          <a:prstGeom prst="roundRect">
            <a:avLst>
              <a:gd name="adj" fmla="val 8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8580" y="1600200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APAC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67412" y="195681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8580" y="187451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EMEA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7412" y="223113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8580" y="214883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Americas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67412" y="250545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68580" y="242315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Other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NEW 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1,284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7258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7258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5858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CONVERSION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5858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14.2%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5858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+1.1pp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5916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PIPELINE VALUE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5916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$3.4M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5916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WIN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▼ -2pp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7258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77258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5858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SALES CYCLE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05858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27 days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5858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-3 days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97316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5916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UPSELL MRR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5916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$48K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5916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+12%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2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Timeline +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Program Roadmap (MUI Timeline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18004"/>
            <a:ext cx="10911535" cy="18288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137160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37160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F8FAFC"/>
                </a:solidFill>
                <a:latin typeface="Calibri"/>
              </a:rPr>
              <a:t>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523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0723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0723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F8FAFC"/>
                </a:solidFill>
                <a:latin typeface="Calibri"/>
              </a:rPr>
              <a:t>Pilot Launch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4407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18607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8607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Enterprise Rollout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291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491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491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Automation Phase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60175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74375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Q1 '27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Scale + Expansion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6566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Decision Matrix (shadcn composable style)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Build In-House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Full control over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Can optimize for existing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Higher upfront engineering 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Longer time-to-market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31681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31681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14561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Buy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4561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5729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Fastest path to launch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14561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15729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Vendor support included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561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15729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Recurring license cost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14561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15729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Less flexibility on edge cases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7206162" y="3291840"/>
          <a:ext cx="4528332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