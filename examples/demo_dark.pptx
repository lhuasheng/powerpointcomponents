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Monthly Revenue vs Target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solidFill>
              <a:srgbClr val="10B981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Revenue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ln w="31750">
              <a:solidFill>
                <a:srgbClr val="3B82F6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ln w="31750">
              <a:solidFill>
                <a:srgbClr val="10B981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2118791784"/>
        <c:crosses val="autoZero"/>
      </c:valAx>
      <c:spPr>
        <a:noFill/>
      </c:spPr>
    </c:plotArea>
    <c:legend>
      <c:legendPos val="r"/>
      <c:layout/>
      <c:overlay val="0"/>
      <c:txPr>
        <a:bodyPr/>
        <a:lstStyle/>
        <a:p>
          <a:pPr>
            <a:defRPr sz="1100">
              <a:solidFill>
                <a:srgbClr val="CBD5E1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Revenue by Region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3B82F6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dPt>
            <c:idx val="2"/>
            <c:spPr>
              <a:solidFill>
                <a:srgbClr val="F97316"/>
              </a:solidFill>
            </c:spPr>
          </c:dPt>
          <c:dPt>
            <c:idx val="3"/>
            <c:spPr>
              <a:solidFill>
                <a:srgbClr val="2563EB"/>
              </a:solidFill>
            </c:spPr>
          </c:dPt>
          <c:cat>
            <c:strRef>
              <c:f>Sheet1!$A$2:$A$5</c:f>
              <c:strCache>
                <c:ptCount val="4"/>
                <c:pt idx="0">
                  <c:v>APAC</c:v>
                </c:pt>
                <c:pt idx="1">
                  <c:v>EMEA</c:v>
                </c:pt>
                <c:pt idx="2">
                  <c:v>Americas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27</c:v>
                </c:pt>
                <c:pt idx="2">
                  <c:v>30</c:v>
                </c:pt>
                <c:pt idx="3">
                  <c:v>5</c:v>
                </c:pt>
              </c:numCache>
            </c:numRef>
          </c:val>
        </c:ser>
      </c:pieChart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Monthly Recurring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MRR ($K)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</c:v>
                </c:pt>
                <c:pt idx="1">
                  <c:v>98</c:v>
                </c:pt>
                <c:pt idx="2">
                  <c:v>105</c:v>
                </c:pt>
                <c:pt idx="3">
                  <c:v>112</c:v>
                </c:pt>
                <c:pt idx="4">
                  <c:v>120</c:v>
                </c:pt>
                <c:pt idx="5">
                  <c:v>128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Evaluation Snapshot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Delivery Speed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85</c:v>
                </c:pt>
                <c:pt idx="2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Flexibility</c:v>
                </c:pt>
              </c:strCache>
            </c:strRef>
          </c:tx>
          <c:spPr>
            <a:solidFill>
              <a:srgbClr val="10B981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92</c:v>
                </c:pt>
                <c:pt idx="1">
                  <c:v>60</c:v>
                </c:pt>
                <c:pt idx="2">
                  <c:v>80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Revenue Mix (Donut)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3B82F6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dPt>
            <c:idx val="2"/>
            <c:spPr>
              <a:solidFill>
                <a:srgbClr val="F97316"/>
              </a:solidFill>
            </c:spPr>
          </c:dPt>
          <c:dPt>
            <c:idx val="3"/>
            <c:spPr>
              <a:solidFill>
                <a:srgbClr val="2563EB"/>
              </a:solidFill>
            </c:spPr>
          </c:dPt>
          <c:cat>
            <c:strRef>
              <c:f>Sheet1!$A$2:$A$5</c:f>
              <c:strCache>
                <c:ptCount val="4"/>
                <c:pt idx="0">
                  <c:v>APAC</c:v>
                </c:pt>
                <c:pt idx="1">
                  <c:v>EMEA</c:v>
                </c:pt>
                <c:pt idx="2">
                  <c:v>Americas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27</c:v>
                </c:pt>
                <c:pt idx="2">
                  <c:v>30</c:v>
                </c:pt>
                <c:pt idx="3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  <c:spPr>
        <a:noFill/>
      </c:spPr>
    </c:plotArea>
    <c:legend>
      <c:legendPos val="r"/>
      <c:layout/>
      <c:overlay val="0"/>
      <c:txPr>
        <a:bodyPr/>
        <a:lstStyle/>
        <a:p>
          <a:pPr>
            <a:defRPr sz="1100">
              <a:solidFill>
                <a:srgbClr val="CBD5E1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  <c:spPr>
    <a:noFill/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Capability Scorecard</a:t>
            </a:r>
          </a:p>
        </c:rich>
      </c:tx>
      <c:layout/>
      <c:overlay val="0"/>
    </c:title>
    <c:autoTitleDeleted val="0"/>
    <c:plotArea>
      <c:layout/>
      <c:radarChart>
        <c:radarStyle val="fill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</c:v>
                </c:pt>
              </c:strCache>
            </c:strRef>
          </c:tx>
          <c:spPr>
            <a:ln w="31750">
              <a:solidFill>
                <a:srgbClr val="3B82F6"/>
              </a:solidFill>
            </a:ln>
          </c:spPr>
          <c:cat>
            <c:strRef>
              <c:f>Sheet1!$A$2:$A$6</c:f>
              <c:strCache>
                <c:ptCount val="5"/>
                <c:pt idx="0">
                  <c:v>Reliability</c:v>
                </c:pt>
                <c:pt idx="1">
                  <c:v>Usability</c:v>
                </c:pt>
                <c:pt idx="2">
                  <c:v>Security</c:v>
                </c:pt>
                <c:pt idx="3">
                  <c:v>Performance</c:v>
                </c:pt>
                <c:pt idx="4">
                  <c:v>Extensibility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</c:v>
                </c:pt>
                <c:pt idx="1">
                  <c:v>82</c:v>
                </c:pt>
                <c:pt idx="2">
                  <c:v>88</c:v>
                </c:pt>
                <c:pt idx="3">
                  <c:v>75</c:v>
                </c:pt>
                <c:pt idx="4">
                  <c:v>69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 w="31750">
              <a:solidFill>
                <a:srgbClr val="10B981"/>
              </a:solidFill>
            </a:ln>
          </c:spPr>
          <c:cat>
            <c:strRef>
              <c:f>Sheet1!$A$2:$A$6</c:f>
              <c:strCache>
                <c:ptCount val="5"/>
                <c:pt idx="0">
                  <c:v>Reliability</c:v>
                </c:pt>
                <c:pt idx="1">
                  <c:v>Usability</c:v>
                </c:pt>
                <c:pt idx="2">
                  <c:v>Security</c:v>
                </c:pt>
                <c:pt idx="3">
                  <c:v>Performance</c:v>
                </c:pt>
                <c:pt idx="4">
                  <c:v>Extensibility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85</c:v>
                </c:pt>
                <c:pt idx="1">
                  <c:v>86</c:v>
                </c:pt>
                <c:pt idx="2">
                  <c:v>92</c:v>
                </c:pt>
                <c:pt idx="3">
                  <c:v>84</c:v>
                </c:pt>
                <c:pt idx="4">
                  <c:v>80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numFmt formatCode="m/d/yy" sourceLinked="1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numFmt formatCode="General" sourceLinked="1"/>
        <c:majorTickMark val="cross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2073612648"/>
        <c:crosses val="autoZero"/>
        <c:crossBetween val="between"/>
      </c:valAx>
      <c:spPr>
        <a:noFill/>
      </c:spPr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8FAFC"/>
                </a:solidFill>
                <a:latin typeface="Calibri Light"/>
              </a:rPr>
              <a:t>Q2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 Light"/>
              </a:rPr>
              <a:t>Performance metrics, trends, and outlook — June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79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79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Key Highlights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2039" y="2125979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2608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Executive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Performance KPIs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Q2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$1.28M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7258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7258" y="132588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5858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ACTIVE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5858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24,370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5858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7316" y="132588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5916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CHURN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6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5916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▼ +0.4pp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3B82F6"/>
                </a:solidFill>
                <a:latin typeface="Calibri Light"/>
              </a:rPr>
              <a:t>98.7%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CBD5E1"/>
                </a:solidFill>
                <a:latin typeface="Calibri"/>
              </a:rPr>
              <a:t>System Uptime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30-day rolling average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7258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3B82F6"/>
                </a:solidFill>
                <a:latin typeface="Calibri Light"/>
              </a:rPr>
              <a:t>4.2s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CBD5E1"/>
                </a:solidFill>
                <a:latin typeface="Calibri"/>
              </a:rPr>
              <a:t>Avg Response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7258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p95 latency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7316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3B82F6"/>
                </a:solidFill>
                <a:latin typeface="Calibri Light"/>
              </a:rPr>
              <a:t>$42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CBD5E1"/>
                </a:solidFill>
                <a:latin typeface="Calibri"/>
              </a:rPr>
              <a:t>CAC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7316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Customer acquisition cost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Product Revenue Breakdown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412583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83039" y="1280160"/>
            <a:ext cx="206291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Q1 Revenue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645959" y="1280160"/>
            <a:ext cx="206291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Q2 Revenue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8708879" y="1280160"/>
            <a:ext cx="137527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84159" y="1280160"/>
            <a:ext cx="1650335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412583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Alpha Suite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83039" y="160020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$420K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45959" y="160020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$510K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08879" y="1600200"/>
            <a:ext cx="137527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+21%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84159" y="1600200"/>
            <a:ext cx="1650335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On track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40"/>
            <a:ext cx="412583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Beta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3039" y="192024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$280K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45959" y="192024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$295K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08879" y="1920240"/>
            <a:ext cx="137527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84159" y="1920240"/>
            <a:ext cx="1650335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At risk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40280"/>
            <a:ext cx="412583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Gamma API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83039" y="224028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$190K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45959" y="224028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$240K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08879" y="2240280"/>
            <a:ext cx="137527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+26%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84159" y="2240280"/>
            <a:ext cx="1650335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On track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560320"/>
            <a:ext cx="412583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Delta 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83039" y="256032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$95K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5959" y="256032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$88K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08879" y="2560320"/>
            <a:ext cx="137527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-7%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84159" y="2560320"/>
            <a:ext cx="1650335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Behind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880360"/>
            <a:ext cx="412583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Epsilon SDK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83039" y="288036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$60K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45959" y="288036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$75K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08879" y="2880360"/>
            <a:ext cx="137527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+25%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84159" y="2880360"/>
            <a:ext cx="1650335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On track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Revenue Trend Analysis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87287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4160520"/>
          <a:ext cx="11277295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Roadmap &amp;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2356" y="177393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Redesign onboarding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" y="209397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Launch mobile app v2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" y="241401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Integrate SSO providers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" y="273405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Expand API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7258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Priorities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7258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Define OKRs for 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7258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1578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Security audit 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Migrate to GCP Cloud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7258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1578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Enable A/B testing framework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7316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1636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Deploy rate limiting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7316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1636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Fix dashboard load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1636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Update privacy policy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7316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1636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Archive legacy endpoints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292608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1636" y="292608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Notify affected users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Notices &amp; Insights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" y="132588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INFO  Database migration scheduled for July 4 — expect 2 min downtime.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" y="219456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FFBEB"/>
                </a:solidFill>
                <a:latin typeface="Calibri"/>
              </a:rPr>
              <a:t>⚠  WARNING  Churn has increased 0.4pp — review retention playbook this sprint.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063239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63239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4944" y="3063239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0FDF4"/>
                </a:solidFill>
                <a:latin typeface="Calibri"/>
              </a:rPr>
              <a:t>✓  SUCCESS  Uptime target of 99.5% achieved for third consecutive month.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" y="393192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FF1F2"/>
                </a:solidFill>
                <a:latin typeface="Calibri"/>
              </a:rPr>
              <a:t>✕  ERROR  Payment gateway timeout rate exceeded SLA threshold on June 12.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37760"/>
            <a:ext cx="11277295" cy="118872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54864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5212080"/>
            <a:ext cx="1067379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1">
                <a:solidFill>
                  <a:srgbClr val="CBD5E1"/>
                </a:solidFill>
                <a:latin typeface="Calibri Light"/>
              </a:rPr>
              <a:t>“The goal is not to build more features — it's to make existing ones indispensable.”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760720"/>
            <a:ext cx="106737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— Product Review,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Sprint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Week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Authentication service 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13716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85%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9585700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API v3 rollout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20574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62%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774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6991923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432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Data warehouse rebuild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27432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40%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632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4510918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4290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Mobile parity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34290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91%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49039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3749039"/>
            <a:ext cx="10262338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Legacy cleanup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41148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20%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348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4434840"/>
            <a:ext cx="2255459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49641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0FDF4"/>
                </a:solidFill>
                <a:latin typeface="Calibri"/>
              </a:rPr>
              <a:t>Operational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685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BEB"/>
                </a:solidFill>
                <a:latin typeface="Calibri"/>
              </a:rPr>
              <a:t>Degraded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79729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1F2"/>
                </a:solidFill>
                <a:latin typeface="Calibri"/>
              </a:rPr>
              <a:t>Outage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4773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0FDF4"/>
                </a:solidFill>
                <a:latin typeface="Calibri"/>
              </a:rPr>
              <a:t>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8FAFC"/>
                </a:solidFill>
                <a:latin typeface="Calibri Light"/>
              </a:rPr>
              <a:t>Executive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 Light"/>
              </a:rPr>
              <a:t>Composite layout — all components composed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MRR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$128K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2243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2243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0843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NPS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843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+4pts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7287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-8%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331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331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0931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LTV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0931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$890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+6%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57200" y="3657599"/>
          <a:ext cx="11277295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React Pattern Adaptations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2039" y="571500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Tabs +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TabsPanel (inspired by Radix/shadcn Tabs)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Overview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1387" y="2011680"/>
            <a:ext cx="2709595" cy="27432"/>
          </a:xfrm>
          <a:prstGeom prst="roundRect">
            <a:avLst>
              <a:gd name="adj" fmla="val 33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6523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57400"/>
            <a:ext cx="11277295" cy="1005839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10911535" cy="640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Q2 analytics summary: Revenue is up 18% YoY, activation improved by 6%, and churn remains above target in two enterprise segments.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747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StepFlow (inspired by Ant Design Steps)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95979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3863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51747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3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3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Discovery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9947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39947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7883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Prototype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67831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67831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5767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Validation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715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95715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651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Launch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423599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23599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Scale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73526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1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3943" y="571500"/>
            <a:ext cx="2130552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Image + Legend + KPIGrid</a:t>
            </a:r>
          </a:p>
        </p:txBody>
      </p:sp>
      <p:pic>
        <p:nvPicPr>
          <p:cNvPr id="5" name="Picture 4" descr="slide_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586" y="1280160"/>
            <a:ext cx="4226560" cy="237744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467412" y="1280160"/>
            <a:ext cx="4267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Region Color Legend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67412" y="1682496"/>
            <a:ext cx="109728" cy="109728"/>
          </a:xfrm>
          <a:prstGeom prst="roundRect">
            <a:avLst>
              <a:gd name="adj" fmla="val 8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8580" y="1600200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APAC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67412" y="195681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8580" y="187451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EMEA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67412" y="223113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8580" y="214883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Americas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67412" y="250545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68580" y="242315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Other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7764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NEW LEADS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1,284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7258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7258" y="397764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05858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CONVERSION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5858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14.2%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5858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+1.1pp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7316" y="397764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5916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PIPELINE VALUE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5916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$3.4M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5916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53212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WIN 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31%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▼ -2pp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7258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77258" y="553212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5858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SALES CYCLE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05858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27 days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5858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-3 days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97316" y="553212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5916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UPSELL MRR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5916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$48K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5916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+12%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43935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1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08031" y="571500"/>
            <a:ext cx="1426464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SparklineCard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3637178" cy="146304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98448"/>
            <a:ext cx="36576" cy="1463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481328"/>
            <a:ext cx="323484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NET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847088"/>
            <a:ext cx="3234842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$1.28M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359152"/>
            <a:ext cx="323484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+18%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" y="2551176"/>
            <a:ext cx="497992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92936" y="2511817"/>
            <a:ext cx="497992" cy="6679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09216" y="2456157"/>
            <a:ext cx="497992" cy="1224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25497" y="2322576"/>
            <a:ext cx="497992" cy="25603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1777" y="2222389"/>
            <a:ext cx="497992" cy="35621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58058" y="2066544"/>
            <a:ext cx="497992" cy="512063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77258" y="1298448"/>
            <a:ext cx="3637178" cy="146304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7258" y="1298448"/>
            <a:ext cx="36576" cy="1463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6714" y="1481328"/>
            <a:ext cx="323484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6714" y="1847088"/>
            <a:ext cx="3234842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$3.4M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6714" y="2359152"/>
            <a:ext cx="323484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+12%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96714" y="2551176"/>
            <a:ext cx="497992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12994" y="2476195"/>
            <a:ext cx="497992" cy="1024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29275" y="2373782"/>
            <a:ext cx="497992" cy="20482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45555" y="2271369"/>
            <a:ext cx="497992" cy="30723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61835" y="2168956"/>
            <a:ext cx="497992" cy="40965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78116" y="2066544"/>
            <a:ext cx="497992" cy="512063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97316" y="1298448"/>
            <a:ext cx="3637178" cy="146304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7316" y="1298448"/>
            <a:ext cx="36576" cy="1463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6772" y="1481328"/>
            <a:ext cx="323484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WIN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6772" y="1847088"/>
            <a:ext cx="3234842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31%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6772" y="2359152"/>
            <a:ext cx="323484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+2pp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16772" y="2551176"/>
            <a:ext cx="497992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33053" y="2450592"/>
            <a:ext cx="497992" cy="12801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49333" y="2322576"/>
            <a:ext cx="497992" cy="25603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865613" y="2194560"/>
            <a:ext cx="497992" cy="384047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381894" y="2194560"/>
            <a:ext cx="497992" cy="384047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898174" y="2066544"/>
            <a:ext cx="497992" cy="512063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3108960"/>
            <a:ext cx="3637178" cy="146304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108960"/>
            <a:ext cx="36576" cy="1463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3291840"/>
            <a:ext cx="323484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TICKET BACKLOG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657600"/>
            <a:ext cx="3234842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42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" y="4169663"/>
            <a:ext cx="323484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-21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6656" y="3877056"/>
            <a:ext cx="497992" cy="51206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92936" y="3998976"/>
            <a:ext cx="497992" cy="39014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709216" y="4096512"/>
            <a:ext cx="497992" cy="292607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25497" y="4218432"/>
            <a:ext cx="497992" cy="170687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1777" y="4315968"/>
            <a:ext cx="497992" cy="7315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58058" y="4361688"/>
            <a:ext cx="497992" cy="2743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277258" y="3108960"/>
            <a:ext cx="3637178" cy="146304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277258" y="3108960"/>
            <a:ext cx="36576" cy="1463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96714" y="3291840"/>
            <a:ext cx="323484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ACTIVATION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6714" y="3657600"/>
            <a:ext cx="3234842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68%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96714" y="4169663"/>
            <a:ext cx="323484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+7pp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96714" y="4361688"/>
            <a:ext cx="497992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12994" y="4270951"/>
            <a:ext cx="497992" cy="118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29275" y="4192172"/>
            <a:ext cx="497992" cy="196947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045555" y="4074003"/>
            <a:ext cx="497992" cy="3151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561835" y="3955835"/>
            <a:ext cx="497992" cy="4332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78116" y="3877056"/>
            <a:ext cx="497992" cy="512063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097316" y="3108960"/>
            <a:ext cx="3637178" cy="146304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097316" y="3108960"/>
            <a:ext cx="36576" cy="1463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16772" y="3291840"/>
            <a:ext cx="323484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CLOUD SPEND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16772" y="3657600"/>
            <a:ext cx="3234842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$184K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16772" y="4169663"/>
            <a:ext cx="323484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-3%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16772" y="4361688"/>
            <a:ext cx="497992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833053" y="4227415"/>
            <a:ext cx="497992" cy="1617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349333" y="4092661"/>
            <a:ext cx="497992" cy="29645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865613" y="3877056"/>
            <a:ext cx="497992" cy="51206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381894" y="3957908"/>
            <a:ext cx="497992" cy="43121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898174" y="4011809"/>
            <a:ext cx="497992" cy="37731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57200" y="4937760"/>
            <a:ext cx="11277295" cy="914400"/>
          </a:xfrm>
          <a:prstGeom prst="roundRect">
            <a:avLst>
              <a:gd name="adj" fmla="val 5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57200" y="4937760"/>
            <a:ext cx="45720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5800" y="5120640"/>
            <a:ext cx="10957255" cy="5486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SparklineCard combines a primary KPI, change signal, and compact trend view in one surface. Use it when a standard metric card is too static for dashboard storytelling.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9272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2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95967" y="571500"/>
            <a:ext cx="1938528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Timeline +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Program Roadmap (MUI Timeline inspired)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18004"/>
            <a:ext cx="10911535" cy="18288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137160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37160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F8FAFC"/>
                </a:solidFill>
                <a:latin typeface="Calibri"/>
              </a:rPr>
              <a:t>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6523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0723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0723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F8FAFC"/>
                </a:solidFill>
                <a:latin typeface="Calibri"/>
              </a:rPr>
              <a:t>Pilot Launch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4407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18607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8607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Enterprise Rollout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291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491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491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Automation Phase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60175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74375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Q1 '27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Scale + Expansion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91840"/>
            <a:ext cx="6566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Decision Matrix (shadcn composable style)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Build In-House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Full control over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Can optimize for existing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Higher upfront engineering 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7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Longer time-to-market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31681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31681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14561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Buy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4561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15729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Fastest path to launch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14561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15729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Vendor support included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4561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15729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Recurring license cost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14561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15729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Less flexibility on edge cases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7206162" y="3291840"/>
          <a:ext cx="4528332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31133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3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80015" y="571500"/>
            <a:ext cx="155448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Heatmap +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Feature Adoption Score by Platform &amp; Quarter (%)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CBD5E1"/>
                </a:solidFill>
                <a:latin typeface="Calibri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30903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CBD5E1"/>
                </a:solidFill>
                <a:latin typeface="Calibri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8767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CBD5E1"/>
                </a:solidFill>
                <a:latin typeface="Calibri"/>
              </a:rPr>
              <a:t>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6631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CBD5E1"/>
                </a:solidFill>
                <a:latin typeface="Calibri"/>
              </a:rPr>
              <a:t>Q4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Mobile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81328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E3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87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49191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BF6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30903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17055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25B2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78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4919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7268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66631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Web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81328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23A0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72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49191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38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30903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68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17055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649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98767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81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4919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1BA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6631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414015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81328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7268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49191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4B6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30903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17055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986B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98767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84919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6631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2706623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Reports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81328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76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63040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61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49191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30903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55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17055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2B9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70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84919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870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66631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63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API Latency (ms)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21365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F8FAFC"/>
                </a:solidFill>
                <a:latin typeface="Calibri"/>
              </a:rPr>
              <a:t>210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3236976"/>
            <a:ext cx="909294" cy="201168"/>
          </a:xfrm>
          <a:prstGeom prst="roundRect">
            <a:avLst>
              <a:gd name="adj" fmla="val 909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3447288"/>
            <a:ext cx="90929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OK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366494" y="3236976"/>
            <a:ext cx="909294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66494" y="3447288"/>
            <a:ext cx="90929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Warn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275789" y="3236976"/>
            <a:ext cx="1818589" cy="201168"/>
          </a:xfrm>
          <a:prstGeom prst="roundRect">
            <a:avLst>
              <a:gd name="adj" fmla="val 909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275789" y="3447288"/>
            <a:ext cx="1818589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Critical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11924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77258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Error Rate (%)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41424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F8FAFC"/>
                </a:solidFill>
                <a:latin typeface="Calibri"/>
              </a:rPr>
              <a:t>2.1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77258" y="3236976"/>
            <a:ext cx="363717" cy="201168"/>
          </a:xfrm>
          <a:prstGeom prst="roundRect">
            <a:avLst>
              <a:gd name="adj" fmla="val 909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77258" y="3447288"/>
            <a:ext cx="363717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OK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640976" y="3236976"/>
            <a:ext cx="727435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40976" y="3447288"/>
            <a:ext cx="727435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Warn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368411" y="3236976"/>
            <a:ext cx="2546024" cy="201168"/>
          </a:xfrm>
          <a:prstGeom prst="roundRect">
            <a:avLst>
              <a:gd name="adj" fmla="val 909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68411" y="3447288"/>
            <a:ext cx="254602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Critical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2777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97316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Uptime (%)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61482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F8FAFC"/>
                </a:solidFill>
                <a:latin typeface="Calibri"/>
              </a:rPr>
              <a:t>98.5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97316" y="3236976"/>
            <a:ext cx="1818589" cy="201168"/>
          </a:xfrm>
          <a:prstGeom prst="roundRect">
            <a:avLst>
              <a:gd name="adj" fmla="val 909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97316" y="3447288"/>
            <a:ext cx="1818589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Below SLA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15906" y="3236976"/>
            <a:ext cx="1454871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15906" y="3447288"/>
            <a:ext cx="1454871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Degraded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370777" y="3236976"/>
            <a:ext cx="363717" cy="201168"/>
          </a:xfrm>
          <a:prstGeom prst="roundRect">
            <a:avLst>
              <a:gd name="adj" fmla="val 909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370777" y="3447288"/>
            <a:ext cx="363717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Healthy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170630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11931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3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87991" y="571500"/>
            <a:ext cx="1746504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Code + Annotations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6471742" cy="4297680"/>
          </a:xfrm>
          <a:prstGeom prst="roundRect">
            <a:avLst>
              <a:gd name="adj" fmla="val 851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98448"/>
            <a:ext cx="6471742" cy="274320"/>
          </a:xfrm>
          <a:prstGeom prst="roundRect">
            <a:avLst>
              <a:gd name="adj" fmla="val 13333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85216" y="1353312"/>
            <a:ext cx="914400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353312"/>
            <a:ext cx="9144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onsolas"/>
              </a:rPr>
              <a:t>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70078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0078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import pptx_components as 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0195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190195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10312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10312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 = pc.SlideBuilder(prs)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30428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230428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builder.add(pc.SectionHeader("My Slide", badge_text="v1.0"))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505456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505456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builder.skip(0.2)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270662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70662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builder.add_row(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" y="290779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290779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pc.MetricCard("Revenue", "$1.2M", "+12%", True),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" y="310896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310896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pc.MetricCard("Churn",   "3.1%",  "+0.2pp", False),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31012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331012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h=1.5,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3511296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3511296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" y="371246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371246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builder.add(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" y="391363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391363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pc.BarChart(months, data, title="Monthly Trend"),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" y="411480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411480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h=2.8,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31596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431596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11822" y="1298448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 rot="16200000">
            <a:off x="7111822" y="1563623"/>
            <a:ext cx="128016" cy="128016"/>
          </a:xfrm>
          <a:prstGeom prst="triangl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4702" y="148132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Use SlideBuilder to compose slides with rows, columns, and grids.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11822" y="2487168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 rot="16200000">
            <a:off x="7111822" y="2752344"/>
            <a:ext cx="128016" cy="128016"/>
          </a:xfrm>
          <a:prstGeom prst="triangl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94702" y="267004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add_row() automatically distributes width equally.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11822" y="3675887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Isosceles Triangle 43"/>
          <p:cNvSpPr/>
          <p:nvPr/>
        </p:nvSpPr>
        <p:spPr>
          <a:xfrm rot="16200000">
            <a:off x="7111822" y="3941063"/>
            <a:ext cx="128016" cy="128016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94702" y="385876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set h= to control the rendered height of each component.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11822" y="4864607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 rot="16200000">
            <a:off x="7111822" y="5129783"/>
            <a:ext cx="128016" cy="128016"/>
          </a:xfrm>
          <a:prstGeom prst="triangl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94702" y="504748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BEB"/>
                </a:solidFill>
                <a:latin typeface="Calibri"/>
              </a:rPr>
              <a:t>Mismatched weights cause rendering issues — validate inputs.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3753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Revenue Bridge — H1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4023" y="571500"/>
            <a:ext cx="1490472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WaterfallChart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Revenue Contribution by Category ($K)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677155"/>
            <a:ext cx="1127729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674957"/>
            <a:ext cx="1564015" cy="2006770"/>
          </a:xfrm>
          <a:prstGeom prst="roundRect">
            <a:avLst>
              <a:gd name="adj" fmla="val 1169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55501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2C55E"/>
                </a:solidFill>
                <a:latin typeface="Calibri"/>
              </a:rPr>
              <a:t>+500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76079" y="2193332"/>
            <a:ext cx="1564015" cy="481624"/>
          </a:xfrm>
          <a:prstGeom prst="roundRect">
            <a:avLst>
              <a:gd name="adj" fmla="val 3796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21215" y="2670385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76079" y="1973876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2C55E"/>
                </a:solidFill>
                <a:latin typeface="Calibri"/>
              </a:rPr>
              <a:t>+120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607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New Logos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94959" y="1852181"/>
            <a:ext cx="1564015" cy="341150"/>
          </a:xfrm>
          <a:prstGeom prst="roundRect">
            <a:avLst>
              <a:gd name="adj" fmla="val 536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40095" y="2188760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4959" y="2220764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2C55E"/>
                </a:solidFill>
                <a:latin typeface="Calibri"/>
              </a:rPr>
              <a:t>+85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95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Upsell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13839" y="1691640"/>
            <a:ext cx="1564015" cy="160541"/>
          </a:xfrm>
          <a:prstGeom prst="roundRect">
            <a:avLst>
              <a:gd name="adj" fmla="val 11391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58975" y="1847609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13839" y="1879613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2C55E"/>
                </a:solidFill>
                <a:latin typeface="Calibri"/>
              </a:rPr>
              <a:t>+40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383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Expansion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32719" y="1691640"/>
            <a:ext cx="1564015" cy="240812"/>
          </a:xfrm>
          <a:prstGeom prst="roundRect">
            <a:avLst>
              <a:gd name="adj" fmla="val 7593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77855" y="1687068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2719" y="1959884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EF4444"/>
                </a:solidFill>
                <a:latin typeface="Calibri"/>
              </a:rPr>
              <a:t>-60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271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Churn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51599" y="1932452"/>
            <a:ext cx="1564015" cy="140473"/>
          </a:xfrm>
          <a:prstGeom prst="roundRect">
            <a:avLst>
              <a:gd name="adj" fmla="val 13017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96735" y="1927880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51599" y="1712996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EF4444"/>
                </a:solidFill>
                <a:latin typeface="Calibri"/>
              </a:rPr>
              <a:t>-35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159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Discounts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70479" y="2072926"/>
            <a:ext cx="1564015" cy="2608801"/>
          </a:xfrm>
          <a:prstGeom prst="roundRect">
            <a:avLst>
              <a:gd name="adj" fmla="val 1169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70479" y="1853470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B82F6"/>
                </a:solidFill>
                <a:latin typeface="Calibri"/>
              </a:rPr>
              <a:t>650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7047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Net Revenue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9912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Additional React Patterns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59975" y="571500"/>
            <a:ext cx="18745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Accordion +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Accordion (FAQ Pattern / MUI inspired)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19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19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How do we scale headcount?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14455" y="1645919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20823"/>
            <a:ext cx="11185855" cy="7315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12263"/>
            <a:ext cx="10820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Hiring plan targets 40% growth in engineering and product through Q4 2026. Focus on mid/senior IC roles and two new manager positions.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816351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1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What's our go-to-market strategy?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14455" y="2816351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55263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255263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How do we reduce churn?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14455" y="3255263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5760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FeatureGrid (Product Showcase Pattern)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99589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9589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Real-time Sync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62018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04407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04407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4898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Enterprise Security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6836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09226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9226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9716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Rich Analytics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199589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9589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Global Scale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62018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004407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04407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44898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API-First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66836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809226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09226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9716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24/7 Support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6736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4: Advanced Charts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36047" y="571500"/>
            <a:ext cx="1298448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ScatterPlot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 i="0">
                <a:solidFill>
                  <a:srgbClr val="F8FAFC"/>
                </a:solidFill>
                <a:latin typeface="Calibri"/>
              </a:rPr>
              <a:t>Algorithm Performance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4160520"/>
            <a:ext cx="10362895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1645920"/>
            <a:ext cx="27432" cy="256032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64592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88003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228600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292608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69451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356616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60175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" y="420624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164592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Best
(Simple &amp; Accurate)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64592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High Effort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92608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Avoid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727" y="292608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Feasible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1228" y="3026664"/>
            <a:ext cx="164592" cy="164592"/>
          </a:xfrm>
          <a:prstGeom prst="roundRect">
            <a:avLst>
              <a:gd name="adj" fmla="val 41666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51540" y="301752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Low cost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35160" y="2066544"/>
            <a:ext cx="182880" cy="182880"/>
          </a:xfrm>
          <a:prstGeom prst="roundRect">
            <a:avLst>
              <a:gd name="adj" fmla="val 37500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3760" y="2066544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Best performer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76297" y="3250692"/>
            <a:ext cx="155448" cy="155448"/>
          </a:xfrm>
          <a:prstGeom prst="roundRect">
            <a:avLst>
              <a:gd name="adj" fmla="val 44117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7465" y="323697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Mid-range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965" y="2514600"/>
            <a:ext cx="164592" cy="164592"/>
          </a:xfrm>
          <a:prstGeom prst="roundRect">
            <a:avLst>
              <a:gd name="adj" fmla="val 41666"/>
            </a:avLst>
          </a:prstGeom>
          <a:solidFill>
            <a:srgbClr val="FF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9277" y="250545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High complexity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66209" y="3767328"/>
            <a:ext cx="146304" cy="146304"/>
          </a:xfrm>
          <a:prstGeom prst="roundRect">
            <a:avLst>
              <a:gd name="adj" fmla="val 46875"/>
            </a:avLst>
          </a:prstGeom>
          <a:solidFill>
            <a:srgbClr val="96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58233" y="374904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Simple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4251959"/>
            <a:ext cx="103628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Implementation Complexity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1645920"/>
            <a:ext cx="32004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Accuracy (%)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4: Hierarchical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2039" y="571500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GroupedTable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 i="0">
                <a:solidFill>
                  <a:srgbClr val="F8FAFC"/>
                </a:solidFill>
                <a:latin typeface="Calibri"/>
              </a:rPr>
              <a:t>Revenue by Region &amp; Country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3759098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18488"/>
            <a:ext cx="366765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216298" y="1600200"/>
            <a:ext cx="2819323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2018" y="1618488"/>
            <a:ext cx="27278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2025 Revenue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35622" y="1600200"/>
            <a:ext cx="2819323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1342" y="1618488"/>
            <a:ext cx="27278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2026 Revenue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854946" y="1600200"/>
            <a:ext cx="1879549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0666" y="1618488"/>
            <a:ext cx="178810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YoY Growth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92807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1911095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NORTH AMERICA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892807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62018" y="1911095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$580M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35622" y="1892807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1342" y="1911095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$715M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54946" y="1892807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00666" y="1911095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+23%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148839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167127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    USA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16298" y="2148839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62018" y="2167127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$500M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35622" y="2148839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1342" y="2167127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$620M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54946" y="2148839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00666" y="2167127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+24%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04872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423160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    Canada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16298" y="2404872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62018" y="24231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$80M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35622" y="2404872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81342" y="24231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$95M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54946" y="2404872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00666" y="2423160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+19%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2660904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2679192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SubtotalNA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16298" y="2660904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2018" y="267919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$580M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35622" y="2660904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81342" y="267919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$715M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854946" y="2660904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00666" y="2679192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+23%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008376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026664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EMEA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16298" y="3008376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2018" y="30266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$350M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35622" y="3008376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81342" y="30266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$425M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54946" y="3008376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00666" y="3026664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+21%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3264408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3282696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    UK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16298" y="3264408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62018" y="32826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$200M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035622" y="3264408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81342" y="32826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$245M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54946" y="3264408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00666" y="3282696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+22%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3520440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3538728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    France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16298" y="3520440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62018" y="35387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$150M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35622" y="3520440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81342" y="35387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$180M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854946" y="3520440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00666" y="3538728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+20%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3776472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3794760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SubtotalEMEA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216298" y="3776472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262018" y="37947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$350M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035622" y="3776472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081342" y="37947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$425M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854946" y="3776472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00666" y="3794760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+21%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4123944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920" y="4142232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APAC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16298" y="4123944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62018" y="414223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$220M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35622" y="4123944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1342" y="414223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$285M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854946" y="4123944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900666" y="4142232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+30%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4379976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98264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    India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216298" y="4379976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262018" y="43982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$120M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35622" y="4379976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081342" y="43982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$165M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854946" y="4379976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00666" y="4398264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+38%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7200" y="4636008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02920" y="4654296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    Australia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16298" y="4636008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62018" y="46542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$100M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035622" y="4636008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081342" y="46542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$120M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854946" y="4636008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900666" y="4654296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+20%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57200" y="4892040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02920" y="4910328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SubtotalAPAC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216298" y="4892040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262018" y="49103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$220M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035622" y="4892040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081342" y="49103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$285M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854946" y="4892040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900666" y="4910328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  <a:latin typeface="Calibri"/>
              </a:rPr>
              <a:t>+30%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43935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4: Chart Extensions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08031" y="571500"/>
            <a:ext cx="1426464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Donut + Radar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298448"/>
          <a:ext cx="5547207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682163" y="2587752"/>
            <a:ext cx="1097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3B82F6"/>
                </a:solidFill>
                <a:latin typeface="Calibri"/>
              </a:rPr>
              <a:t>72%
Enterprise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87287" y="1298448"/>
          <a:ext cx="5547207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389120"/>
            <a:ext cx="11277295" cy="914400"/>
          </a:xfrm>
          <a:prstGeom prst="roundRect">
            <a:avLst>
              <a:gd name="adj" fmla="val 5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389120"/>
            <a:ext cx="45720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572000"/>
            <a:ext cx="10957255" cy="5486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These chart variants round out the standard chart set: DonutChart emphasizes a headline metric in the center, while RadarChart compares capability balance across multiple axes.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3753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4: Planning Views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4023" y="571500"/>
            <a:ext cx="1490472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Funnel + Gantt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98448"/>
            <a:ext cx="454871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Demand Funnel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09928"/>
            <a:ext cx="4548710" cy="720090"/>
          </a:xfrm>
          <a:prstGeom prst="roundRect">
            <a:avLst>
              <a:gd name="adj" fmla="val 2539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09928"/>
            <a:ext cx="4548710" cy="7200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Visitors  12,840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77786" y="2612898"/>
            <a:ext cx="1707537" cy="720090"/>
          </a:xfrm>
          <a:prstGeom prst="roundRect">
            <a:avLst>
              <a:gd name="adj" fmla="val 2539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7786" y="2612898"/>
            <a:ext cx="1707537" cy="7200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Qualified  4,820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45489" y="3515868"/>
            <a:ext cx="572131" cy="720090"/>
          </a:xfrm>
          <a:prstGeom prst="roundRect">
            <a:avLst>
              <a:gd name="adj" fmla="val 3196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5489" y="3515868"/>
            <a:ext cx="572131" cy="7200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Pipeline  1,615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8577" y="4418838"/>
            <a:ext cx="145955" cy="720090"/>
          </a:xfrm>
          <a:prstGeom prst="roundRect">
            <a:avLst>
              <a:gd name="adj" fmla="val 12529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8577" y="4418838"/>
            <a:ext cx="145955" cy="7200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Closed Won  412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8790" y="1298448"/>
            <a:ext cx="654570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Cross-Functional Delivery 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0390" y="1618488"/>
            <a:ext cx="36576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Kickoff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57647" y="1828799"/>
            <a:ext cx="5486" cy="457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71036" y="1618488"/>
            <a:ext cx="36576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Wk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51173" y="1828799"/>
            <a:ext cx="5486" cy="457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4562" y="1618488"/>
            <a:ext cx="36576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Wk 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699" y="1828799"/>
            <a:ext cx="5486" cy="457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58088" y="1618488"/>
            <a:ext cx="36576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Wk 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38225" y="1828799"/>
            <a:ext cx="5486" cy="457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68735" y="1618488"/>
            <a:ext cx="36576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Launch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731752" y="1828799"/>
            <a:ext cx="5486" cy="457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88790" y="1979676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Platform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60390" y="2052827"/>
            <a:ext cx="5174104" cy="5486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60390" y="1967102"/>
            <a:ext cx="1655713" cy="226314"/>
          </a:xfrm>
          <a:prstGeom prst="roundRect">
            <a:avLst>
              <a:gd name="adj" fmla="val 16161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5254" y="1967102"/>
            <a:ext cx="1545985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Observability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09139" y="1967102"/>
            <a:ext cx="1759195" cy="226314"/>
          </a:xfrm>
          <a:prstGeom prst="roundRect">
            <a:avLst>
              <a:gd name="adj" fmla="val 16161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64003" y="1967102"/>
            <a:ext cx="1649467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Data Contracts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75299" y="1967102"/>
            <a:ext cx="1345267" cy="226314"/>
          </a:xfrm>
          <a:prstGeom prst="roundRect">
            <a:avLst>
              <a:gd name="adj" fmla="val 16161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30163" y="1967102"/>
            <a:ext cx="1235539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Failover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8790" y="2436876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Product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60390" y="2510027"/>
            <a:ext cx="5174104" cy="5486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974318" y="2424302"/>
            <a:ext cx="1345267" cy="226314"/>
          </a:xfrm>
          <a:prstGeom prst="roundRect">
            <a:avLst>
              <a:gd name="adj" fmla="val 16161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29182" y="2424302"/>
            <a:ext cx="1235539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Admin UX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23068" y="2424302"/>
            <a:ext cx="1397008" cy="226314"/>
          </a:xfrm>
          <a:prstGeom prst="roundRect">
            <a:avLst>
              <a:gd name="adj" fmla="val 16161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77932" y="2424302"/>
            <a:ext cx="1287280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Usage Alerts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82263" y="2424302"/>
            <a:ext cx="1293526" cy="226314"/>
          </a:xfrm>
          <a:prstGeom prst="roundRect">
            <a:avLst>
              <a:gd name="adj" fmla="val 16161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37127" y="2424302"/>
            <a:ext cx="1183798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Self-Serve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8790" y="2894076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GTM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60390" y="2967227"/>
            <a:ext cx="5174104" cy="5486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560390" y="2881502"/>
            <a:ext cx="1138303" cy="226314"/>
          </a:xfrm>
          <a:prstGeom prst="roundRect">
            <a:avLst>
              <a:gd name="adj" fmla="val 16161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15254" y="2881502"/>
            <a:ext cx="1028575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Messaging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02175" y="2881502"/>
            <a:ext cx="1448749" cy="226314"/>
          </a:xfrm>
          <a:prstGeom prst="roundRect">
            <a:avLst>
              <a:gd name="adj" fmla="val 16161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57039" y="2881502"/>
            <a:ext cx="1339021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Pricing Test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561371" y="2881502"/>
            <a:ext cx="1241785" cy="226314"/>
          </a:xfrm>
          <a:prstGeom prst="roundRect">
            <a:avLst>
              <a:gd name="adj" fmla="val 16161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16235" y="2881502"/>
            <a:ext cx="1132057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Partner Pack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88790" y="3351276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Ops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60390" y="3424427"/>
            <a:ext cx="5174104" cy="5486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181282" y="3338702"/>
            <a:ext cx="827856" cy="226314"/>
          </a:xfrm>
          <a:prstGeom prst="roundRect">
            <a:avLst>
              <a:gd name="adj" fmla="val 16161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36146" y="3338702"/>
            <a:ext cx="718128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SLA Review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164362" y="3338702"/>
            <a:ext cx="1345267" cy="226314"/>
          </a:xfrm>
          <a:prstGeom prst="roundRect">
            <a:avLst>
              <a:gd name="adj" fmla="val 16161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19226" y="3338702"/>
            <a:ext cx="1235539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Headcount Plan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68335" y="3338702"/>
            <a:ext cx="1345267" cy="226314"/>
          </a:xfrm>
          <a:prstGeom prst="roundRect">
            <a:avLst>
              <a:gd name="adj" fmla="val 16161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823199" y="3338702"/>
            <a:ext cx="1235539" cy="226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Vendor Audit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5: Long-form Storytelling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Narrative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11277295" cy="4480560"/>
          </a:xfrm>
          <a:prstGeom prst="roundRect">
            <a:avLst>
              <a:gd name="adj" fmla="val 102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98448"/>
            <a:ext cx="11277295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37215" y="1481328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94A3B8"/>
                </a:solidFill>
                <a:latin typeface="Calibri"/>
              </a:rPr>
              <a:t>Page 1/1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Executive Narrative - Structured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01367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Narrative in one slide with decision support 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93975"/>
            <a:ext cx="7485680" cy="3502152"/>
          </a:xfrm>
          <a:prstGeom prst="roundRect">
            <a:avLst>
              <a:gd name="adj" fmla="val 783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203703"/>
            <a:ext cx="7229648" cy="3282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Q2 performance stabilized after concentration risk mitigation and onboarding process redesign. Margin expansion creates room for selective reinvestment, but service quality and migration complexity still require focused execution through Q3.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4048" y="2093975"/>
            <a:ext cx="3242974" cy="3502152"/>
          </a:xfrm>
          <a:prstGeom prst="roundRect">
            <a:avLst>
              <a:gd name="adj" fmla="val 844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3776" y="2185415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Decision Lens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3776" y="2404871"/>
            <a:ext cx="3023518" cy="23114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- Protect margin gains
- Reduce support load
- Prioritize retention levers
- Tighten ownership by 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3776" y="4956048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Next review: validate churn trend by segment.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769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37215" y="640080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94A3B8"/>
                </a:solidFill>
                <a:latin typeface="Calibri"/>
              </a:rPr>
              <a:t>Page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Executive Narrative - Auto Paginated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19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Long text automatically split into multiple slides.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52728"/>
            <a:ext cx="7485680" cy="4965192"/>
          </a:xfrm>
          <a:prstGeom prst="roundRect">
            <a:avLst>
              <a:gd name="adj" fmla="val 552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362455"/>
            <a:ext cx="7229648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Q2 opened with concentrated enterprise exposure: two strategic accounts represented 28% of net new ARR and introduced procurement timing risk. The commercial team reduced dependency by improving mid-market coverage, tightening qualification standards, and rebalancing outbound sequences toward faster-velocity segments.
(continued on next slide)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4048" y="1252728"/>
            <a:ext cx="3242974" cy="4965192"/>
          </a:xfrm>
          <a:prstGeom prst="roundRect">
            <a:avLst>
              <a:gd name="adj" fmla="val 844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3776" y="1344168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Steering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3776" y="1563624"/>
            <a:ext cx="3023518" cy="3277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- Watch enterprise concentration
- Keep onboarding gains sticky
- Fund observability upgrades
- Track p95 latency weekly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3776" y="5577840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Auto-generated narrative section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769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37215" y="640080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94A3B8"/>
                </a:solidFill>
                <a:latin typeface="Calibri"/>
              </a:rPr>
              <a:t>Page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Executive Narrative - Auto Paginated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19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Long text automatically split into multiple slides.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52728"/>
            <a:ext cx="7485680" cy="4965192"/>
          </a:xfrm>
          <a:prstGeom prst="roundRect">
            <a:avLst>
              <a:gd name="adj" fmla="val 552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362455"/>
            <a:ext cx="7229648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Execution improved in the operating model. Onboarding cycle time dropped 19% after workflow simplification and proactive implementation playbooks. At the same time, migration volume increased support load, highlighting where product instrumentation and self-service diagnostics were still too shallow.
(continued on next slide)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4048" y="1252728"/>
            <a:ext cx="3242974" cy="4965192"/>
          </a:xfrm>
          <a:prstGeom prst="roundRect">
            <a:avLst>
              <a:gd name="adj" fmla="val 844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3776" y="1344168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Steering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3776" y="1563624"/>
            <a:ext cx="3023518" cy="3277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- Watch enterprise concentration
- Keep onboarding gains sticky
- Fund observability upgrades
- Track p95 latency weekly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3776" y="5577840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Auto-generated narrative section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769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37215" y="640080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94A3B8"/>
                </a:solidFill>
                <a:latin typeface="Calibri"/>
              </a:rPr>
              <a:t>Page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Executive Narrative - Auto Paginated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19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Long text automatically split into multiple slides.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52728"/>
            <a:ext cx="7485680" cy="4965192"/>
          </a:xfrm>
          <a:prstGeom prst="roundRect">
            <a:avLst>
              <a:gd name="adj" fmla="val 552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362455"/>
            <a:ext cx="7229648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Financially, gross margin improved by 2.3 points due to infrastructure right-sizing and contract renegotiation in third-party services. This gain is expected to partially normalize in Q3 while regional failover hardening and observability upgrades are in flight.
The second-half plan focuses on durable retention drivers, expansion motion enablement, and service-quality stabilization. Decision velocity and cross-functional accountability are now the central execution constraints, not strategy clarity.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4048" y="1252728"/>
            <a:ext cx="3242974" cy="4965192"/>
          </a:xfrm>
          <a:prstGeom prst="roundRect">
            <a:avLst>
              <a:gd name="adj" fmla="val 844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3776" y="1344168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Steering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3776" y="1563624"/>
            <a:ext cx="3023518" cy="3277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- Watch enterprise concentration
- Keep onboarding gains sticky
- Fund observability upgrades
- Track p95 latency weekly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3776" y="5577840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Auto-generated narrative section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18331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Theme Cascade QA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1999" y="571500"/>
            <a:ext cx="1682496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Section Overrides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5547207" cy="3474720"/>
          </a:xfrm>
          <a:prstGeom prst="roundRect">
            <a:avLst>
              <a:gd name="adj" fmla="val 1315"/>
            </a:avLst>
          </a:prstGeom>
          <a:solidFill>
            <a:srgbClr val="FFF7EA"/>
          </a:solidFill>
          <a:ln w="12700">
            <a:solidFill>
              <a:srgbClr val="C697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63039"/>
            <a:ext cx="5218023" cy="1463040"/>
          </a:xfrm>
          <a:prstGeom prst="roundRect">
            <a:avLst>
              <a:gd name="adj" fmla="val 3125"/>
            </a:avLst>
          </a:prstGeom>
          <a:solidFill>
            <a:srgbClr val="FFF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463039"/>
            <a:ext cx="45720" cy="1463040"/>
          </a:xfrm>
          <a:prstGeom prst="rect">
            <a:avLst/>
          </a:prstGeom>
          <a:solidFill>
            <a:srgbClr val="C16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645919"/>
            <a:ext cx="48979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4A2C16"/>
                </a:solidFill>
                <a:latin typeface="Calibri"/>
              </a:rPr>
              <a:t>Local theme patch: editorial warm palette.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084831"/>
            <a:ext cx="4897983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F4828"/>
                </a:solidFill>
                <a:latin typeface="Calibri"/>
              </a:rPr>
              <a:t>Warm Section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3035808"/>
            <a:ext cx="5218023" cy="1371600"/>
          </a:xfrm>
          <a:prstGeom prst="roundRect">
            <a:avLst>
              <a:gd name="adj" fmla="val 3333"/>
            </a:avLst>
          </a:prstGeom>
          <a:solidFill>
            <a:srgbClr val="FFF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3035808"/>
            <a:ext cx="45720" cy="1371600"/>
          </a:xfrm>
          <a:prstGeom prst="rect">
            <a:avLst/>
          </a:prstGeom>
          <a:solidFill>
            <a:srgbClr val="C16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21868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RETENTION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447288"/>
            <a:ext cx="480654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4A2C16"/>
                </a:solidFill>
                <a:latin typeface="Calibri Light"/>
              </a:rPr>
              <a:t>94%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85876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+2pp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298448"/>
            <a:ext cx="5547207" cy="3474720"/>
          </a:xfrm>
          <a:prstGeom prst="roundRect">
            <a:avLst>
              <a:gd name="adj" fmla="val 1315"/>
            </a:avLst>
          </a:prstGeom>
          <a:solidFill>
            <a:srgbClr val="E8F5FF"/>
          </a:solidFill>
          <a:ln w="12700">
            <a:solidFill>
              <a:srgbClr val="739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51879" y="1463039"/>
            <a:ext cx="5218023" cy="1463040"/>
          </a:xfrm>
          <a:prstGeom prst="roundRect">
            <a:avLst>
              <a:gd name="adj" fmla="val 3125"/>
            </a:avLst>
          </a:prstGeom>
          <a:solidFill>
            <a:srgbClr val="E8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1879" y="1463039"/>
            <a:ext cx="45720" cy="1463040"/>
          </a:xfrm>
          <a:prstGeom prst="rect">
            <a:avLst/>
          </a:prstGeom>
          <a:solidFill>
            <a:srgbClr val="1A6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0479" y="1645919"/>
            <a:ext cx="48979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22B4C"/>
                </a:solidFill>
                <a:latin typeface="Calibri"/>
              </a:rPr>
              <a:t>Local theme patch: corporate blue palette.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0479" y="2084831"/>
            <a:ext cx="4897983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2F4D74"/>
                </a:solidFill>
                <a:latin typeface="Calibri"/>
              </a:rPr>
              <a:t>Cool Section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1879" y="3035808"/>
            <a:ext cx="5218023" cy="1371600"/>
          </a:xfrm>
          <a:prstGeom prst="roundRect">
            <a:avLst>
              <a:gd name="adj" fmla="val 3333"/>
            </a:avLst>
          </a:prstGeom>
          <a:solidFill>
            <a:srgbClr val="E8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1879" y="3035808"/>
            <a:ext cx="45720" cy="1371600"/>
          </a:xfrm>
          <a:prstGeom prst="rect">
            <a:avLst/>
          </a:prstGeom>
          <a:solidFill>
            <a:srgbClr val="1A6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0479" y="321868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UPTIME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0479" y="3447288"/>
            <a:ext cx="480654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122B4C"/>
                </a:solidFill>
                <a:latin typeface="Calibri Light"/>
              </a:rPr>
              <a:t>99.97%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0479" y="385876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+0.04pp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138928"/>
            <a:ext cx="11277295" cy="960120"/>
          </a:xfrm>
          <a:prstGeom prst="roundRect">
            <a:avLst>
              <a:gd name="adj" fmla="val 4761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138928"/>
            <a:ext cx="45720" cy="9601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321808"/>
            <a:ext cx="10957255" cy="594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Both cards inherit the slide theme, then apply container-scoped token patches. Use this slide to check contrast, spacing, and callout consistency across local overrides.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