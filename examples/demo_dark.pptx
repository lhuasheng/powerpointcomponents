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8FAFC"/>
                </a:solidFill>
                <a:latin typeface="Calibri"/>
              </a:rPr>
              <a:t>Monthly Revenue vs Target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3B82F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341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8FAFC"/>
                </a:solidFill>
                <a:latin typeface="Calibri"/>
              </a:rPr>
              <a:t>Revenue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31750">
              <a:solidFill>
                <a:srgbClr val="3B82F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ln w="31750">
              <a:solidFill>
                <a:srgbClr val="2563E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341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2118791784"/>
        <c:crosses val="autoZero"/>
      </c:valAx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CBD5E1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>
                <a:solidFill>
                  <a:srgbClr val="F8FAFC"/>
                </a:solidFill>
                <a:latin typeface="Calibri"/>
              </a:rPr>
              <a:t>Revenue by Region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3B82F6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dPt>
            <c:idx val="2"/>
            <c:spPr>
              <a:solidFill>
                <a:srgbClr val="F97316"/>
              </a:solidFill>
            </c:spPr>
          </c:dPt>
          <c:dPt>
            <c:idx val="3"/>
            <c:spPr>
              <a:solidFill>
                <a:srgbClr val="8B5CF6"/>
              </a:solidFill>
            </c:spPr>
          </c:dPt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EMEA</c:v>
                </c:pt>
                <c:pt idx="2">
                  <c:v>Americas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</c:pieChart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8FAFC"/>
                </a:solidFill>
                <a:latin typeface="Calibri"/>
              </a:rPr>
              <a:t>Monthly Recurring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MRR ($K)</c:v>
                </c:pt>
              </c:strCache>
            </c:strRef>
          </c:tx>
          <c:spPr>
            <a:solidFill>
              <a:srgbClr val="3B82F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98</c:v>
                </c:pt>
                <c:pt idx="2">
                  <c:v>105</c:v>
                </c:pt>
                <c:pt idx="3">
                  <c:v>112</c:v>
                </c:pt>
                <c:pt idx="4">
                  <c:v>120</c:v>
                </c:pt>
                <c:pt idx="5">
                  <c:v>128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341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8FAFC"/>
                </a:solidFill>
                <a:latin typeface="Calibri"/>
              </a:rPr>
              <a:t>Evaluation Snapshot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Speed</c:v>
                </c:pt>
              </c:strCache>
            </c:strRef>
          </c:tx>
          <c:spPr>
            <a:solidFill>
              <a:srgbClr val="3B82F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85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Flexibility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</c:v>
                </c:pt>
                <c:pt idx="1">
                  <c:v>60</c:v>
                </c:pt>
                <c:pt idx="2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3341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 Light"/>
              </a:rPr>
              <a:t>Q2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 Light"/>
              </a:rPr>
              <a:t>Performance metrics, trends, and outlook —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79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79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Key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2039" y="2125979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Performance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$1.28M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+18%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7258" y="132588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24,370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32588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▼ +0.4pp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 Light"/>
              </a:rPr>
              <a:t>98.7%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BD5E1"/>
                </a:solidFill>
                <a:latin typeface="Calibri"/>
              </a:rPr>
              <a:t>System Uptime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30-day rolling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 Light"/>
              </a:rPr>
              <a:t>4.2s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BD5E1"/>
                </a:solidFill>
                <a:latin typeface="Calibri"/>
              </a:rPr>
              <a:t>Avg Response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7258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p95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7316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 Light"/>
              </a:rPr>
              <a:t>$42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BD5E1"/>
                </a:solidFill>
                <a:latin typeface="Calibri"/>
              </a:rPr>
              <a:t>CAC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316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Customer acquisition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Product Revenue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4125839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3039" y="1280160"/>
            <a:ext cx="2062919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Q1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45959" y="1280160"/>
            <a:ext cx="2062919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Q2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8879" y="1280160"/>
            <a:ext cx="1375279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84159" y="1280160"/>
            <a:ext cx="1650335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412583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Alpha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3039" y="1600200"/>
            <a:ext cx="206291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$420K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5959" y="1600200"/>
            <a:ext cx="206291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$510K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8879" y="1600200"/>
            <a:ext cx="137527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+21%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84159" y="1600200"/>
            <a:ext cx="165033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On track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412583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Beta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3039" y="1920240"/>
            <a:ext cx="20629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$280K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5959" y="1920240"/>
            <a:ext cx="20629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$295K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8879" y="1920240"/>
            <a:ext cx="137527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+5%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84159" y="1920240"/>
            <a:ext cx="1650335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At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40280"/>
            <a:ext cx="412583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Gamma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3039" y="2240280"/>
            <a:ext cx="206291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$190K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5959" y="2240280"/>
            <a:ext cx="206291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$240K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8879" y="2240280"/>
            <a:ext cx="137527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+26%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4159" y="2240280"/>
            <a:ext cx="165033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On track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60320"/>
            <a:ext cx="412583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Delta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3039" y="2560320"/>
            <a:ext cx="20629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$95K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959" y="2560320"/>
            <a:ext cx="20629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$88K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8879" y="2560320"/>
            <a:ext cx="137527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-7%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4159" y="2560320"/>
            <a:ext cx="1650335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Behind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80360"/>
            <a:ext cx="412583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Epsilon SDK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3039" y="2880360"/>
            <a:ext cx="206291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$60K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5959" y="2880360"/>
            <a:ext cx="206291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$75K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8879" y="2880360"/>
            <a:ext cx="1375279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+25%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84159" y="2880360"/>
            <a:ext cx="165033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On track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Revenue Trend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87287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4160520"/>
          <a:ext cx="11277295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Roadmap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" y="177393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Redesign onboarding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" y="209397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Launch mobile app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" y="241401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Integrate SSO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" y="273405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Expand 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7258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Priorities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7258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B82F6"/>
                </a:solidFill>
                <a:latin typeface="Calibri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Define OKRs for 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B82F6"/>
                </a:solidFill>
                <a:latin typeface="Calibri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Security audit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B82F6"/>
                </a:solidFill>
                <a:latin typeface="Calibri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Migrate to GCP Cloud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B82F6"/>
                </a:solidFill>
                <a:latin typeface="Calibr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Enable A/B testing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Deploy 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7316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Fix dashboard load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Update privacy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7316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1636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Archive legacy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29260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1636" y="292608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Notify affected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Notices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32588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INFO  Database migration scheduled for July 4 — expect 2 min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219456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FFFBEB"/>
                </a:solidFill>
                <a:latin typeface="Calibri"/>
              </a:rPr>
              <a:t>⚠  WARNING  Churn has increased 0.4pp — review retention playbook this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39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39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3063239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F0FDF4"/>
                </a:solidFill>
                <a:latin typeface="Calibri"/>
              </a:rPr>
              <a:t>✓  SUCCESS  Uptime target of 99.5% achieved for third consecutive month.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" y="393192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FFF1F2"/>
                </a:solidFill>
                <a:latin typeface="Calibri"/>
              </a:rPr>
              <a:t>✕  ERROR  Payment gateway timeout rate exceeded SLA threshold on June 12.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77295" cy="118872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4864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212080"/>
            <a:ext cx="1067379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>
                <a:solidFill>
                  <a:srgbClr val="CBD5E1"/>
                </a:solidFill>
                <a:latin typeface="Calibri Light"/>
              </a:rPr>
              <a:t>“The goal is not to build more features — it's to make existing ones indispensable.”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76072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— Product Review,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Sprint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Authentication service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1371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B82F6"/>
                </a:solidFill>
                <a:latin typeface="Calibri"/>
              </a:rPr>
              <a:t>85%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958570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API v3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20574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B82F6"/>
                </a:solidFill>
                <a:latin typeface="Calibri"/>
              </a:rPr>
              <a:t>62%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6991923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Data warehouse rebuild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27432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B82F6"/>
                </a:solidFill>
                <a:latin typeface="Calibri"/>
              </a:rPr>
              <a:t>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063240"/>
            <a:ext cx="4510918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Mobile parity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34290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B82F6"/>
                </a:solidFill>
                <a:latin typeface="Calibri"/>
              </a:rPr>
              <a:t>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10262338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Legacy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41148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B82F6"/>
                </a:solidFill>
                <a:latin typeface="Calibri"/>
              </a:rP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2255459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9641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Operational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685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BEB"/>
                </a:solidFill>
                <a:latin typeface="Calibri"/>
              </a:rPr>
              <a:t>Degraded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9729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1F2"/>
                </a:solidFill>
                <a:latin typeface="Calibri"/>
              </a:rPr>
              <a:t>Outage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4773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0FDF4"/>
                </a:solidFill>
                <a:latin typeface="Calibri"/>
              </a:rPr>
              <a:t>Healthy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 Light"/>
              </a:rP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 Light"/>
              </a:rPr>
              <a:t>Composite layout — all components composed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79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$128K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243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243" y="2011679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43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+4pts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2011679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$42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-8%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331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331" y="2011679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0931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0931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$890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+6%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57200" y="3657599"/>
          <a:ext cx="11277295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React Pattern Adaptations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2039" y="57150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Tabs +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TabsPanel (inspired by Radix/shadcn Tabs)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1387" y="2011680"/>
            <a:ext cx="2709595" cy="27432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523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11277295" cy="1005839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0911535" cy="64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Q2 analytics summary: Revenue is up 18% YoY, activation improved by 6%, and churn remains above target in two enterprise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StepFlow (inspired by Ant Design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5979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1747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3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3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9947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9947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7883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Prototype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7831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7831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5767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95715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715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651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Launch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23599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3599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73526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Phase 1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3943" y="571500"/>
            <a:ext cx="2130552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Image + Legend + KPIGrid</a:t>
            </a:r>
          </a:p>
        </p:txBody>
      </p:sp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86" y="1280160"/>
            <a:ext cx="4226560" cy="237744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67412" y="1280160"/>
            <a:ext cx="4267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Region Color Legend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7412" y="1682496"/>
            <a:ext cx="109728" cy="109728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8580" y="1600200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APAC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412" y="195681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8580" y="187451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EMEA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412" y="223113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8580" y="214883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Americas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7412" y="250545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8580" y="242315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Other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NEW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1,284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7258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7258" y="397764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5858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858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14.2%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858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+1.1pp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7316" y="397764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916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PIPELINE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$3.4M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3212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31%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▼ -2pp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7258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7258" y="553212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5858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SALES 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858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27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5858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-3 days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7316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7316" y="553212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5916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UPSELL MRR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5916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$48K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5916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▲ +12%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92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Phase 2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95967" y="571500"/>
            <a:ext cx="1938528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Timeline +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Program Roadmap (MUI Timeline inspired)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18004"/>
            <a:ext cx="10911535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137160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7160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Calibri"/>
              </a:rPr>
              <a:t>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523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723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723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Calibri"/>
              </a:rPr>
              <a:t>Pilot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4407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8607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Enterprise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291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491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491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Automation Phase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60175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74375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Q1 '27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Scale +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6566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Decision Matrix (shadcn composable style)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Build In-House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Full control over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Can optimize for existing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Higher upfront engineering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Longer time-to-market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31681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31681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14561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Buy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561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5729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Fastest path to launch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561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5729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Vendor support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4561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15729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Recurring license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561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5729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Less flexibility on edge cases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7206162" y="3291840"/>
          <a:ext cx="4528332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11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80015" y="5715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Heatmap +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Feature Adoption Score by Platform &amp; Quarter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BD5E1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0903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BD5E1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BD5E1"/>
                </a:solidFill>
                <a:latin typeface="Calibri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6631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BD5E1"/>
                </a:solidFill>
                <a:latin typeface="Calibri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8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9191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97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0903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7055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7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4919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A7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631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65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9191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5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0903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68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7055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7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767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4919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6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6631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14015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81328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A7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95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49191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A7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0903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97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17055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9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767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4919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6631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706623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Reports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81328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4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61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9191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0903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55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17055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5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70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4919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44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6631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API Latency (ms)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1365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8FAFC"/>
                </a:solidFill>
                <a:latin typeface="Calibri"/>
              </a:rPr>
              <a:t>210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OK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66494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66494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Warn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75789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75789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Critical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11924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77258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Error Rate (%)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1424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8FAFC"/>
                </a:solidFill>
                <a:latin typeface="Calibri"/>
              </a:rPr>
              <a:t>2.1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77258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7258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OK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40976" y="3236976"/>
            <a:ext cx="727435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0976" y="3447288"/>
            <a:ext cx="727435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Warn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68411" y="3236976"/>
            <a:ext cx="2546024" cy="201168"/>
          </a:xfrm>
          <a:prstGeom prst="roundRect">
            <a:avLst>
              <a:gd name="adj" fmla="val 909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8411" y="3447288"/>
            <a:ext cx="25460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Critical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2777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7316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Uptime (%)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1482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8FAFC"/>
                </a:solidFill>
                <a:latin typeface="Calibri"/>
              </a:rPr>
              <a:t>98.5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7316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7316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Below SLA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15906" y="3236976"/>
            <a:ext cx="1454871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15906" y="3447288"/>
            <a:ext cx="1454871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Degraded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370777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370777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Healthy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170630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1931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7991" y="571500"/>
            <a:ext cx="1746504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Code + Annotations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6471742" cy="4114800"/>
          </a:xfrm>
          <a:prstGeom prst="roundRect">
            <a:avLst>
              <a:gd name="adj" fmla="val 888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6471742" cy="27432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353312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70078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078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import pptx_components as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0195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0195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10312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10312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builder = pc.SlideBuilder(prs)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30428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30428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builder.add(pc.SectionHeader("My Slide", badge_text="v1.0"))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50545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50545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builder.skip(0.2)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70662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0662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builder.add_row(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290779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90779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  pc.MetricCard("Revenue", "$1.2M", "+12%", True),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10896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10896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  pc.MetricCard("Churn",   "3.1%",  "+0.2pp", False),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31012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31012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  h=1.5,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351129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51129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371246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1246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builder.add(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391363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91363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  pc.BarChart(months, data, title="Monthly Trend"),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4114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11480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  h=2.8,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31596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31596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11822" y="1298448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16200000">
            <a:off x="7111822" y="1563623"/>
            <a:ext cx="128016" cy="128016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4702" y="148132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Use SlideBuilder to compose slides with rows, columns, and grids.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1822" y="2139696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6200000">
            <a:off x="7111822" y="2404872"/>
            <a:ext cx="128016" cy="128016"/>
          </a:xfrm>
          <a:prstGeom prst="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4702" y="2322576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add_row() automatically distributes width equally.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11822" y="2980944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16200000">
            <a:off x="7111822" y="3246120"/>
            <a:ext cx="128016" cy="128016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4702" y="3163824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set h= to control the rendered height of each component.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1822" y="3822191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6200000">
            <a:off x="7111822" y="4087368"/>
            <a:ext cx="128016" cy="128016"/>
          </a:xfrm>
          <a:prstGeom prst="triangl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4702" y="4005072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BEB"/>
                </a:solidFill>
                <a:latin typeface="Calibri"/>
              </a:rPr>
              <a:t>Mismatched weights cause rendering issues — validate inputs.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753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Revenue Bridge — H1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4023" y="571500"/>
            <a:ext cx="1490472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WaterfallChart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 Light"/>
              </a:rPr>
              <a:t>Revenue Contribution by Category ($K)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77155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674957"/>
            <a:ext cx="1564015" cy="2006770"/>
          </a:xfrm>
          <a:prstGeom prst="roundRect">
            <a:avLst>
              <a:gd name="adj" fmla="val 1169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55501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+500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6079" y="2193332"/>
            <a:ext cx="1564015" cy="481624"/>
          </a:xfrm>
          <a:prstGeom prst="roundRect">
            <a:avLst>
              <a:gd name="adj" fmla="val 3796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1215" y="2670385"/>
            <a:ext cx="54864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6079" y="197387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+120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60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New Logos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959" y="1852181"/>
            <a:ext cx="1564015" cy="341150"/>
          </a:xfrm>
          <a:prstGeom prst="roundRect">
            <a:avLst>
              <a:gd name="adj" fmla="val 536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0095" y="2188760"/>
            <a:ext cx="54864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959" y="222076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+85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95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Upsell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3839" y="1691640"/>
            <a:ext cx="1564015" cy="160541"/>
          </a:xfrm>
          <a:prstGeom prst="roundRect">
            <a:avLst>
              <a:gd name="adj" fmla="val 11391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8975" y="1847609"/>
            <a:ext cx="54864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3839" y="1879613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+40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83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Expansion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2719" y="1691640"/>
            <a:ext cx="1564015" cy="240812"/>
          </a:xfrm>
          <a:prstGeom prst="roundRect">
            <a:avLst>
              <a:gd name="adj" fmla="val 759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77855" y="1687068"/>
            <a:ext cx="54864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2719" y="195988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-60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271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1599" y="1932452"/>
            <a:ext cx="1564015" cy="140473"/>
          </a:xfrm>
          <a:prstGeom prst="roundRect">
            <a:avLst>
              <a:gd name="adj" fmla="val 1301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96735" y="1927880"/>
            <a:ext cx="54864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1599" y="171299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-35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159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Discounts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70479" y="2072926"/>
            <a:ext cx="1564015" cy="2608801"/>
          </a:xfrm>
          <a:prstGeom prst="roundRect">
            <a:avLst>
              <a:gd name="adj" fmla="val 1169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0479" y="1853470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650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04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Net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