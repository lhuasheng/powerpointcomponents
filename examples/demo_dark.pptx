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2000">
                <a:solidFill>
                  <a:srgbClr val="F8FAFC"/>
                </a:solidFill>
                <a:latin typeface="Calibri"/>
              </a:rPr>
              <a:t>Monthly Revenue vs Target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Revenue ($K)</c:v>
                </c:pt>
              </c:strCache>
            </c:strRef>
          </c:tx>
          <c:spPr>
            <a:solidFill>
              <a:srgbClr val="3B82F6"/>
            </a:solidFill>
            <a:ln>
              <a:noFill/>
            </a:ln>
          </c:spP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320</c:v>
                </c:pt>
                <c:pt idx="1">
                  <c:v>380</c:v>
                </c:pt>
                <c:pt idx="2">
                  <c:v>410</c:v>
                </c:pt>
                <c:pt idx="3">
                  <c:v>470</c:v>
                </c:pt>
                <c:pt idx="4">
                  <c:v>510</c:v>
                </c:pt>
                <c:pt idx="5">
                  <c:v>580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Target ($K)</c:v>
                </c:pt>
              </c:strCache>
            </c:strRef>
          </c:tx>
          <c:spPr>
            <a:solidFill>
              <a:srgbClr val="2563EB"/>
            </a:solidFill>
            <a:ln>
              <a:noFill/>
            </a:ln>
          </c:spP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350</c:v>
                </c:pt>
                <c:pt idx="1">
                  <c:v>380</c:v>
                </c:pt>
                <c:pt idx="2">
                  <c:v>400</c:v>
                </c:pt>
                <c:pt idx="3">
                  <c:v>450</c:v>
                </c:pt>
                <c:pt idx="4">
                  <c:v>490</c:v>
                </c:pt>
                <c:pt idx="5">
                  <c:v>550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334155"/>
            </a:solidFill>
          </a:ln>
        </c:spPr>
        <c:txPr>
          <a:bodyPr/>
          <a:lstStyle/>
          <a:p>
            <a:pPr>
              <a:defRPr sz="1100">
                <a:solidFill>
                  <a:srgbClr val="CBD5E1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334155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334155"/>
            </a:solidFill>
          </a:ln>
        </c:spPr>
        <c:txPr>
          <a:bodyPr/>
          <a:lstStyle/>
          <a:p>
            <a:pPr>
              <a:defRPr sz="1100">
                <a:solidFill>
                  <a:srgbClr val="CBD5E1"/>
                </a:solidFill>
                <a:latin typeface="Calibri"/>
              </a:defRPr>
            </a:pPr>
          </a:p>
        </c:txPr>
        <c:crossAx val="-2068027336"/>
        <c:crosses val="autoZero"/>
      </c:valAx>
      <c:spPr>
        <a:noFill/>
      </c:spPr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  <c:spPr>
    <a:noFill/>
  </c:spPr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2000">
                <a:solidFill>
                  <a:srgbClr val="F8FAFC"/>
                </a:solidFill>
                <a:latin typeface="Calibri"/>
              </a:rPr>
              <a:t>Revenue Trend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($K)</c:v>
                </c:pt>
              </c:strCache>
            </c:strRef>
          </c:tx>
          <c:spPr>
            <a:ln w="31750">
              <a:solidFill>
                <a:srgbClr val="3B82F6"/>
              </a:solidFill>
            </a:ln>
          </c:spPr>
          <c:marker>
            <c:symbol val="none"/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320</c:v>
                </c:pt>
                <c:pt idx="1">
                  <c:v>380</c:v>
                </c:pt>
                <c:pt idx="2">
                  <c:v>410</c:v>
                </c:pt>
                <c:pt idx="3">
                  <c:v>470</c:v>
                </c:pt>
                <c:pt idx="4">
                  <c:v>510</c:v>
                </c:pt>
                <c:pt idx="5">
                  <c:v>580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Target ($K)</c:v>
                </c:pt>
              </c:strCache>
            </c:strRef>
          </c:tx>
          <c:spPr>
            <a:ln w="31750">
              <a:solidFill>
                <a:srgbClr val="2563EB"/>
              </a:solidFill>
            </a:ln>
          </c:spPr>
          <c:marker>
            <c:symbol val="none"/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350</c:v>
                </c:pt>
                <c:pt idx="1">
                  <c:v>380</c:v>
                </c:pt>
                <c:pt idx="2">
                  <c:v>400</c:v>
                </c:pt>
                <c:pt idx="3">
                  <c:v>450</c:v>
                </c:pt>
                <c:pt idx="4">
                  <c:v>490</c:v>
                </c:pt>
                <c:pt idx="5">
                  <c:v>550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334155"/>
            </a:solidFill>
          </a:ln>
        </c:spPr>
        <c:txPr>
          <a:bodyPr/>
          <a:lstStyle/>
          <a:p>
            <a:pPr>
              <a:defRPr sz="1100">
                <a:solidFill>
                  <a:srgbClr val="CBD5E1"/>
                </a:solidFill>
                <a:latin typeface="Calibri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334155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334155"/>
            </a:solidFill>
          </a:ln>
        </c:spPr>
        <c:txPr>
          <a:bodyPr/>
          <a:lstStyle/>
          <a:p>
            <a:pPr>
              <a:defRPr sz="1100">
                <a:solidFill>
                  <a:srgbClr val="CBD5E1"/>
                </a:solidFill>
                <a:latin typeface="Calibri"/>
              </a:defRPr>
            </a:pPr>
          </a:p>
        </c:txPr>
        <c:crossAx val="2118791784"/>
        <c:crosses val="autoZero"/>
      </c:valAx>
      <c:spPr>
        <a:noFill/>
      </c:spPr>
    </c:plotArea>
    <c:legend>
      <c:legendPos val="r"/>
      <c:layout/>
      <c:overlay val="0"/>
      <c:txPr>
        <a:bodyPr/>
        <a:lstStyle/>
        <a:p>
          <a:pPr>
            <a:defRPr sz="1100">
              <a:solidFill>
                <a:srgbClr val="CBD5E1"/>
              </a:solidFill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  <c:spPr>
    <a:noFill/>
  </c:spPr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lstStyle/>
          <a:p>
            <a:r>
              <a:rPr sz="2000">
                <a:solidFill>
                  <a:srgbClr val="F8FAFC"/>
                </a:solidFill>
                <a:latin typeface="Calibri"/>
              </a:rPr>
              <a:t>Revenue by Region</a:t>
            </a:r>
          </a:p>
        </c:rich>
      </c:tx>
      <c:layout/>
      <c:overlay val="0"/>
    </c:title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dPt>
            <c:idx val="0"/>
            <c:spPr>
              <a:solidFill>
                <a:srgbClr val="3B82F6"/>
              </a:solidFill>
            </c:spPr>
          </c:dPt>
          <c:dPt>
            <c:idx val="1"/>
            <c:spPr>
              <a:solidFill>
                <a:srgbClr val="10B981"/>
              </a:solidFill>
            </c:spPr>
          </c:dPt>
          <c:dPt>
            <c:idx val="2"/>
            <c:spPr>
              <a:solidFill>
                <a:srgbClr val="F97316"/>
              </a:solidFill>
            </c:spPr>
          </c:dPt>
          <c:dPt>
            <c:idx val="3"/>
            <c:spPr>
              <a:solidFill>
                <a:srgbClr val="8B5CF6"/>
              </a:solidFill>
            </c:spPr>
          </c:dPt>
          <c:cat>
            <c:strRef>
              <c:f>Sheet1!$A$2:$A$5</c:f>
              <c:strCache>
                <c:ptCount val="4"/>
                <c:pt idx="0">
                  <c:v>APAC</c:v>
                </c:pt>
                <c:pt idx="1">
                  <c:v>EMEA</c:v>
                </c:pt>
                <c:pt idx="2">
                  <c:v>Americas</c:v>
                </c:pt>
                <c:pt idx="3">
                  <c:v>Other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38</c:v>
                </c:pt>
                <c:pt idx="1">
                  <c:v>27</c:v>
                </c:pt>
                <c:pt idx="2">
                  <c:v>30</c:v>
                </c:pt>
                <c:pt idx="3">
                  <c:v>5</c:v>
                </c:pt>
              </c:numCache>
            </c:numRef>
          </c:val>
        </c:ser>
      </c:pieChart>
      <c:spPr>
        <a:noFill/>
      </c:spPr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  <c:spPr>
    <a:noFill/>
  </c:spPr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2000">
                <a:solidFill>
                  <a:srgbClr val="F8FAFC"/>
                </a:solidFill>
                <a:latin typeface="Calibri"/>
              </a:rPr>
              <a:t>Monthly Recurring Revenue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MRR ($K)</c:v>
                </c:pt>
              </c:strCache>
            </c:strRef>
          </c:tx>
          <c:spPr>
            <a:solidFill>
              <a:srgbClr val="3B82F6"/>
            </a:solidFill>
            <a:ln>
              <a:noFill/>
            </a:ln>
          </c:spP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90</c:v>
                </c:pt>
                <c:pt idx="1">
                  <c:v>98</c:v>
                </c:pt>
                <c:pt idx="2">
                  <c:v>105</c:v>
                </c:pt>
                <c:pt idx="3">
                  <c:v>112</c:v>
                </c:pt>
                <c:pt idx="4">
                  <c:v>120</c:v>
                </c:pt>
                <c:pt idx="5">
                  <c:v>128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334155"/>
            </a:solidFill>
          </a:ln>
        </c:spPr>
        <c:txPr>
          <a:bodyPr/>
          <a:lstStyle/>
          <a:p>
            <a:pPr>
              <a:defRPr sz="1100">
                <a:solidFill>
                  <a:srgbClr val="CBD5E1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334155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334155"/>
            </a:solidFill>
          </a:ln>
        </c:spPr>
        <c:txPr>
          <a:bodyPr/>
          <a:lstStyle/>
          <a:p>
            <a:pPr>
              <a:defRPr sz="1100">
                <a:solidFill>
                  <a:srgbClr val="CBD5E1"/>
                </a:solidFill>
                <a:latin typeface="Calibri"/>
              </a:defRPr>
            </a:pPr>
          </a:p>
        </c:txPr>
        <c:crossAx val="-2068027336"/>
        <c:crosses val="autoZero"/>
      </c:valAx>
      <c:spPr>
        <a:noFill/>
      </c:spPr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  <c:spPr>
    <a:noFill/>
  </c:spPr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2000">
                <a:solidFill>
                  <a:srgbClr val="F8FAFC"/>
                </a:solidFill>
                <a:latin typeface="Calibri"/>
              </a:rPr>
              <a:t>Evaluation Snapshot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Delivery Speed</c:v>
                </c:pt>
              </c:strCache>
            </c:strRef>
          </c:tx>
          <c:spPr>
            <a:solidFill>
              <a:srgbClr val="3B82F6"/>
            </a:solidFill>
            <a:ln>
              <a:noFill/>
            </a:ln>
          </c:spPr>
          <c:cat>
            <c:strRef>
              <c:f>Sheet1!$A$2:$A$4</c:f>
              <c:strCache>
                <c:ptCount val="3"/>
                <c:pt idx="0">
                  <c:v>Build</c:v>
                </c:pt>
                <c:pt idx="1">
                  <c:v>Buy</c:v>
                </c:pt>
                <c:pt idx="2">
                  <c:v>Hybrid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55</c:v>
                </c:pt>
                <c:pt idx="1">
                  <c:v>85</c:v>
                </c:pt>
                <c:pt idx="2">
                  <c:v>75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Flexibility</c:v>
                </c:pt>
              </c:strCache>
            </c:strRef>
          </c:tx>
          <c:spPr>
            <a:solidFill>
              <a:srgbClr val="2563EB"/>
            </a:solidFill>
            <a:ln>
              <a:noFill/>
            </a:ln>
          </c:spPr>
          <c:cat>
            <c:strRef>
              <c:f>Sheet1!$A$2:$A$4</c:f>
              <c:strCache>
                <c:ptCount val="3"/>
                <c:pt idx="0">
                  <c:v>Build</c:v>
                </c:pt>
                <c:pt idx="1">
                  <c:v>Buy</c:v>
                </c:pt>
                <c:pt idx="2">
                  <c:v>Hybrid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92</c:v>
                </c:pt>
                <c:pt idx="1">
                  <c:v>60</c:v>
                </c:pt>
                <c:pt idx="2">
                  <c:v>80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334155"/>
            </a:solidFill>
          </a:ln>
        </c:spPr>
        <c:txPr>
          <a:bodyPr/>
          <a:lstStyle/>
          <a:p>
            <a:pPr>
              <a:defRPr sz="1100">
                <a:solidFill>
                  <a:srgbClr val="CBD5E1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>
              <a:solidFill>
                <a:srgbClr val="334155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334155"/>
            </a:solidFill>
          </a:ln>
        </c:spPr>
        <c:txPr>
          <a:bodyPr/>
          <a:lstStyle/>
          <a:p>
            <a:pPr>
              <a:defRPr sz="1100">
                <a:solidFill>
                  <a:srgbClr val="CBD5E1"/>
                </a:solidFill>
                <a:latin typeface="Calibri"/>
              </a:defRPr>
            </a:pPr>
          </a:p>
        </c:txPr>
        <c:crossAx val="-2068027336"/>
        <c:crosses val="autoZero"/>
      </c:valAx>
      <c:spPr>
        <a:noFill/>
      </c:spPr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  <c:spPr>
    <a:noFill/>
  </c:spPr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Relationship Id="rId4" Type="http://schemas.openxmlformats.org/officeDocument/2006/relationships/chart" Target="../charts/char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11277295" cy="6400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12648"/>
            <a:ext cx="11277295" cy="7040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4000" b="1" i="0">
                <a:solidFill>
                  <a:srgbClr val="F8FAFC"/>
                </a:solidFill>
                <a:latin typeface="Calibri Light"/>
              </a:rPr>
              <a:t>Q2 Business Review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16736"/>
            <a:ext cx="11277295" cy="42062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0" i="0">
                <a:solidFill>
                  <a:srgbClr val="CBD5E1"/>
                </a:solidFill>
                <a:latin typeface="Calibri Light"/>
              </a:rPr>
              <a:t>Performance metrics, trends, and outlook — June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011679"/>
            <a:ext cx="45720" cy="5486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011679"/>
            <a:ext cx="9503359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F8FAFC"/>
                </a:solidFill>
                <a:latin typeface="Calibri Light"/>
              </a:rPr>
              <a:t>Key Highlights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372039" y="2125979"/>
            <a:ext cx="1362456" cy="320040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CONFIDENTIAL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926080"/>
            <a:ext cx="45720" cy="5486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926080"/>
            <a:ext cx="1104869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F8FAFC"/>
                </a:solidFill>
                <a:latin typeface="Calibri Light"/>
              </a:rPr>
              <a:t>Executive Summary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45720" cy="5486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967709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F8FAFC"/>
                </a:solidFill>
                <a:latin typeface="Calibri Light"/>
              </a:rPr>
              <a:t>Performance KPIs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545775" y="571500"/>
            <a:ext cx="1188720" cy="320040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Q2 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325880"/>
            <a:ext cx="3637178" cy="1371600"/>
          </a:xfrm>
          <a:prstGeom prst="roundRect">
            <a:avLst>
              <a:gd name="adj" fmla="val 3333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325880"/>
            <a:ext cx="45720" cy="13716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508760"/>
            <a:ext cx="32256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REVENUE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737360"/>
            <a:ext cx="3225698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F8FAFC"/>
                </a:solidFill>
                <a:latin typeface="Calibri Light"/>
              </a:rPr>
              <a:t>$1.28M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48840"/>
            <a:ext cx="32256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22C55E"/>
                </a:solidFill>
                <a:latin typeface="Calibri"/>
              </a:rPr>
              <a:t>▲ +18%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77258" y="1325880"/>
            <a:ext cx="3637178" cy="1371600"/>
          </a:xfrm>
          <a:prstGeom prst="roundRect">
            <a:avLst>
              <a:gd name="adj" fmla="val 3333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77258" y="1325880"/>
            <a:ext cx="45720" cy="13716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05858" y="1508760"/>
            <a:ext cx="32256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ACTIVE USERS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05858" y="1737360"/>
            <a:ext cx="3225698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F8FAFC"/>
                </a:solidFill>
                <a:latin typeface="Calibri Light"/>
              </a:rPr>
              <a:t>24,370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05858" y="2148840"/>
            <a:ext cx="32256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22C55E"/>
                </a:solidFill>
                <a:latin typeface="Calibri"/>
              </a:rPr>
              <a:t>▲ +7%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97316" y="1325880"/>
            <a:ext cx="3637178" cy="1371600"/>
          </a:xfrm>
          <a:prstGeom prst="roundRect">
            <a:avLst>
              <a:gd name="adj" fmla="val 3333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97316" y="1325880"/>
            <a:ext cx="45720" cy="13716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25916" y="1508760"/>
            <a:ext cx="32256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CHURN RATE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5916" y="1737360"/>
            <a:ext cx="3225698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F8FAFC"/>
                </a:solidFill>
                <a:latin typeface="Calibri Light"/>
              </a:rPr>
              <a:t>3.2%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5916" y="2148840"/>
            <a:ext cx="32256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EF4444"/>
                </a:solidFill>
                <a:latin typeface="Calibri"/>
              </a:rPr>
              <a:t>▼ +0.4pp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3337560"/>
            <a:ext cx="3637178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4000" b="1" i="0">
                <a:solidFill>
                  <a:srgbClr val="3B82F6"/>
                </a:solidFill>
                <a:latin typeface="Calibri Light"/>
              </a:rPr>
              <a:t>98.7%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114800"/>
            <a:ext cx="3637178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2000" b="0" i="0">
                <a:solidFill>
                  <a:srgbClr val="CBD5E1"/>
                </a:solidFill>
                <a:latin typeface="Calibri"/>
              </a:rPr>
              <a:t>System Uptime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4572000"/>
            <a:ext cx="3637178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94A3B8"/>
                </a:solidFill>
                <a:latin typeface="Calibri"/>
              </a:rPr>
              <a:t>30-day rolling average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77258" y="3337560"/>
            <a:ext cx="3637178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4000" b="1" i="0">
                <a:solidFill>
                  <a:srgbClr val="3B82F6"/>
                </a:solidFill>
                <a:latin typeface="Calibri Light"/>
              </a:rPr>
              <a:t>4.2s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77258" y="4114800"/>
            <a:ext cx="3637178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2000" b="0" i="0">
                <a:solidFill>
                  <a:srgbClr val="CBD5E1"/>
                </a:solidFill>
                <a:latin typeface="Calibri"/>
              </a:rPr>
              <a:t>Avg Response Time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77258" y="4572000"/>
            <a:ext cx="3637178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94A3B8"/>
                </a:solidFill>
                <a:latin typeface="Calibri"/>
              </a:rPr>
              <a:t>p95 latency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97316" y="3337560"/>
            <a:ext cx="3637178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4000" b="1" i="0">
                <a:solidFill>
                  <a:srgbClr val="3B82F6"/>
                </a:solidFill>
                <a:latin typeface="Calibri Light"/>
              </a:rPr>
              <a:t>$42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97316" y="4114800"/>
            <a:ext cx="3637178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2000" b="0" i="0">
                <a:solidFill>
                  <a:srgbClr val="CBD5E1"/>
                </a:solidFill>
                <a:latin typeface="Calibri"/>
              </a:rPr>
              <a:t>CAC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97316" y="4572000"/>
            <a:ext cx="3637178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94A3B8"/>
                </a:solidFill>
                <a:latin typeface="Calibri"/>
              </a:rPr>
              <a:t>Customer acquisition cost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45720" cy="5486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1104869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F8FAFC"/>
                </a:solidFill>
                <a:latin typeface="Calibri Light"/>
              </a:rPr>
              <a:t>Product Revenue Breakdown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80160"/>
            <a:ext cx="4125839" cy="3200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Product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83039" y="1280160"/>
            <a:ext cx="2062919" cy="3200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Q1 Revenue</a:t>
            </a:r>
          </a:p>
        </p:txBody>
      </p:sp>
      <p:sp>
        <p:nvSpPr>
          <p:cNvPr id="6" name="Rectangle 5"/>
          <p:cNvSpPr/>
          <p:nvPr/>
        </p:nvSpPr>
        <p:spPr>
          <a:xfrm>
            <a:off x="6645959" y="1280160"/>
            <a:ext cx="2062919" cy="3200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Q2 Revenue</a:t>
            </a:r>
          </a:p>
        </p:txBody>
      </p:sp>
      <p:sp>
        <p:nvSpPr>
          <p:cNvPr id="7" name="Rectangle 6"/>
          <p:cNvSpPr/>
          <p:nvPr/>
        </p:nvSpPr>
        <p:spPr>
          <a:xfrm>
            <a:off x="8708879" y="1280160"/>
            <a:ext cx="1375279" cy="3200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Growth</a:t>
            </a:r>
          </a:p>
        </p:txBody>
      </p:sp>
      <p:sp>
        <p:nvSpPr>
          <p:cNvPr id="8" name="Rectangle 7"/>
          <p:cNvSpPr/>
          <p:nvPr/>
        </p:nvSpPr>
        <p:spPr>
          <a:xfrm>
            <a:off x="10084159" y="1280160"/>
            <a:ext cx="1650335" cy="3200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Status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600200"/>
            <a:ext cx="4125839" cy="3200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F8FAFC"/>
                </a:solidFill>
                <a:latin typeface="Calibri"/>
              </a:rPr>
              <a:t>Alpha Suite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83039" y="1600200"/>
            <a:ext cx="2062919" cy="3200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F8FAFC"/>
                </a:solidFill>
                <a:latin typeface="Calibri"/>
              </a:rPr>
              <a:t>$420K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645959" y="1600200"/>
            <a:ext cx="2062919" cy="3200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F8FAFC"/>
                </a:solidFill>
                <a:latin typeface="Calibri"/>
              </a:rPr>
              <a:t>$510K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708879" y="1600200"/>
            <a:ext cx="1375279" cy="3200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F8FAFC"/>
                </a:solidFill>
                <a:latin typeface="Calibri"/>
              </a:rPr>
              <a:t>+21%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084159" y="1600200"/>
            <a:ext cx="1650335" cy="3200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F8FAFC"/>
                </a:solidFill>
                <a:latin typeface="Calibri"/>
              </a:rPr>
              <a:t>On track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1920240"/>
            <a:ext cx="4125839" cy="32004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F8FAFC"/>
                </a:solidFill>
                <a:latin typeface="Calibri"/>
              </a:rPr>
              <a:t>Beta Platform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83039" y="1920240"/>
            <a:ext cx="2062919" cy="32004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F8FAFC"/>
                </a:solidFill>
                <a:latin typeface="Calibri"/>
              </a:rPr>
              <a:t>$280K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45959" y="1920240"/>
            <a:ext cx="2062919" cy="32004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F8FAFC"/>
                </a:solidFill>
                <a:latin typeface="Calibri"/>
              </a:rPr>
              <a:t>$295K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708879" y="1920240"/>
            <a:ext cx="1375279" cy="32004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F8FAFC"/>
                </a:solidFill>
                <a:latin typeface="Calibri"/>
              </a:rPr>
              <a:t>+5%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084159" y="1920240"/>
            <a:ext cx="1650335" cy="32004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F8FAFC"/>
                </a:solidFill>
                <a:latin typeface="Calibri"/>
              </a:rPr>
              <a:t>At risk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2240280"/>
            <a:ext cx="4125839" cy="3200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F8FAFC"/>
                </a:solidFill>
                <a:latin typeface="Calibri"/>
              </a:rPr>
              <a:t>Gamma API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83039" y="2240280"/>
            <a:ext cx="2062919" cy="3200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F8FAFC"/>
                </a:solidFill>
                <a:latin typeface="Calibri"/>
              </a:rPr>
              <a:t>$190K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45959" y="2240280"/>
            <a:ext cx="2062919" cy="3200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F8FAFC"/>
                </a:solidFill>
                <a:latin typeface="Calibri"/>
              </a:rPr>
              <a:t>$240K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708879" y="2240280"/>
            <a:ext cx="1375279" cy="3200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F8FAFC"/>
                </a:solidFill>
                <a:latin typeface="Calibri"/>
              </a:rPr>
              <a:t>+26%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084159" y="2240280"/>
            <a:ext cx="1650335" cy="3200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F8FAFC"/>
                </a:solidFill>
                <a:latin typeface="Calibri"/>
              </a:rPr>
              <a:t>On track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2560320"/>
            <a:ext cx="4125839" cy="32004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F8FAFC"/>
                </a:solidFill>
                <a:latin typeface="Calibri"/>
              </a:rPr>
              <a:t>Delta Service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83039" y="2560320"/>
            <a:ext cx="2062919" cy="32004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F8FAFC"/>
                </a:solidFill>
                <a:latin typeface="Calibri"/>
              </a:rPr>
              <a:t>$95K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645959" y="2560320"/>
            <a:ext cx="2062919" cy="32004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F8FAFC"/>
                </a:solidFill>
                <a:latin typeface="Calibri"/>
              </a:rPr>
              <a:t>$88K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708879" y="2560320"/>
            <a:ext cx="1375279" cy="32004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F8FAFC"/>
                </a:solidFill>
                <a:latin typeface="Calibri"/>
              </a:rPr>
              <a:t>-7%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084159" y="2560320"/>
            <a:ext cx="1650335" cy="32004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F8FAFC"/>
                </a:solidFill>
                <a:latin typeface="Calibri"/>
              </a:rPr>
              <a:t>Behind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2880360"/>
            <a:ext cx="4125839" cy="3200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F8FAFC"/>
                </a:solidFill>
                <a:latin typeface="Calibri"/>
              </a:rPr>
              <a:t>Epsilon SDK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83039" y="2880360"/>
            <a:ext cx="2062919" cy="3200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F8FAFC"/>
                </a:solidFill>
                <a:latin typeface="Calibri"/>
              </a:rPr>
              <a:t>$60K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645959" y="2880360"/>
            <a:ext cx="2062919" cy="3200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F8FAFC"/>
                </a:solidFill>
                <a:latin typeface="Calibri"/>
              </a:rPr>
              <a:t>$75K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708879" y="2880360"/>
            <a:ext cx="1375279" cy="3200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F8FAFC"/>
                </a:solidFill>
                <a:latin typeface="Calibri"/>
              </a:rPr>
              <a:t>+25%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0084159" y="2880360"/>
            <a:ext cx="1650335" cy="3200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F8FAFC"/>
                </a:solidFill>
                <a:latin typeface="Calibri"/>
              </a:rPr>
              <a:t>On track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45720" cy="5486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1104869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F8FAFC"/>
                </a:solidFill>
                <a:latin typeface="Calibri Light"/>
              </a:rPr>
              <a:t>Revenue Trend Analysis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280160"/>
          <a:ext cx="5547207" cy="25603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187287" y="1280160"/>
          <a:ext cx="5547207" cy="25603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4160520"/>
          <a:ext cx="11277295" cy="237744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45720" cy="5486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1104869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F8FAFC"/>
                </a:solidFill>
                <a:latin typeface="Calibri Light"/>
              </a:rPr>
              <a:t>Roadmap &amp; 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3637178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 i="0">
                <a:solidFill>
                  <a:srgbClr val="F8FAFC"/>
                </a:solidFill>
                <a:latin typeface="Calibri Light"/>
              </a:rPr>
              <a:t>Backlog</a:t>
            </a:r>
          </a:p>
        </p:txBody>
      </p:sp>
      <p:sp>
        <p:nvSpPr>
          <p:cNvPr id="5" name="Rectangle 4"/>
          <p:cNvSpPr/>
          <p:nvPr/>
        </p:nvSpPr>
        <p:spPr>
          <a:xfrm>
            <a:off x="562356" y="1773936"/>
            <a:ext cx="64008" cy="6400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645920"/>
            <a:ext cx="3362858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F8FAFC"/>
                </a:solidFill>
                <a:latin typeface="Calibri"/>
              </a:rPr>
              <a:t>Redesign onboarding flow</a:t>
            </a:r>
          </a:p>
        </p:txBody>
      </p:sp>
      <p:sp>
        <p:nvSpPr>
          <p:cNvPr id="7" name="Rectangle 6"/>
          <p:cNvSpPr/>
          <p:nvPr/>
        </p:nvSpPr>
        <p:spPr>
          <a:xfrm>
            <a:off x="562356" y="2093976"/>
            <a:ext cx="64008" cy="6400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965960"/>
            <a:ext cx="3362858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F8FAFC"/>
                </a:solidFill>
                <a:latin typeface="Calibri"/>
              </a:rPr>
              <a:t>Launch mobile app v2</a:t>
            </a:r>
          </a:p>
        </p:txBody>
      </p:sp>
      <p:sp>
        <p:nvSpPr>
          <p:cNvPr id="9" name="Rectangle 8"/>
          <p:cNvSpPr/>
          <p:nvPr/>
        </p:nvSpPr>
        <p:spPr>
          <a:xfrm>
            <a:off x="562356" y="2414016"/>
            <a:ext cx="64008" cy="6400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286000"/>
            <a:ext cx="3362858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F8FAFC"/>
                </a:solidFill>
                <a:latin typeface="Calibri"/>
              </a:rPr>
              <a:t>Integrate SSO providers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2356" y="2734056"/>
            <a:ext cx="64008" cy="6400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2606040"/>
            <a:ext cx="3362858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F8FAFC"/>
                </a:solidFill>
                <a:latin typeface="Calibri"/>
              </a:rPr>
              <a:t>Expand API docs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77258" y="1280160"/>
            <a:ext cx="3637178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 i="0">
                <a:solidFill>
                  <a:srgbClr val="F8FAFC"/>
                </a:solidFill>
                <a:latin typeface="Calibri Light"/>
              </a:rPr>
              <a:t>Priorities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77258" y="1645920"/>
            <a:ext cx="2743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400" b="1" i="0">
                <a:solidFill>
                  <a:srgbClr val="3B82F6"/>
                </a:solidFill>
                <a:latin typeface="Calibri"/>
              </a:rPr>
              <a:t>1.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51578" y="1645920"/>
            <a:ext cx="3362858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F8FAFC"/>
                </a:solidFill>
                <a:latin typeface="Calibri"/>
              </a:rPr>
              <a:t>Define OKRs for H2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77258" y="1965960"/>
            <a:ext cx="2743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400" b="1" i="0">
                <a:solidFill>
                  <a:srgbClr val="3B82F6"/>
                </a:solidFill>
                <a:latin typeface="Calibri"/>
              </a:rP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51578" y="1965960"/>
            <a:ext cx="3362858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F8FAFC"/>
                </a:solidFill>
                <a:latin typeface="Calibri"/>
              </a:rPr>
              <a:t>Security audit complete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77258" y="2286000"/>
            <a:ext cx="2743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400" b="1" i="0">
                <a:solidFill>
                  <a:srgbClr val="3B82F6"/>
                </a:solidFill>
                <a:latin typeface="Calibri"/>
              </a:rPr>
              <a:t>3.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51578" y="2286000"/>
            <a:ext cx="3362858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F8FAFC"/>
                </a:solidFill>
                <a:latin typeface="Calibri"/>
              </a:rPr>
              <a:t>Migrate to GCP Cloud Run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77258" y="2606040"/>
            <a:ext cx="2743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400" b="1" i="0">
                <a:solidFill>
                  <a:srgbClr val="3B82F6"/>
                </a:solidFill>
                <a:latin typeface="Calibri"/>
              </a:rPr>
              <a:t>4.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51578" y="2606040"/>
            <a:ext cx="3362858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F8FAFC"/>
                </a:solidFill>
                <a:latin typeface="Calibri"/>
              </a:rPr>
              <a:t>Enable A/B testing framework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97316" y="1280160"/>
            <a:ext cx="3637178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 i="0">
                <a:solidFill>
                  <a:srgbClr val="F8FAFC"/>
                </a:solidFill>
                <a:latin typeface="Calibri Light"/>
              </a:rPr>
              <a:t>Checklist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97316" y="1645920"/>
            <a:ext cx="2743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1" i="0">
                <a:solidFill>
                  <a:srgbClr val="22C55E"/>
                </a:solidFill>
                <a:latin typeface="Calibri"/>
              </a:rPr>
              <a:t>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71636" y="1645920"/>
            <a:ext cx="3362858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1">
                <a:solidFill>
                  <a:srgbClr val="94A3B8"/>
                </a:solidFill>
                <a:latin typeface="Calibri"/>
              </a:rPr>
              <a:t>Deploy rate limiting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97316" y="1965960"/>
            <a:ext cx="2743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0" i="0">
                <a:solidFill>
                  <a:srgbClr val="94A3B8"/>
                </a:solidFill>
                <a:latin typeface="Calibri"/>
              </a:rPr>
              <a:t>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71636" y="1965960"/>
            <a:ext cx="3362858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F8FAFC"/>
                </a:solidFill>
                <a:latin typeface="Calibri"/>
              </a:rPr>
              <a:t>Fix dashboard load time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97316" y="2286000"/>
            <a:ext cx="2743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1" i="0">
                <a:solidFill>
                  <a:srgbClr val="22C55E"/>
                </a:solidFill>
                <a:latin typeface="Calibri"/>
              </a:rPr>
              <a:t>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71636" y="2286000"/>
            <a:ext cx="3362858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1">
                <a:solidFill>
                  <a:srgbClr val="94A3B8"/>
                </a:solidFill>
                <a:latin typeface="Calibri"/>
              </a:rPr>
              <a:t>Update privacy policy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97316" y="2606040"/>
            <a:ext cx="2743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0" i="0">
                <a:solidFill>
                  <a:srgbClr val="94A3B8"/>
                </a:solidFill>
                <a:latin typeface="Calibri"/>
              </a:rPr>
              <a:t>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71636" y="2606040"/>
            <a:ext cx="3362858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F8FAFC"/>
                </a:solidFill>
                <a:latin typeface="Calibri"/>
              </a:rPr>
              <a:t>Archive legacy endpoints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97316" y="2926080"/>
            <a:ext cx="2743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0" i="0">
                <a:solidFill>
                  <a:srgbClr val="94A3B8"/>
                </a:solidFill>
                <a:latin typeface="Calibri"/>
              </a:rPr>
              <a:t>○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71636" y="2926080"/>
            <a:ext cx="3362858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F8FAFC"/>
                </a:solidFill>
                <a:latin typeface="Calibri"/>
              </a:rPr>
              <a:t>Notify affected users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45720" cy="5486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1104869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F8FAFC"/>
                </a:solidFill>
                <a:latin typeface="Calibri Light"/>
              </a:rPr>
              <a:t>Notices &amp; Insights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25880"/>
            <a:ext cx="11277295" cy="685800"/>
          </a:xfrm>
          <a:prstGeom prst="roundRect">
            <a:avLst>
              <a:gd name="adj" fmla="val 5333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325880"/>
            <a:ext cx="54864" cy="6858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94944" y="1325880"/>
            <a:ext cx="10948111" cy="6858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/>
            <a:r>
              <a:rPr sz="1400" b="0" i="0">
                <a:solidFill>
                  <a:srgbClr val="F8FAFC"/>
                </a:solidFill>
                <a:latin typeface="Calibri"/>
              </a:rPr>
              <a:t>INFO  Database migration scheduled for July 4 — expect 2 min downtime.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194560"/>
            <a:ext cx="11277295" cy="685800"/>
          </a:xfrm>
          <a:prstGeom prst="roundRect">
            <a:avLst>
              <a:gd name="adj" fmla="val 5333"/>
            </a:avLst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2194560"/>
            <a:ext cx="54864" cy="6858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94944" y="2194560"/>
            <a:ext cx="10948111" cy="6858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/>
            <a:r>
              <a:rPr sz="1400" b="0" i="0">
                <a:solidFill>
                  <a:srgbClr val="FFFBEB"/>
                </a:solidFill>
                <a:latin typeface="Calibri"/>
              </a:rPr>
              <a:t>⚠  WARNING  Churn has increased 0.4pp — review retention playbook this sprint.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3063239"/>
            <a:ext cx="11277295" cy="685800"/>
          </a:xfrm>
          <a:prstGeom prst="roundRect">
            <a:avLst>
              <a:gd name="adj" fmla="val 5333"/>
            </a:avLst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3063239"/>
            <a:ext cx="54864" cy="6858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94944" y="3063239"/>
            <a:ext cx="10948111" cy="6858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/>
            <a:r>
              <a:rPr sz="1400" b="0" i="0">
                <a:solidFill>
                  <a:srgbClr val="F0FDF4"/>
                </a:solidFill>
                <a:latin typeface="Calibri"/>
              </a:rPr>
              <a:t>✓  SUCCESS  Uptime target of 99.5% achieved for third consecutive month.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931920"/>
            <a:ext cx="11277295" cy="685800"/>
          </a:xfrm>
          <a:prstGeom prst="roundRect">
            <a:avLst>
              <a:gd name="adj" fmla="val 5333"/>
            </a:avLst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931920"/>
            <a:ext cx="54864" cy="6858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94944" y="3931920"/>
            <a:ext cx="10948111" cy="6858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/>
            <a:r>
              <a:rPr sz="1400" b="0" i="0">
                <a:solidFill>
                  <a:srgbClr val="FFF1F2"/>
                </a:solidFill>
                <a:latin typeface="Calibri"/>
              </a:rPr>
              <a:t>✕  ERROR  Payment gateway timeout rate exceeded SLA threshold on June 12.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4937760"/>
            <a:ext cx="11277295" cy="1188720"/>
          </a:xfrm>
          <a:prstGeom prst="roundRect">
            <a:avLst>
              <a:gd name="adj" fmla="val 3846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4937760"/>
            <a:ext cx="54864" cy="11887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6384" y="5212080"/>
            <a:ext cx="10673791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0" i="1">
                <a:solidFill>
                  <a:srgbClr val="CBD5E1"/>
                </a:solidFill>
                <a:latin typeface="Calibri Light"/>
              </a:rPr>
              <a:t>“The goal is not to build more features — it's to make existing ones indispensable.”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" y="5760720"/>
            <a:ext cx="10673791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— Product Review, May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45720" cy="5486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967709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F8FAFC"/>
                </a:solidFill>
                <a:latin typeface="Calibri Light"/>
              </a:rPr>
              <a:t>Sprint Progress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545775" y="571500"/>
            <a:ext cx="1188720" cy="320040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Week 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0820095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alibri"/>
              </a:rPr>
              <a:t>Authentication service migration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7295" y="1371600"/>
            <a:ext cx="4572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 i="0">
                <a:solidFill>
                  <a:srgbClr val="3B82F6"/>
                </a:solidFill>
                <a:latin typeface="Calibri"/>
              </a:rPr>
              <a:t>85%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691640"/>
            <a:ext cx="11277295" cy="16459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7200" y="1691640"/>
            <a:ext cx="9585700" cy="164592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2057400"/>
            <a:ext cx="10820095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alibri"/>
              </a:rPr>
              <a:t>API v3 rollout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77295" y="2057400"/>
            <a:ext cx="4572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 i="0">
                <a:solidFill>
                  <a:srgbClr val="3B82F6"/>
                </a:solidFill>
                <a:latin typeface="Calibri"/>
              </a:rPr>
              <a:t>62%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377440"/>
            <a:ext cx="11277295" cy="16459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57200" y="2377440"/>
            <a:ext cx="6991923" cy="164592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2743200"/>
            <a:ext cx="10820095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alibri"/>
              </a:rPr>
              <a:t>Data warehouse rebuild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77295" y="2743200"/>
            <a:ext cx="4572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 i="0">
                <a:solidFill>
                  <a:srgbClr val="3B82F6"/>
                </a:solidFill>
                <a:latin typeface="Calibri"/>
              </a:rPr>
              <a:t>40%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063240"/>
            <a:ext cx="11277295" cy="16459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57200" y="3063240"/>
            <a:ext cx="4510918" cy="164592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3429000"/>
            <a:ext cx="10820095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alibri"/>
              </a:rPr>
              <a:t>Mobile parity features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77295" y="3429000"/>
            <a:ext cx="4572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 i="0">
                <a:solidFill>
                  <a:srgbClr val="3B82F6"/>
                </a:solidFill>
                <a:latin typeface="Calibri"/>
              </a:rPr>
              <a:t>91%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3749039"/>
            <a:ext cx="11277295" cy="16459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57200" y="3749039"/>
            <a:ext cx="10262338" cy="164592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4114800"/>
            <a:ext cx="10820095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alibri"/>
              </a:rPr>
              <a:t>Legacy cleanup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77295" y="4114800"/>
            <a:ext cx="4572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 i="0">
                <a:solidFill>
                  <a:srgbClr val="3B82F6"/>
                </a:solidFill>
                <a:latin typeface="Calibri"/>
              </a:rPr>
              <a:t>20%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4434840"/>
            <a:ext cx="11277295" cy="16459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457200" y="4434840"/>
            <a:ext cx="2255459" cy="164592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249641" y="5029200"/>
            <a:ext cx="1097280" cy="274320"/>
          </a:xfrm>
          <a:prstGeom prst="roundRect">
            <a:avLst>
              <a:gd name="adj" fmla="val 50000"/>
            </a:avLst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0FDF4"/>
                </a:solidFill>
                <a:latin typeface="Calibri"/>
              </a:rPr>
              <a:t>Operational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114685" y="5029200"/>
            <a:ext cx="1097280" cy="27432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BEB"/>
                </a:solidFill>
                <a:latin typeface="Calibri"/>
              </a:rPr>
              <a:t>Degraded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979729" y="5029200"/>
            <a:ext cx="1097280" cy="274320"/>
          </a:xfrm>
          <a:prstGeom prst="roundRect">
            <a:avLst>
              <a:gd name="adj" fmla="val 50000"/>
            </a:avLst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1F2"/>
                </a:solidFill>
                <a:latin typeface="Calibri"/>
              </a:rPr>
              <a:t>Outage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844773" y="5029200"/>
            <a:ext cx="1097280" cy="274320"/>
          </a:xfrm>
          <a:prstGeom prst="roundRect">
            <a:avLst>
              <a:gd name="adj" fmla="val 50000"/>
            </a:avLst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0FDF4"/>
                </a:solidFill>
                <a:latin typeface="Calibri"/>
              </a:rPr>
              <a:t>Healthy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11277295" cy="6400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12648"/>
            <a:ext cx="11277295" cy="7040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4000" b="1" i="0">
                <a:solidFill>
                  <a:srgbClr val="F8FAFC"/>
                </a:solidFill>
                <a:latin typeface="Calibri Light"/>
              </a:rPr>
              <a:t>Executive Dashboard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16736"/>
            <a:ext cx="11277295" cy="42062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0" i="0">
                <a:solidFill>
                  <a:srgbClr val="CBD5E1"/>
                </a:solidFill>
                <a:latin typeface="Calibri Light"/>
              </a:rPr>
              <a:t>Composite layout — all components composed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011679"/>
            <a:ext cx="2682163" cy="1371600"/>
          </a:xfrm>
          <a:prstGeom prst="roundRect">
            <a:avLst>
              <a:gd name="adj" fmla="val 3333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2011679"/>
            <a:ext cx="45720" cy="13716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194560"/>
            <a:ext cx="2270683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MRR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423160"/>
            <a:ext cx="2270683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F8FAFC"/>
                </a:solidFill>
                <a:latin typeface="Calibri Light"/>
              </a:rPr>
              <a:t>$128K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834640"/>
            <a:ext cx="2270683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22C55E"/>
                </a:solidFill>
                <a:latin typeface="Calibri"/>
              </a:rPr>
              <a:t>▲ +12%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22243" y="2011679"/>
            <a:ext cx="2682163" cy="1371600"/>
          </a:xfrm>
          <a:prstGeom prst="roundRect">
            <a:avLst>
              <a:gd name="adj" fmla="val 3333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322243" y="2011679"/>
            <a:ext cx="45720" cy="13716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50843" y="2194560"/>
            <a:ext cx="2270683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NPS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50843" y="2423160"/>
            <a:ext cx="2270683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F8FAFC"/>
                </a:solidFill>
                <a:latin typeface="Calibri Light"/>
              </a:rPr>
              <a:t>72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50843" y="2834640"/>
            <a:ext cx="2270683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22C55E"/>
                </a:solidFill>
                <a:latin typeface="Calibri"/>
              </a:rPr>
              <a:t>▲ +4pts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87287" y="2011679"/>
            <a:ext cx="2682163" cy="1371600"/>
          </a:xfrm>
          <a:prstGeom prst="roundRect">
            <a:avLst>
              <a:gd name="adj" fmla="val 3333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87287" y="2011679"/>
            <a:ext cx="45720" cy="13716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15887" y="2194560"/>
            <a:ext cx="2270683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CAC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15887" y="2423160"/>
            <a:ext cx="2270683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F8FAFC"/>
                </a:solidFill>
                <a:latin typeface="Calibri Light"/>
              </a:rPr>
              <a:t>$42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15887" y="2834640"/>
            <a:ext cx="2270683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22C55E"/>
                </a:solidFill>
                <a:latin typeface="Calibri"/>
              </a:rPr>
              <a:t>▲ -8%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52331" y="2011679"/>
            <a:ext cx="2682163" cy="1371600"/>
          </a:xfrm>
          <a:prstGeom prst="roundRect">
            <a:avLst>
              <a:gd name="adj" fmla="val 3333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052331" y="2011679"/>
            <a:ext cx="45720" cy="13716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80931" y="2194560"/>
            <a:ext cx="2270683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LTV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80931" y="2423160"/>
            <a:ext cx="2270683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F8FAFC"/>
                </a:solidFill>
                <a:latin typeface="Calibri Light"/>
              </a:rPr>
              <a:t>$890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80931" y="2834640"/>
            <a:ext cx="2270683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22C55E"/>
                </a:solidFill>
                <a:latin typeface="Calibri"/>
              </a:rPr>
              <a:t>▲ +6%</a:t>
            </a:r>
          </a:p>
        </p:txBody>
      </p:sp>
      <p:graphicFrame>
        <p:nvGraphicFramePr>
          <p:cNvPr id="25" name="Chart 24"/>
          <p:cNvGraphicFramePr>
            <a:graphicFrameLocks noGrp="1"/>
          </p:cNvGraphicFramePr>
          <p:nvPr/>
        </p:nvGraphicFramePr>
        <p:xfrm>
          <a:off x="457200" y="3657599"/>
          <a:ext cx="11277295" cy="2377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45720" cy="5486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9503359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F8FAFC"/>
                </a:solidFill>
                <a:latin typeface="Calibri Light"/>
              </a:rPr>
              <a:t>React Pattern Adaptations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372039" y="571500"/>
            <a:ext cx="1362456" cy="320040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Tabs + Steps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1127729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 i="0">
                <a:solidFill>
                  <a:srgbClr val="F8FAFC"/>
                </a:solidFill>
                <a:latin typeface="Calibri Light"/>
              </a:rPr>
              <a:t>TabsPanel (inspired by Radix/shadcn Tabs)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45919"/>
            <a:ext cx="2819323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0" i="0">
                <a:solidFill>
                  <a:srgbClr val="94A3B8"/>
                </a:solidFill>
                <a:latin typeface="Calibri"/>
              </a:rPr>
              <a:t>Overview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31387" y="2011680"/>
            <a:ext cx="2709595" cy="27432"/>
          </a:xfrm>
          <a:prstGeom prst="roundRect">
            <a:avLst>
              <a:gd name="adj" fmla="val 33333"/>
            </a:avLst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76523" y="1645919"/>
            <a:ext cx="2819323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1" i="0">
                <a:solidFill>
                  <a:srgbClr val="F8FAFC"/>
                </a:solidFill>
                <a:latin typeface="Calibri"/>
              </a:rPr>
              <a:t>Analytics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5847" y="1645919"/>
            <a:ext cx="2819323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0" i="0">
                <a:solidFill>
                  <a:srgbClr val="94A3B8"/>
                </a:solidFill>
                <a:latin typeface="Calibri"/>
              </a:rPr>
              <a:t>Risks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15171" y="1645919"/>
            <a:ext cx="2819323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0" i="0">
                <a:solidFill>
                  <a:srgbClr val="94A3B8"/>
                </a:solidFill>
                <a:latin typeface="Calibri"/>
              </a:rPr>
              <a:t>Decisions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057400"/>
            <a:ext cx="11277295" cy="1005839"/>
          </a:xfrm>
          <a:prstGeom prst="roundRect">
            <a:avLst>
              <a:gd name="adj" fmla="val 4545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240280"/>
            <a:ext cx="10911535" cy="64007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CBD5E1"/>
                </a:solidFill>
                <a:latin typeface="Calibri"/>
              </a:rPr>
              <a:t>Q2 analytics summary: Revenue is up 18% YoY, activation improved by 6%, and churn remains above target in two enterprise segments.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474720"/>
            <a:ext cx="1127729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 i="0">
                <a:solidFill>
                  <a:srgbClr val="F8FAFC"/>
                </a:solidFill>
                <a:latin typeface="Calibri Light"/>
              </a:rPr>
              <a:t>StepFlow (inspired by Ant Design Steps)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8096" y="3982943"/>
            <a:ext cx="2471851" cy="27432"/>
          </a:xfrm>
          <a:prstGeom prst="roundRect">
            <a:avLst>
              <a:gd name="adj" fmla="val 33333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495979" y="3982943"/>
            <a:ext cx="2471851" cy="27432"/>
          </a:xfrm>
          <a:prstGeom prst="roundRect">
            <a:avLst>
              <a:gd name="adj" fmla="val 33333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223863" y="3982943"/>
            <a:ext cx="2471851" cy="27432"/>
          </a:xfrm>
          <a:prstGeom prst="roundRect">
            <a:avLst>
              <a:gd name="adj" fmla="val 33333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951747" y="3982943"/>
            <a:ext cx="2471851" cy="27432"/>
          </a:xfrm>
          <a:prstGeom prst="roundRect">
            <a:avLst>
              <a:gd name="adj" fmla="val 33333"/>
            </a:avLst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12063" y="3868643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3" y="3877787"/>
            <a:ext cx="256032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0F172A"/>
                </a:solidFill>
                <a:latin typeface="Calibri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0" y="4251959"/>
            <a:ext cx="1280160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CBD5E1"/>
                </a:solidFill>
                <a:latin typeface="Calibri"/>
              </a:rPr>
              <a:t>Discovery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9947" y="3868643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239947" y="3877787"/>
            <a:ext cx="256032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0F172A"/>
                </a:solidFill>
                <a:latin typeface="Calibri"/>
              </a:rP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27883" y="4251959"/>
            <a:ext cx="1280160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CBD5E1"/>
                </a:solidFill>
                <a:latin typeface="Calibri"/>
              </a:rPr>
              <a:t>Prototype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967831" y="3868643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67831" y="3877787"/>
            <a:ext cx="256032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0F172A"/>
                </a:solidFill>
                <a:latin typeface="Calibr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55767" y="4251959"/>
            <a:ext cx="1280160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F8FAFC"/>
                </a:solidFill>
                <a:latin typeface="Calibri"/>
              </a:rPr>
              <a:t>Validation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695715" y="3868643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695715" y="3877787"/>
            <a:ext cx="256032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94A3B8"/>
                </a:solidFill>
                <a:latin typeface="Calibri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83651" y="4251959"/>
            <a:ext cx="1280160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94A3B8"/>
                </a:solidFill>
                <a:latin typeface="Calibri"/>
              </a:rPr>
              <a:t>Launch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423599" y="3868643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423599" y="3877787"/>
            <a:ext cx="256032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94A3B8"/>
                </a:solidFill>
                <a:latin typeface="Calibri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911535" y="4251959"/>
            <a:ext cx="1280160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94A3B8"/>
                </a:solidFill>
                <a:latin typeface="Calibri"/>
              </a:rPr>
              <a:t>Scale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45720" cy="5486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8735263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F8FAFC"/>
                </a:solidFill>
                <a:latin typeface="Calibri Light"/>
              </a:rPr>
              <a:t>Phase 1 Additions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03943" y="571500"/>
            <a:ext cx="2130552" cy="320040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Image + Legend + KPIGrid</a:t>
            </a:r>
          </a:p>
        </p:txBody>
      </p:sp>
      <p:pic>
        <p:nvPicPr>
          <p:cNvPr id="5" name="Picture 4" descr="slide_0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7586" y="1280160"/>
            <a:ext cx="4226560" cy="2377440"/>
          </a:xfrm>
          <a:prstGeom prst="rect">
            <a:avLst/>
          </a:prstGeom>
          <a:ln w="12700">
            <a:solidFill>
              <a:srgbClr val="94A3B8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7467412" y="1280160"/>
            <a:ext cx="4267082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 i="0">
                <a:solidFill>
                  <a:srgbClr val="F8FAFC"/>
                </a:solidFill>
                <a:latin typeface="Calibri Light"/>
              </a:rPr>
              <a:t>Region Color Legend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67412" y="1682496"/>
            <a:ext cx="109728" cy="109728"/>
          </a:xfrm>
          <a:prstGeom prst="roundRect">
            <a:avLst>
              <a:gd name="adj" fmla="val 8333"/>
            </a:avLst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68580" y="1600200"/>
            <a:ext cx="406591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F8FAFC"/>
                </a:solidFill>
                <a:latin typeface="Calibri"/>
              </a:rPr>
              <a:t>APAC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67412" y="1956815"/>
            <a:ext cx="109728" cy="109728"/>
          </a:xfrm>
          <a:prstGeom prst="roundRect">
            <a:avLst>
              <a:gd name="adj" fmla="val 8333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68580" y="1874519"/>
            <a:ext cx="406591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F8FAFC"/>
                </a:solidFill>
                <a:latin typeface="Calibri"/>
              </a:rPr>
              <a:t>EMEA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67412" y="2231135"/>
            <a:ext cx="109728" cy="109728"/>
          </a:xfrm>
          <a:prstGeom prst="roundRect">
            <a:avLst>
              <a:gd name="adj" fmla="val 8333"/>
            </a:avLst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68580" y="2148839"/>
            <a:ext cx="406591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F8FAFC"/>
                </a:solidFill>
                <a:latin typeface="Calibri"/>
              </a:rPr>
              <a:t>Americas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67412" y="2505455"/>
            <a:ext cx="109728" cy="109728"/>
          </a:xfrm>
          <a:prstGeom prst="roundRect">
            <a:avLst>
              <a:gd name="adj" fmla="val 8333"/>
            </a:avLst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68580" y="2423159"/>
            <a:ext cx="406591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F8FAFC"/>
                </a:solidFill>
                <a:latin typeface="Calibri"/>
              </a:rPr>
              <a:t>Other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977640"/>
            <a:ext cx="3637178" cy="1371600"/>
          </a:xfrm>
          <a:prstGeom prst="roundRect">
            <a:avLst>
              <a:gd name="adj" fmla="val 3333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3977640"/>
            <a:ext cx="45720" cy="13716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4160520"/>
            <a:ext cx="32256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NEW LEADS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4389120"/>
            <a:ext cx="3225698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F8FAFC"/>
                </a:solidFill>
                <a:latin typeface="Calibri Light"/>
              </a:rPr>
              <a:t>1,284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4800600"/>
            <a:ext cx="32256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22C55E"/>
                </a:solidFill>
                <a:latin typeface="Calibri"/>
              </a:rPr>
              <a:t>▲ +9%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77258" y="3977640"/>
            <a:ext cx="3637178" cy="1371600"/>
          </a:xfrm>
          <a:prstGeom prst="roundRect">
            <a:avLst>
              <a:gd name="adj" fmla="val 3333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277258" y="3977640"/>
            <a:ext cx="45720" cy="13716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05858" y="4160520"/>
            <a:ext cx="32256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CONVERSION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05858" y="4389120"/>
            <a:ext cx="3225698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F8FAFC"/>
                </a:solidFill>
                <a:latin typeface="Calibri Light"/>
              </a:rPr>
              <a:t>14.2%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05858" y="4800600"/>
            <a:ext cx="32256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22C55E"/>
                </a:solidFill>
                <a:latin typeface="Calibri"/>
              </a:rPr>
              <a:t>▲ +1.1pp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97316" y="3977640"/>
            <a:ext cx="3637178" cy="1371600"/>
          </a:xfrm>
          <a:prstGeom prst="roundRect">
            <a:avLst>
              <a:gd name="adj" fmla="val 3333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97316" y="3977640"/>
            <a:ext cx="45720" cy="13716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25916" y="4160520"/>
            <a:ext cx="32256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PIPELINE VALUE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25916" y="4389120"/>
            <a:ext cx="3225698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F8FAFC"/>
                </a:solidFill>
                <a:latin typeface="Calibri Light"/>
              </a:rPr>
              <a:t>$3.4M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5916" y="4800600"/>
            <a:ext cx="32256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22C55E"/>
                </a:solidFill>
                <a:latin typeface="Calibri"/>
              </a:rPr>
              <a:t>▲ +6%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5532120"/>
            <a:ext cx="3637178" cy="1371600"/>
          </a:xfrm>
          <a:prstGeom prst="roundRect">
            <a:avLst>
              <a:gd name="adj" fmla="val 3333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200" y="5532120"/>
            <a:ext cx="45720" cy="13716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5800" y="5715000"/>
            <a:ext cx="32256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WIN RATE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5800" y="5943600"/>
            <a:ext cx="3225698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F8FAFC"/>
                </a:solidFill>
                <a:latin typeface="Calibri Light"/>
              </a:rPr>
              <a:t>31%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5800" y="6355080"/>
            <a:ext cx="32256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EF4444"/>
                </a:solidFill>
                <a:latin typeface="Calibri"/>
              </a:rPr>
              <a:t>▼ -2pp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277258" y="5532120"/>
            <a:ext cx="3637178" cy="1371600"/>
          </a:xfrm>
          <a:prstGeom prst="roundRect">
            <a:avLst>
              <a:gd name="adj" fmla="val 3333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277258" y="5532120"/>
            <a:ext cx="45720" cy="13716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05858" y="5715000"/>
            <a:ext cx="32256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SALES CYCLE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05858" y="5943600"/>
            <a:ext cx="3225698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F8FAFC"/>
                </a:solidFill>
                <a:latin typeface="Calibri Light"/>
              </a:rPr>
              <a:t>27 days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05858" y="6355080"/>
            <a:ext cx="32256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22C55E"/>
                </a:solidFill>
                <a:latin typeface="Calibri"/>
              </a:rPr>
              <a:t>▲ -3 days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097316" y="5532120"/>
            <a:ext cx="3637178" cy="1371600"/>
          </a:xfrm>
          <a:prstGeom prst="roundRect">
            <a:avLst>
              <a:gd name="adj" fmla="val 3333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097316" y="5532120"/>
            <a:ext cx="45720" cy="13716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325916" y="5715000"/>
            <a:ext cx="32256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UPSELL MRR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25916" y="5943600"/>
            <a:ext cx="3225698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F8FAFC"/>
                </a:solidFill>
                <a:latin typeface="Calibri Light"/>
              </a:rPr>
              <a:t>$48K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25916" y="6355080"/>
            <a:ext cx="32256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22C55E"/>
                </a:solidFill>
                <a:latin typeface="Calibri"/>
              </a:rPr>
              <a:t>▲ +12%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45720" cy="5486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8927287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F8FAFC"/>
                </a:solidFill>
                <a:latin typeface="Calibri Light"/>
              </a:rPr>
              <a:t>Phase 2 Additions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795967" y="571500"/>
            <a:ext cx="1938528" cy="320040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Timeline + Comparison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127729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 i="0">
                <a:solidFill>
                  <a:srgbClr val="F8FAFC"/>
                </a:solidFill>
                <a:latin typeface="Calibri Light"/>
              </a:rPr>
              <a:t>Program Roadmap (MUI Timeline inspired)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318004"/>
            <a:ext cx="10911535" cy="18288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2235708"/>
            <a:ext cx="182880" cy="182880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-137160" y="1760219"/>
            <a:ext cx="15544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94A3B8"/>
                </a:solidFill>
                <a:latin typeface="Calibri"/>
              </a:rPr>
              <a:t>Q1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-137160" y="1943100"/>
            <a:ext cx="1554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F8FAFC"/>
                </a:solidFill>
                <a:latin typeface="Calibri"/>
              </a:rPr>
              <a:t>Discovery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76523" y="2235708"/>
            <a:ext cx="182880" cy="182880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590723" y="2436876"/>
            <a:ext cx="15544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94A3B8"/>
                </a:solidFill>
                <a:latin typeface="Calibri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90723" y="2619756"/>
            <a:ext cx="1554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F8FAFC"/>
                </a:solidFill>
                <a:latin typeface="Calibri"/>
              </a:rPr>
              <a:t>Pilot Launch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04407" y="2235708"/>
            <a:ext cx="182880" cy="182880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18607" y="1760219"/>
            <a:ext cx="15544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94A3B8"/>
                </a:solidFill>
                <a:latin typeface="Calibri"/>
              </a:rPr>
              <a:t>Q3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18607" y="1943100"/>
            <a:ext cx="1554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F8FAFC"/>
                </a:solidFill>
                <a:latin typeface="Calibri"/>
              </a:rPr>
              <a:t>Enterprise Rollout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32291" y="2235708"/>
            <a:ext cx="182880" cy="182880"/>
          </a:xfrm>
          <a:prstGeom prst="roundRect">
            <a:avLst>
              <a:gd name="adj" fmla="val 50000"/>
            </a:avLst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491" y="2436876"/>
            <a:ext cx="15544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94A3B8"/>
                </a:solidFill>
                <a:latin typeface="Calibri"/>
              </a:rPr>
              <a:t>Q4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491" y="2619756"/>
            <a:ext cx="1554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CBD5E1"/>
                </a:solidFill>
                <a:latin typeface="Calibri"/>
              </a:rPr>
              <a:t>Automation Phase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1460175" y="2235708"/>
            <a:ext cx="182880" cy="182880"/>
          </a:xfrm>
          <a:prstGeom prst="roundRect">
            <a:avLst>
              <a:gd name="adj" fmla="val 50000"/>
            </a:avLst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774375" y="1760219"/>
            <a:ext cx="15544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94A3B8"/>
                </a:solidFill>
                <a:latin typeface="Calibri"/>
              </a:rPr>
              <a:t>Q1 '27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74375" y="1943100"/>
            <a:ext cx="1554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CBD5E1"/>
                </a:solidFill>
                <a:latin typeface="Calibri"/>
              </a:rPr>
              <a:t>Scale + Expansion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3291840"/>
            <a:ext cx="6566082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 i="0">
                <a:solidFill>
                  <a:srgbClr val="F8FAFC"/>
                </a:solidFill>
                <a:latin typeface="Calibri Light"/>
              </a:rPr>
              <a:t>Decision Matrix (shadcn composable style)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3611880"/>
            <a:ext cx="3191601" cy="2240280"/>
          </a:xfrm>
          <a:prstGeom prst="roundRect">
            <a:avLst>
              <a:gd name="adj" fmla="val 1632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457200" y="3611880"/>
            <a:ext cx="3191601" cy="27432"/>
          </a:xfrm>
          <a:prstGeom prst="roundRect">
            <a:avLst>
              <a:gd name="adj" fmla="val 33333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3657600"/>
            <a:ext cx="2825841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 i="0">
                <a:solidFill>
                  <a:srgbClr val="F8FAFC"/>
                </a:solidFill>
                <a:latin typeface="Calibri"/>
              </a:rPr>
              <a:t>Build In-House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3977639"/>
            <a:ext cx="201168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0" i="0">
                <a:solidFill>
                  <a:srgbClr val="3B82F6"/>
                </a:solidFill>
                <a:latin typeface="Calibri"/>
              </a:rPr>
              <a:t>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7" y="3977639"/>
            <a:ext cx="2624673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alibri"/>
              </a:rPr>
              <a:t>Full control over roadmap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4233672"/>
            <a:ext cx="201168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0" i="0">
                <a:solidFill>
                  <a:srgbClr val="3B82F6"/>
                </a:solidFill>
                <a:latin typeface="Calibri"/>
              </a:rPr>
              <a:t>•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1247" y="4233672"/>
            <a:ext cx="2624673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alibri"/>
              </a:rPr>
              <a:t>Can optimize for existing stack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4489704"/>
            <a:ext cx="201168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0" i="0">
                <a:solidFill>
                  <a:srgbClr val="3B82F6"/>
                </a:solidFill>
                <a:latin typeface="Calibri"/>
              </a:rPr>
              <a:t>•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7" y="4489704"/>
            <a:ext cx="2624673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alibri"/>
              </a:rPr>
              <a:t>Higher upfront engineering cost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4745736"/>
            <a:ext cx="201168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0" i="0">
                <a:solidFill>
                  <a:srgbClr val="3B82F6"/>
                </a:solidFill>
                <a:latin typeface="Calibri"/>
              </a:rPr>
              <a:t>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1247" y="4745736"/>
            <a:ext cx="2624673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alibri"/>
              </a:rPr>
              <a:t>Longer time-to-market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831681" y="3611880"/>
            <a:ext cx="3191601" cy="2240280"/>
          </a:xfrm>
          <a:prstGeom prst="roundRect">
            <a:avLst>
              <a:gd name="adj" fmla="val 1632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3831681" y="3611880"/>
            <a:ext cx="3191601" cy="27432"/>
          </a:xfrm>
          <a:prstGeom prst="roundRect">
            <a:avLst>
              <a:gd name="adj" fmla="val 33333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014561" y="3657600"/>
            <a:ext cx="2825841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 i="0">
                <a:solidFill>
                  <a:srgbClr val="F8FAFC"/>
                </a:solidFill>
                <a:latin typeface="Calibri"/>
              </a:rPr>
              <a:t>Buy Platform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014561" y="3977639"/>
            <a:ext cx="201168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0" i="0">
                <a:solidFill>
                  <a:srgbClr val="3B82F6"/>
                </a:solidFill>
                <a:latin typeface="Calibri"/>
              </a:rPr>
              <a:t>•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15729" y="3977639"/>
            <a:ext cx="2624673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alibri"/>
              </a:rPr>
              <a:t>Fastest path to launch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014561" y="4233672"/>
            <a:ext cx="201168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0" i="0">
                <a:solidFill>
                  <a:srgbClr val="3B82F6"/>
                </a:solidFill>
                <a:latin typeface="Calibri"/>
              </a:rPr>
              <a:t>•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215729" y="4233672"/>
            <a:ext cx="2624673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alibri"/>
              </a:rPr>
              <a:t>Vendor support included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014561" y="4489704"/>
            <a:ext cx="201168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0" i="0">
                <a:solidFill>
                  <a:srgbClr val="3B82F6"/>
                </a:solidFill>
                <a:latin typeface="Calibri"/>
              </a:rPr>
              <a:t>•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15729" y="4489704"/>
            <a:ext cx="2624673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alibri"/>
              </a:rPr>
              <a:t>Recurring license cost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014561" y="4745736"/>
            <a:ext cx="201168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0" i="0">
                <a:solidFill>
                  <a:srgbClr val="3B82F6"/>
                </a:solidFill>
                <a:latin typeface="Calibri"/>
              </a:rPr>
              <a:t>•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15729" y="4745736"/>
            <a:ext cx="2624673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alibri"/>
              </a:rPr>
              <a:t>Less flexibility on edge cases</a:t>
            </a:r>
          </a:p>
        </p:txBody>
      </p:sp>
      <p:graphicFrame>
        <p:nvGraphicFramePr>
          <p:cNvPr id="45" name="Chart 44"/>
          <p:cNvGraphicFramePr>
            <a:graphicFrameLocks noGrp="1"/>
          </p:cNvGraphicFramePr>
          <p:nvPr/>
        </p:nvGraphicFramePr>
        <p:xfrm>
          <a:off x="7206162" y="3291840"/>
          <a:ext cx="4528332" cy="25603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45720" cy="5486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931133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F8FAFC"/>
                </a:solidFill>
                <a:latin typeface="Calibri Light"/>
              </a:rPr>
              <a:t>Phase 3 Additions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180015" y="571500"/>
            <a:ext cx="1554480" cy="320040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Heatmap + Range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127729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 i="0">
                <a:solidFill>
                  <a:srgbClr val="F8FAFC"/>
                </a:solidFill>
                <a:latin typeface="Calibri Light"/>
              </a:rPr>
              <a:t>Feature Adoption Score by Platform &amp; Quarter (%)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600200"/>
            <a:ext cx="2567863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CBD5E1"/>
                </a:solidFill>
                <a:latin typeface="Calibri"/>
              </a:rPr>
              <a:t>Q1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30903" y="1600200"/>
            <a:ext cx="2567863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CBD5E1"/>
                </a:solidFill>
                <a:latin typeface="Calibri"/>
              </a:rPr>
              <a:t>Q2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98767" y="1600200"/>
            <a:ext cx="2567863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CBD5E1"/>
                </a:solidFill>
                <a:latin typeface="Calibri"/>
              </a:rPr>
              <a:t>Q3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66631" y="1600200"/>
            <a:ext cx="2567863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CBD5E1"/>
                </a:solidFill>
                <a:latin typeface="Calibri"/>
              </a:rPr>
              <a:t>Q4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828800"/>
            <a:ext cx="100584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alibri"/>
              </a:rPr>
              <a:t>Mobile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481328" y="1847088"/>
            <a:ext cx="2531287" cy="256032"/>
          </a:xfrm>
          <a:prstGeom prst="roundRect">
            <a:avLst>
              <a:gd name="adj" fmla="val 7142"/>
            </a:avLst>
          </a:prstGeom>
          <a:solidFill>
            <a:srgbClr val="3870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63040" y="1828800"/>
            <a:ext cx="2567863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0F172A"/>
                </a:solidFill>
                <a:latin typeface="Calibri"/>
              </a:rPr>
              <a:t>87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049191" y="1847088"/>
            <a:ext cx="2531287" cy="256032"/>
          </a:xfrm>
          <a:prstGeom prst="roundRect">
            <a:avLst>
              <a:gd name="adj" fmla="val 7142"/>
            </a:avLst>
          </a:prstGeom>
          <a:solidFill>
            <a:srgbClr val="3976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030903" y="1828800"/>
            <a:ext cx="2567863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0F172A"/>
                </a:solidFill>
                <a:latin typeface="Calibri"/>
              </a:rPr>
              <a:t>91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17055" y="1847088"/>
            <a:ext cx="2531287" cy="256032"/>
          </a:xfrm>
          <a:prstGeom prst="roundRect">
            <a:avLst>
              <a:gd name="adj" fmla="val 7142"/>
            </a:avLst>
          </a:prstGeom>
          <a:solidFill>
            <a:srgbClr val="3762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98767" y="1828800"/>
            <a:ext cx="2567863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F8FAFC"/>
                </a:solidFill>
                <a:latin typeface="Calibri"/>
              </a:rPr>
              <a:t>78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84919" y="1847088"/>
            <a:ext cx="2531287" cy="256032"/>
          </a:xfrm>
          <a:prstGeom prst="roundRect">
            <a:avLst>
              <a:gd name="adj" fmla="val 7142"/>
            </a:avLst>
          </a:prstGeom>
          <a:solidFill>
            <a:srgbClr val="3A7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66631" y="1828800"/>
            <a:ext cx="2567863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0F172A"/>
                </a:solidFill>
                <a:latin typeface="Calibri"/>
              </a:rPr>
              <a:t>95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100584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alibri"/>
              </a:rPr>
              <a:t>Web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481328" y="2139696"/>
            <a:ext cx="2531287" cy="256032"/>
          </a:xfrm>
          <a:prstGeom prst="roundRect">
            <a:avLst>
              <a:gd name="adj" fmla="val 7142"/>
            </a:avLst>
          </a:prstGeom>
          <a:solidFill>
            <a:srgbClr val="365A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63040" y="2121408"/>
            <a:ext cx="2567863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F8FAFC"/>
                </a:solidFill>
                <a:latin typeface="Calibri"/>
              </a:rPr>
              <a:t>72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049191" y="2139696"/>
            <a:ext cx="2531287" cy="256032"/>
          </a:xfrm>
          <a:prstGeom prst="roundRect">
            <a:avLst>
              <a:gd name="adj" fmla="val 7142"/>
            </a:avLst>
          </a:prstGeom>
          <a:solidFill>
            <a:srgbClr val="3554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030903" y="2121408"/>
            <a:ext cx="2567863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F8FAFC"/>
                </a:solidFill>
                <a:latin typeface="Calibri"/>
              </a:rPr>
              <a:t>68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617055" y="2139696"/>
            <a:ext cx="2531287" cy="256032"/>
          </a:xfrm>
          <a:prstGeom prst="roundRect">
            <a:avLst>
              <a:gd name="adj" fmla="val 7142"/>
            </a:avLst>
          </a:prstGeom>
          <a:solidFill>
            <a:srgbClr val="376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98767" y="2121408"/>
            <a:ext cx="2567863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F8FAFC"/>
                </a:solidFill>
                <a:latin typeface="Calibri"/>
              </a:rPr>
              <a:t>81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84919" y="2139696"/>
            <a:ext cx="2531287" cy="256032"/>
          </a:xfrm>
          <a:prstGeom prst="roundRect">
            <a:avLst>
              <a:gd name="adj" fmla="val 7142"/>
            </a:avLst>
          </a:prstGeom>
          <a:solidFill>
            <a:srgbClr val="365D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66631" y="2121408"/>
            <a:ext cx="2567863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F8FAFC"/>
                </a:solidFill>
                <a:latin typeface="Calibri"/>
              </a:rPr>
              <a:t>74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2414015"/>
            <a:ext cx="100584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alibri"/>
              </a:rPr>
              <a:t>API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481328" y="2432303"/>
            <a:ext cx="2531287" cy="256032"/>
          </a:xfrm>
          <a:prstGeom prst="roundRect">
            <a:avLst>
              <a:gd name="adj" fmla="val 7142"/>
            </a:avLst>
          </a:prstGeom>
          <a:solidFill>
            <a:srgbClr val="3A7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463040" y="2414015"/>
            <a:ext cx="2567863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0F172A"/>
                </a:solidFill>
                <a:latin typeface="Calibri"/>
              </a:rPr>
              <a:t>95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049191" y="2432303"/>
            <a:ext cx="2531287" cy="256032"/>
          </a:xfrm>
          <a:prstGeom prst="roundRect">
            <a:avLst>
              <a:gd name="adj" fmla="val 7142"/>
            </a:avLst>
          </a:prstGeom>
          <a:solidFill>
            <a:srgbClr val="3A7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030903" y="2414015"/>
            <a:ext cx="2567863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0F172A"/>
                </a:solidFill>
                <a:latin typeface="Calibri"/>
              </a:rPr>
              <a:t>97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617055" y="2432303"/>
            <a:ext cx="2531287" cy="256032"/>
          </a:xfrm>
          <a:prstGeom prst="roundRect">
            <a:avLst>
              <a:gd name="adj" fmla="val 7142"/>
            </a:avLst>
          </a:prstGeom>
          <a:solidFill>
            <a:srgbClr val="3979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98767" y="2414015"/>
            <a:ext cx="2567863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0F172A"/>
                </a:solidFill>
                <a:latin typeface="Calibri"/>
              </a:rPr>
              <a:t>93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184919" y="2432303"/>
            <a:ext cx="2531287" cy="256032"/>
          </a:xfrm>
          <a:prstGeom prst="roundRect">
            <a:avLst>
              <a:gd name="adj" fmla="val 7142"/>
            </a:avLst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66631" y="2414015"/>
            <a:ext cx="2567863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0F172A"/>
                </a:solidFill>
                <a:latin typeface="Calibri"/>
              </a:rPr>
              <a:t>99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2706623"/>
            <a:ext cx="100584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alibri"/>
              </a:rPr>
              <a:t>Reports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481328" y="2724911"/>
            <a:ext cx="2531287" cy="256032"/>
          </a:xfrm>
          <a:prstGeom prst="roundRect">
            <a:avLst>
              <a:gd name="adj" fmla="val 7142"/>
            </a:avLst>
          </a:prstGeom>
          <a:solidFill>
            <a:srgbClr val="3449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463040" y="2706623"/>
            <a:ext cx="2567863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F8FAFC"/>
                </a:solidFill>
                <a:latin typeface="Calibri"/>
              </a:rPr>
              <a:t>61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049191" y="2724911"/>
            <a:ext cx="2531287" cy="256032"/>
          </a:xfrm>
          <a:prstGeom prst="roundRect">
            <a:avLst>
              <a:gd name="adj" fmla="val 7142"/>
            </a:avLst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030903" y="2706623"/>
            <a:ext cx="2567863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F8FAFC"/>
                </a:solidFill>
                <a:latin typeface="Calibri"/>
              </a:rPr>
              <a:t>55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617055" y="2724911"/>
            <a:ext cx="2531287" cy="256032"/>
          </a:xfrm>
          <a:prstGeom prst="roundRect">
            <a:avLst>
              <a:gd name="adj" fmla="val 7142"/>
            </a:avLst>
          </a:prstGeom>
          <a:solidFill>
            <a:srgbClr val="3557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98767" y="2706623"/>
            <a:ext cx="2567863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F8FAFC"/>
                </a:solidFill>
                <a:latin typeface="Calibri"/>
              </a:rPr>
              <a:t>70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184919" y="2724911"/>
            <a:ext cx="2531287" cy="256032"/>
          </a:xfrm>
          <a:prstGeom prst="roundRect">
            <a:avLst>
              <a:gd name="adj" fmla="val 7142"/>
            </a:avLst>
          </a:prstGeom>
          <a:solidFill>
            <a:srgbClr val="344C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166631" y="2706623"/>
            <a:ext cx="2567863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F8FAFC"/>
                </a:solidFill>
                <a:latin typeface="Calibri"/>
              </a:rPr>
              <a:t>63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57200" y="2999232"/>
            <a:ext cx="236416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alibri"/>
              </a:rPr>
              <a:t>API Latency (ms)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821365" y="2999232"/>
            <a:ext cx="1273012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 i="0">
                <a:solidFill>
                  <a:srgbClr val="F8FAFC"/>
                </a:solidFill>
                <a:latin typeface="Calibri"/>
              </a:rPr>
              <a:t>210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57200" y="3236976"/>
            <a:ext cx="909294" cy="201168"/>
          </a:xfrm>
          <a:prstGeom prst="roundRect">
            <a:avLst>
              <a:gd name="adj" fmla="val 9090"/>
            </a:avLst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7200" y="3447288"/>
            <a:ext cx="909294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94A3B8"/>
                </a:solidFill>
                <a:latin typeface="Calibri"/>
              </a:rPr>
              <a:t>OK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366494" y="3236976"/>
            <a:ext cx="909294" cy="201168"/>
          </a:xfrm>
          <a:prstGeom prst="roundRect">
            <a:avLst>
              <a:gd name="adj" fmla="val 9090"/>
            </a:avLst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366494" y="3447288"/>
            <a:ext cx="909294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94A3B8"/>
                </a:solidFill>
                <a:latin typeface="Calibri"/>
              </a:rPr>
              <a:t>Warn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2275789" y="3236976"/>
            <a:ext cx="1818589" cy="201168"/>
          </a:xfrm>
          <a:prstGeom prst="roundRect">
            <a:avLst>
              <a:gd name="adj" fmla="val 9090"/>
            </a:avLst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275789" y="3447288"/>
            <a:ext cx="1818589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94A3B8"/>
                </a:solidFill>
                <a:latin typeface="Calibri"/>
              </a:rPr>
              <a:t>Critical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711924" y="3145536"/>
            <a:ext cx="36576" cy="384048"/>
          </a:xfrm>
          <a:prstGeom prst="roundRect">
            <a:avLst>
              <a:gd name="adj" fmla="val 25000"/>
            </a:avLst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277258" y="2999232"/>
            <a:ext cx="236416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alibri"/>
              </a:rPr>
              <a:t>Error Rate (%)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641424" y="2999232"/>
            <a:ext cx="1273012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 i="0">
                <a:solidFill>
                  <a:srgbClr val="F8FAFC"/>
                </a:solidFill>
                <a:latin typeface="Calibri"/>
              </a:rPr>
              <a:t>2.1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277258" y="3236976"/>
            <a:ext cx="363717" cy="201168"/>
          </a:xfrm>
          <a:prstGeom prst="roundRect">
            <a:avLst>
              <a:gd name="adj" fmla="val 9090"/>
            </a:avLst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277258" y="3447288"/>
            <a:ext cx="363717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94A3B8"/>
                </a:solidFill>
                <a:latin typeface="Calibri"/>
              </a:rPr>
              <a:t>OK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4640976" y="3236976"/>
            <a:ext cx="727435" cy="201168"/>
          </a:xfrm>
          <a:prstGeom prst="roundRect">
            <a:avLst>
              <a:gd name="adj" fmla="val 9090"/>
            </a:avLst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640976" y="3447288"/>
            <a:ext cx="727435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94A3B8"/>
                </a:solidFill>
                <a:latin typeface="Calibri"/>
              </a:rPr>
              <a:t>Warn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5368411" y="3236976"/>
            <a:ext cx="2546024" cy="201168"/>
          </a:xfrm>
          <a:prstGeom prst="roundRect">
            <a:avLst>
              <a:gd name="adj" fmla="val 9090"/>
            </a:avLst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368411" y="3447288"/>
            <a:ext cx="2546024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94A3B8"/>
                </a:solidFill>
                <a:latin typeface="Calibri"/>
              </a:rPr>
              <a:t>Critical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5022777" y="3145536"/>
            <a:ext cx="36576" cy="384048"/>
          </a:xfrm>
          <a:prstGeom prst="roundRect">
            <a:avLst>
              <a:gd name="adj" fmla="val 25000"/>
            </a:avLst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097316" y="2999232"/>
            <a:ext cx="236416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alibri"/>
              </a:rPr>
              <a:t>Uptime (%)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461482" y="2999232"/>
            <a:ext cx="1273012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 i="0">
                <a:solidFill>
                  <a:srgbClr val="F8FAFC"/>
                </a:solidFill>
                <a:latin typeface="Calibri"/>
              </a:rPr>
              <a:t>98.5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8097316" y="3236976"/>
            <a:ext cx="1818589" cy="201168"/>
          </a:xfrm>
          <a:prstGeom prst="roundRect">
            <a:avLst>
              <a:gd name="adj" fmla="val 9090"/>
            </a:avLst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8097316" y="3447288"/>
            <a:ext cx="1818589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94A3B8"/>
                </a:solidFill>
                <a:latin typeface="Calibri"/>
              </a:rPr>
              <a:t>Below SLA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9915906" y="3236976"/>
            <a:ext cx="1454871" cy="201168"/>
          </a:xfrm>
          <a:prstGeom prst="roundRect">
            <a:avLst>
              <a:gd name="adj" fmla="val 9090"/>
            </a:avLst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915906" y="3447288"/>
            <a:ext cx="1454871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94A3B8"/>
                </a:solidFill>
                <a:latin typeface="Calibri"/>
              </a:rPr>
              <a:t>Degraded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11370777" y="3236976"/>
            <a:ext cx="363717" cy="201168"/>
          </a:xfrm>
          <a:prstGeom prst="roundRect">
            <a:avLst>
              <a:gd name="adj" fmla="val 9090"/>
            </a:avLst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11370777" y="3447288"/>
            <a:ext cx="363717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94A3B8"/>
                </a:solidFill>
                <a:latin typeface="Calibri"/>
              </a:rPr>
              <a:t>Healthy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11170630" y="3145536"/>
            <a:ext cx="36576" cy="384048"/>
          </a:xfrm>
          <a:prstGeom prst="roundRect">
            <a:avLst>
              <a:gd name="adj" fmla="val 25000"/>
            </a:avLst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45720" cy="5486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9119311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F8FAFC"/>
                </a:solidFill>
                <a:latin typeface="Calibri Light"/>
              </a:rPr>
              <a:t>Phase 3 Additions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987991" y="571500"/>
            <a:ext cx="1746504" cy="320040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Code + Annotations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98448"/>
            <a:ext cx="6471742" cy="4297680"/>
          </a:xfrm>
          <a:prstGeom prst="roundRect">
            <a:avLst>
              <a:gd name="adj" fmla="val 851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298448"/>
            <a:ext cx="6471742" cy="274320"/>
          </a:xfrm>
          <a:prstGeom prst="roundRect">
            <a:avLst>
              <a:gd name="adj" fmla="val 13333"/>
            </a:avLst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85216" y="1353312"/>
            <a:ext cx="914400" cy="164592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5216" y="1353312"/>
            <a:ext cx="914400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onsolas"/>
              </a:rPr>
              <a:t>Python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" y="1700784"/>
            <a:ext cx="274320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100" b="0" i="0">
                <a:solidFill>
                  <a:srgbClr val="94A3B8"/>
                </a:solidFill>
                <a:latin typeface="Consolas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700784"/>
            <a:ext cx="5868238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onsolas"/>
              </a:rPr>
              <a:t>import pptx_components as pc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1901952"/>
            <a:ext cx="274320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100" b="0" i="0">
                <a:solidFill>
                  <a:srgbClr val="94A3B8"/>
                </a:solidFill>
                <a:latin typeface="Consolas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1901952"/>
            <a:ext cx="5868238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onsolas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5216" y="2103120"/>
            <a:ext cx="274320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100" b="0" i="0">
                <a:solidFill>
                  <a:srgbClr val="94A3B8"/>
                </a:solidFill>
                <a:latin typeface="Consolas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" y="2103120"/>
            <a:ext cx="5868238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onsolas"/>
              </a:rPr>
              <a:t>builder = pc.SlideBuilder(prs)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" y="2304288"/>
            <a:ext cx="274320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100" b="0" i="0">
                <a:solidFill>
                  <a:srgbClr val="94A3B8"/>
                </a:solidFill>
                <a:latin typeface="Consolas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2688" y="2304288"/>
            <a:ext cx="5868238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onsolas"/>
              </a:rPr>
              <a:t>builder.add(pc.SectionHeader("My Slide", badge_text="v1.0"))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5216" y="2505456"/>
            <a:ext cx="274320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100" b="0" i="0">
                <a:solidFill>
                  <a:srgbClr val="94A3B8"/>
                </a:solidFill>
                <a:latin typeface="Consolas"/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8" y="2505456"/>
            <a:ext cx="5868238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onsolas"/>
              </a:rPr>
              <a:t>builder.skip(0.2)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5216" y="2706624"/>
            <a:ext cx="274320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100" b="0" i="0">
                <a:solidFill>
                  <a:srgbClr val="94A3B8"/>
                </a:solidFill>
                <a:latin typeface="Consolas"/>
              </a:rPr>
              <a:t>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2688" y="2706624"/>
            <a:ext cx="5868238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onsolas"/>
              </a:rPr>
              <a:t>builder.add_row(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5216" y="2907792"/>
            <a:ext cx="274320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100" b="0" i="0">
                <a:solidFill>
                  <a:srgbClr val="94A3B8"/>
                </a:solidFill>
                <a:latin typeface="Consolas"/>
              </a:rPr>
              <a:t>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" y="2907792"/>
            <a:ext cx="5868238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onsolas"/>
              </a:rPr>
              <a:t>    pc.MetricCard("Revenue", "$1.2M", "+12%", True),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5216" y="3108960"/>
            <a:ext cx="274320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100" b="0" i="0">
                <a:solidFill>
                  <a:srgbClr val="94A3B8"/>
                </a:solidFill>
                <a:latin typeface="Consolas"/>
              </a:rPr>
              <a:t>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2688" y="3108960"/>
            <a:ext cx="5868238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onsolas"/>
              </a:rPr>
              <a:t>    pc.MetricCard("Churn",   "3.1%",  "+0.2pp", False),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5216" y="3310128"/>
            <a:ext cx="274320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100" b="0" i="0">
                <a:solidFill>
                  <a:srgbClr val="94A3B8"/>
                </a:solidFill>
                <a:latin typeface="Consolas"/>
              </a:rPr>
              <a:t>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2688" y="3310128"/>
            <a:ext cx="5868238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onsolas"/>
              </a:rPr>
              <a:t>    h=1.5,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5216" y="3511296"/>
            <a:ext cx="274320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100" b="0" i="0">
                <a:solidFill>
                  <a:srgbClr val="94A3B8"/>
                </a:solidFill>
                <a:latin typeface="Consolas"/>
              </a:rPr>
              <a:t>10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2688" y="3511296"/>
            <a:ext cx="5868238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onsolas"/>
              </a:rPr>
              <a:t>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5216" y="3712464"/>
            <a:ext cx="274320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100" b="0" i="0">
                <a:solidFill>
                  <a:srgbClr val="94A3B8"/>
                </a:solidFill>
                <a:latin typeface="Consolas"/>
              </a:rPr>
              <a:t>11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2688" y="3712464"/>
            <a:ext cx="5868238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onsolas"/>
              </a:rPr>
              <a:t>builder.add(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85216" y="3913632"/>
            <a:ext cx="274320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100" b="0" i="0">
                <a:solidFill>
                  <a:srgbClr val="94A3B8"/>
                </a:solidFill>
                <a:latin typeface="Consolas"/>
              </a:rPr>
              <a:t>12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2688" y="3913632"/>
            <a:ext cx="5868238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onsolas"/>
              </a:rPr>
              <a:t>    pc.BarChart(months, data, title="Monthly Trend"),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85216" y="4114800"/>
            <a:ext cx="274320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100" b="0" i="0">
                <a:solidFill>
                  <a:srgbClr val="94A3B8"/>
                </a:solidFill>
                <a:latin typeface="Consolas"/>
              </a:rPr>
              <a:t>13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32688" y="4114800"/>
            <a:ext cx="5868238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onsolas"/>
              </a:rPr>
              <a:t>    h=2.8,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85216" y="4315968"/>
            <a:ext cx="274320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100" b="0" i="0">
                <a:solidFill>
                  <a:srgbClr val="94A3B8"/>
                </a:solidFill>
                <a:latin typeface="Consolas"/>
              </a:rPr>
              <a:t>14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2688" y="4315968"/>
            <a:ext cx="5868238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onsolas"/>
              </a:rPr>
              <a:t>)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111822" y="1298448"/>
            <a:ext cx="4622673" cy="658368"/>
          </a:xfrm>
          <a:prstGeom prst="roundRect">
            <a:avLst>
              <a:gd name="adj" fmla="val 6944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Isosceles Triangle 37"/>
          <p:cNvSpPr/>
          <p:nvPr/>
        </p:nvSpPr>
        <p:spPr>
          <a:xfrm rot="16200000">
            <a:off x="7111822" y="1563623"/>
            <a:ext cx="128016" cy="128016"/>
          </a:xfrm>
          <a:prstGeom prst="triangle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294702" y="1481328"/>
            <a:ext cx="4256913" cy="29260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F8FAFC"/>
                </a:solidFill>
                <a:latin typeface="Calibri"/>
              </a:rPr>
              <a:t>Use SlideBuilder to compose slides with rows, columns, and grids.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111822" y="2487168"/>
            <a:ext cx="4622673" cy="658368"/>
          </a:xfrm>
          <a:prstGeom prst="roundRect">
            <a:avLst>
              <a:gd name="adj" fmla="val 6944"/>
            </a:avLst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Isosceles Triangle 40"/>
          <p:cNvSpPr/>
          <p:nvPr/>
        </p:nvSpPr>
        <p:spPr>
          <a:xfrm rot="16200000">
            <a:off x="7111822" y="2752344"/>
            <a:ext cx="128016" cy="128016"/>
          </a:xfrm>
          <a:prstGeom prst="triangl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294702" y="2670048"/>
            <a:ext cx="4256913" cy="29260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add_row() automatically distributes width equally.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111822" y="3675887"/>
            <a:ext cx="4622673" cy="658368"/>
          </a:xfrm>
          <a:prstGeom prst="roundRect">
            <a:avLst>
              <a:gd name="adj" fmla="val 6944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Isosceles Triangle 43"/>
          <p:cNvSpPr/>
          <p:nvPr/>
        </p:nvSpPr>
        <p:spPr>
          <a:xfrm rot="16200000">
            <a:off x="7111822" y="3941063"/>
            <a:ext cx="128016" cy="128016"/>
          </a:xfrm>
          <a:prstGeom prst="triangl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294702" y="3858768"/>
            <a:ext cx="4256913" cy="29260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F8FAFC"/>
                </a:solidFill>
                <a:latin typeface="Calibri"/>
              </a:rPr>
              <a:t>set h= to control the rendered height of each component.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111822" y="4864607"/>
            <a:ext cx="4622673" cy="658368"/>
          </a:xfrm>
          <a:prstGeom prst="roundRect">
            <a:avLst>
              <a:gd name="adj" fmla="val 6944"/>
            </a:avLst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Isosceles Triangle 46"/>
          <p:cNvSpPr/>
          <p:nvPr/>
        </p:nvSpPr>
        <p:spPr>
          <a:xfrm rot="16200000">
            <a:off x="7111822" y="5129783"/>
            <a:ext cx="128016" cy="128016"/>
          </a:xfrm>
          <a:prstGeom prst="triangle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294702" y="5047488"/>
            <a:ext cx="4256913" cy="29260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FFFBEB"/>
                </a:solidFill>
                <a:latin typeface="Calibri"/>
              </a:rPr>
              <a:t>Mismatched weights cause rendering issues — validate inputs.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45720" cy="5486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9375343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F8FAFC"/>
                </a:solidFill>
                <a:latin typeface="Calibri Light"/>
              </a:rPr>
              <a:t>Revenue Bridge — H1 2026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244023" y="571500"/>
            <a:ext cx="1490472" cy="320040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WaterfallChart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127729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 i="0">
                <a:solidFill>
                  <a:srgbClr val="F8FAFC"/>
                </a:solidFill>
                <a:latin typeface="Calibri Light"/>
              </a:rPr>
              <a:t>Revenue Contribution by Category ($K)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4677155"/>
            <a:ext cx="11277295" cy="9144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2674957"/>
            <a:ext cx="1564015" cy="2006770"/>
          </a:xfrm>
          <a:prstGeom prst="roundRect">
            <a:avLst>
              <a:gd name="adj" fmla="val 1169"/>
            </a:avLst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455501"/>
            <a:ext cx="156401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22C55E"/>
                </a:solidFill>
                <a:latin typeface="Calibri"/>
              </a:rPr>
              <a:t>+500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36591"/>
            <a:ext cx="1564015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CBD5E1"/>
                </a:solidFill>
                <a:latin typeface="Calibri"/>
              </a:rPr>
              <a:t>Base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076079" y="2193332"/>
            <a:ext cx="1564015" cy="481624"/>
          </a:xfrm>
          <a:prstGeom prst="roundRect">
            <a:avLst>
              <a:gd name="adj" fmla="val 3796"/>
            </a:avLst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021215" y="2670385"/>
            <a:ext cx="54864" cy="9144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076079" y="1973876"/>
            <a:ext cx="156401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22C55E"/>
                </a:solidFill>
                <a:latin typeface="Calibri"/>
              </a:rPr>
              <a:t>+120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76079" y="4736591"/>
            <a:ext cx="1564015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CBD5E1"/>
                </a:solidFill>
                <a:latin typeface="Calibri"/>
              </a:rPr>
              <a:t>New Logos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94959" y="1852181"/>
            <a:ext cx="1564015" cy="341150"/>
          </a:xfrm>
          <a:prstGeom prst="roundRect">
            <a:avLst>
              <a:gd name="adj" fmla="val 5360"/>
            </a:avLst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40095" y="2188760"/>
            <a:ext cx="54864" cy="9144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94959" y="2220764"/>
            <a:ext cx="156401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22C55E"/>
                </a:solidFill>
                <a:latin typeface="Calibri"/>
              </a:rPr>
              <a:t>+85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94959" y="4736591"/>
            <a:ext cx="1564015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CBD5E1"/>
                </a:solidFill>
                <a:latin typeface="Calibri"/>
              </a:rPr>
              <a:t>Upsell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313839" y="1691640"/>
            <a:ext cx="1564015" cy="160541"/>
          </a:xfrm>
          <a:prstGeom prst="roundRect">
            <a:avLst>
              <a:gd name="adj" fmla="val 11391"/>
            </a:avLst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258975" y="1847609"/>
            <a:ext cx="54864" cy="9144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13839" y="1879613"/>
            <a:ext cx="156401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22C55E"/>
                </a:solidFill>
                <a:latin typeface="Calibri"/>
              </a:rPr>
              <a:t>+40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13839" y="4736591"/>
            <a:ext cx="1564015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CBD5E1"/>
                </a:solidFill>
                <a:latin typeface="Calibri"/>
              </a:rPr>
              <a:t>Expansion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932719" y="1691640"/>
            <a:ext cx="1564015" cy="240812"/>
          </a:xfrm>
          <a:prstGeom prst="roundRect">
            <a:avLst>
              <a:gd name="adj" fmla="val 7593"/>
            </a:avLst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877855" y="1687068"/>
            <a:ext cx="54864" cy="9144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32719" y="1959884"/>
            <a:ext cx="156401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EF4444"/>
                </a:solidFill>
                <a:latin typeface="Calibri"/>
              </a:rPr>
              <a:t>-60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32719" y="4736591"/>
            <a:ext cx="1564015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CBD5E1"/>
                </a:solidFill>
                <a:latin typeface="Calibri"/>
              </a:rPr>
              <a:t>Churn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551599" y="1932452"/>
            <a:ext cx="1564015" cy="140473"/>
          </a:xfrm>
          <a:prstGeom prst="roundRect">
            <a:avLst>
              <a:gd name="adj" fmla="val 13017"/>
            </a:avLst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496735" y="1927880"/>
            <a:ext cx="54864" cy="9144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551599" y="1712996"/>
            <a:ext cx="156401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EF4444"/>
                </a:solidFill>
                <a:latin typeface="Calibri"/>
              </a:rPr>
              <a:t>-35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51599" y="4736591"/>
            <a:ext cx="1564015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CBD5E1"/>
                </a:solidFill>
                <a:latin typeface="Calibri"/>
              </a:rPr>
              <a:t>Discounts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170479" y="2072926"/>
            <a:ext cx="1564015" cy="2608801"/>
          </a:xfrm>
          <a:prstGeom prst="roundRect">
            <a:avLst>
              <a:gd name="adj" fmla="val 1169"/>
            </a:avLst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170479" y="1853470"/>
            <a:ext cx="156401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3B82F6"/>
                </a:solidFill>
                <a:latin typeface="Calibri"/>
              </a:rPr>
              <a:t>650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70479" y="4736591"/>
            <a:ext cx="1564015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CBD5E1"/>
                </a:solidFill>
                <a:latin typeface="Calibri"/>
              </a:rPr>
              <a:t>Net Revenue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45720" cy="5486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899129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F8FAFC"/>
                </a:solidFill>
                <a:latin typeface="Calibri Light"/>
              </a:rPr>
              <a:t>Additional React Patterns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859975" y="571500"/>
            <a:ext cx="1874520" cy="320040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Accordion + Features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1127729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 i="0">
                <a:solidFill>
                  <a:srgbClr val="F8FAFC"/>
                </a:solidFill>
                <a:latin typeface="Calibri Light"/>
              </a:rPr>
              <a:t>Accordion (FAQ Pattern / MUI inspired)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45919"/>
            <a:ext cx="11277295" cy="347472"/>
          </a:xfrm>
          <a:prstGeom prst="roundRect">
            <a:avLst>
              <a:gd name="adj" fmla="val 10526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45919"/>
            <a:ext cx="10774375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 i="0">
                <a:solidFill>
                  <a:srgbClr val="F8FAFC"/>
                </a:solidFill>
                <a:latin typeface="Calibri"/>
              </a:rPr>
              <a:t>How do we scale headcount?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14455" y="1645919"/>
            <a:ext cx="13716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1" i="0">
                <a:solidFill>
                  <a:srgbClr val="3B82F6"/>
                </a:solidFill>
                <a:latin typeface="Calibri"/>
              </a:rPr>
              <a:t>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020823"/>
            <a:ext cx="11185855" cy="731520"/>
          </a:xfrm>
          <a:prstGeom prst="roundRect">
            <a:avLst>
              <a:gd name="adj" fmla="val 5000"/>
            </a:avLst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112263"/>
            <a:ext cx="1082009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alibri"/>
              </a:rPr>
              <a:t>Hiring plan targets 40% growth in engineering and product through Q4 2026. Focus on mid/senior IC roles and two new manager positions.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816351"/>
            <a:ext cx="11277295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816351"/>
            <a:ext cx="10774375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CBD5E1"/>
                </a:solidFill>
                <a:latin typeface="Calibri"/>
              </a:rPr>
              <a:t>What's our go-to-market strategy?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14455" y="2816351"/>
            <a:ext cx="13716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1" i="0">
                <a:solidFill>
                  <a:srgbClr val="3B82F6"/>
                </a:solidFill>
                <a:latin typeface="Calibri"/>
              </a:rPr>
              <a:t>+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255263"/>
            <a:ext cx="11277295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255263"/>
            <a:ext cx="10774375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CBD5E1"/>
                </a:solidFill>
                <a:latin typeface="Calibri"/>
              </a:rPr>
              <a:t>How do we reduce churn?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14455" y="3255263"/>
            <a:ext cx="13716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1" i="0">
                <a:solidFill>
                  <a:srgbClr val="3B82F6"/>
                </a:solidFill>
                <a:latin typeface="Calibri"/>
              </a:rPr>
              <a:t>+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657600"/>
            <a:ext cx="1127729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 i="0">
                <a:solidFill>
                  <a:srgbClr val="F8FAFC"/>
                </a:solidFill>
                <a:latin typeface="Calibri Light"/>
              </a:rPr>
              <a:t>FeatureGrid (Product Showcase Pattern)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977639"/>
            <a:ext cx="3667658" cy="868680"/>
          </a:xfrm>
          <a:prstGeom prst="roundRect">
            <a:avLst>
              <a:gd name="adj" fmla="val 5263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2199589" y="4160520"/>
            <a:ext cx="182880" cy="182880"/>
          </a:xfrm>
          <a:prstGeom prst="roundRect">
            <a:avLst>
              <a:gd name="adj" fmla="val 15000"/>
            </a:avLst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199589" y="4178807"/>
            <a:ext cx="182880" cy="1463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2800" b="1" i="0">
                <a:solidFill>
                  <a:srgbClr val="0F172A"/>
                </a:solidFill>
                <a:latin typeface="Calibri"/>
              </a:rPr>
              <a:t>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4526280"/>
            <a:ext cx="33018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1" i="0">
                <a:solidFill>
                  <a:srgbClr val="F8FAFC"/>
                </a:solidFill>
                <a:latin typeface="Calibri"/>
              </a:rPr>
              <a:t>Real-time Sync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4846320"/>
            <a:ext cx="3301898" cy="-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CBD5E1"/>
                </a:solidFill>
                <a:latin typeface="Calibri"/>
              </a:rPr>
              <a:t>Data synchronizes across all endpoints instantly.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62018" y="3977639"/>
            <a:ext cx="3667658" cy="868680"/>
          </a:xfrm>
          <a:prstGeom prst="roundRect">
            <a:avLst>
              <a:gd name="adj" fmla="val 5263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004407" y="4160520"/>
            <a:ext cx="182880" cy="182880"/>
          </a:xfrm>
          <a:prstGeom prst="roundRect">
            <a:avLst>
              <a:gd name="adj" fmla="val 15000"/>
            </a:avLst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04407" y="4178807"/>
            <a:ext cx="182880" cy="1463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2800" b="1" i="0">
                <a:solidFill>
                  <a:srgbClr val="0F172A"/>
                </a:solidFill>
                <a:latin typeface="Calibri"/>
              </a:rPr>
              <a:t>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44898" y="4526280"/>
            <a:ext cx="33018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1" i="0">
                <a:solidFill>
                  <a:srgbClr val="F8FAFC"/>
                </a:solidFill>
                <a:latin typeface="Calibri"/>
              </a:rPr>
              <a:t>Enterprise Security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44898" y="4846320"/>
            <a:ext cx="3301898" cy="-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CBD5E1"/>
                </a:solidFill>
                <a:latin typeface="Calibri"/>
              </a:rPr>
              <a:t>SOC 2 Type II certified infrastructure.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66836" y="3977639"/>
            <a:ext cx="3667658" cy="868680"/>
          </a:xfrm>
          <a:prstGeom prst="roundRect">
            <a:avLst>
              <a:gd name="adj" fmla="val 5263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9809226" y="4160520"/>
            <a:ext cx="182880" cy="182880"/>
          </a:xfrm>
          <a:prstGeom prst="roundRect">
            <a:avLst>
              <a:gd name="adj" fmla="val 15000"/>
            </a:avLst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809226" y="4178807"/>
            <a:ext cx="182880" cy="1463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2800" b="1" i="0">
                <a:solidFill>
                  <a:srgbClr val="0F172A"/>
                </a:solidFill>
                <a:latin typeface="Calibri"/>
              </a:rPr>
              <a:t>📊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49716" y="4526280"/>
            <a:ext cx="33018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1" i="0">
                <a:solidFill>
                  <a:srgbClr val="F8FAFC"/>
                </a:solidFill>
                <a:latin typeface="Calibri"/>
              </a:rPr>
              <a:t>Rich Analytics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49716" y="4846320"/>
            <a:ext cx="3301898" cy="-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CBD5E1"/>
                </a:solidFill>
                <a:latin typeface="Calibri"/>
              </a:rPr>
              <a:t>Comprehensive dashboards and custom reporting.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4983479"/>
            <a:ext cx="3667658" cy="868680"/>
          </a:xfrm>
          <a:prstGeom prst="roundRect">
            <a:avLst>
              <a:gd name="adj" fmla="val 5263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2199589" y="5166359"/>
            <a:ext cx="182880" cy="182880"/>
          </a:xfrm>
          <a:prstGeom prst="roundRect">
            <a:avLst>
              <a:gd name="adj" fmla="val 15000"/>
            </a:avLst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199589" y="5184647"/>
            <a:ext cx="182880" cy="1463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2800" b="1" i="0">
                <a:solidFill>
                  <a:srgbClr val="0F172A"/>
                </a:solidFill>
                <a:latin typeface="Calibri"/>
              </a:rPr>
              <a:t>🌍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" y="5532120"/>
            <a:ext cx="33018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1" i="0">
                <a:solidFill>
                  <a:srgbClr val="F8FAFC"/>
                </a:solidFill>
                <a:latin typeface="Calibri"/>
              </a:rPr>
              <a:t>Global Scale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5852159"/>
            <a:ext cx="3301898" cy="-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CBD5E1"/>
                </a:solidFill>
                <a:latin typeface="Calibri"/>
              </a:rPr>
              <a:t>Multi-region deployment with 99.99% SLA.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262018" y="4983479"/>
            <a:ext cx="3667658" cy="868680"/>
          </a:xfrm>
          <a:prstGeom prst="roundRect">
            <a:avLst>
              <a:gd name="adj" fmla="val 5263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6004407" y="5166359"/>
            <a:ext cx="182880" cy="182880"/>
          </a:xfrm>
          <a:prstGeom prst="roundRect">
            <a:avLst>
              <a:gd name="adj" fmla="val 15000"/>
            </a:avLst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004407" y="5184647"/>
            <a:ext cx="182880" cy="1463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2800" b="1" i="0">
                <a:solidFill>
                  <a:srgbClr val="0F172A"/>
                </a:solidFill>
                <a:latin typeface="Calibri"/>
              </a:rPr>
              <a:t>🤝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444898" y="5532120"/>
            <a:ext cx="33018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1" i="0">
                <a:solidFill>
                  <a:srgbClr val="F8FAFC"/>
                </a:solidFill>
                <a:latin typeface="Calibri"/>
              </a:rPr>
              <a:t>API-First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444898" y="5852159"/>
            <a:ext cx="3301898" cy="-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CBD5E1"/>
                </a:solidFill>
                <a:latin typeface="Calibri"/>
              </a:rPr>
              <a:t>Full REST + GraphQL coverage for integrations.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066836" y="4983479"/>
            <a:ext cx="3667658" cy="868680"/>
          </a:xfrm>
          <a:prstGeom prst="roundRect">
            <a:avLst>
              <a:gd name="adj" fmla="val 5263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9809226" y="5166359"/>
            <a:ext cx="182880" cy="182880"/>
          </a:xfrm>
          <a:prstGeom prst="roundRect">
            <a:avLst>
              <a:gd name="adj" fmla="val 15000"/>
            </a:avLst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809226" y="5184647"/>
            <a:ext cx="182880" cy="1463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2800" b="1" i="0">
                <a:solidFill>
                  <a:srgbClr val="0F172A"/>
                </a:solidFill>
                <a:latin typeface="Calibri"/>
              </a:rPr>
              <a:t>💬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49716" y="5532120"/>
            <a:ext cx="33018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1" i="0">
                <a:solidFill>
                  <a:srgbClr val="F8FAFC"/>
                </a:solidFill>
                <a:latin typeface="Calibri"/>
              </a:rPr>
              <a:t>24/7 Support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249716" y="5852159"/>
            <a:ext cx="3301898" cy="-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CBD5E1"/>
                </a:solidFill>
                <a:latin typeface="Calibri"/>
              </a:rPr>
              <a:t>Dedicated account team for enterprise clients.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45720" cy="5486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9567367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F8FAFC"/>
                </a:solidFill>
                <a:latin typeface="Calibri Light"/>
              </a:rPr>
              <a:t>Phase 4: Advanced Charts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436047" y="571500"/>
            <a:ext cx="1298448" cy="320040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ScatterPlot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127729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2800" b="1" i="0">
                <a:solidFill>
                  <a:srgbClr val="F8FAFC"/>
                </a:solidFill>
                <a:latin typeface="Calibri"/>
              </a:rPr>
              <a:t>Algorithm Performance Landscape</a:t>
            </a:r>
          </a:p>
        </p:txBody>
      </p:sp>
      <p:sp>
        <p:nvSpPr>
          <p:cNvPr id="6" name="Rectangle 5"/>
          <p:cNvSpPr/>
          <p:nvPr/>
        </p:nvSpPr>
        <p:spPr>
          <a:xfrm>
            <a:off x="1097280" y="4160520"/>
            <a:ext cx="10362895" cy="27432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97280" y="1645920"/>
            <a:ext cx="27432" cy="256032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97280" y="1645920"/>
            <a:ext cx="18288" cy="256032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97280" y="1645920"/>
            <a:ext cx="10362895" cy="1828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88003" y="1645920"/>
            <a:ext cx="18288" cy="256032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097280" y="2286000"/>
            <a:ext cx="10362895" cy="1828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78727" y="1645920"/>
            <a:ext cx="18288" cy="256032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97280" y="2926080"/>
            <a:ext cx="10362895" cy="1828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869451" y="1645920"/>
            <a:ext cx="18288" cy="256032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97280" y="3566160"/>
            <a:ext cx="10362895" cy="1828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1460175" y="1645920"/>
            <a:ext cx="18288" cy="256032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097280" y="4206240"/>
            <a:ext cx="10362895" cy="1828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1645920"/>
            <a:ext cx="5181447" cy="1280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b="0" i="0">
                <a:solidFill>
                  <a:srgbClr val="94A3B8"/>
                </a:solidFill>
                <a:latin typeface="Calibri"/>
              </a:rPr>
              <a:t>Best
(Simple &amp; Accurate)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78727" y="1645920"/>
            <a:ext cx="5181447" cy="1280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b="0" i="0">
                <a:solidFill>
                  <a:srgbClr val="94A3B8"/>
                </a:solidFill>
                <a:latin typeface="Calibri"/>
              </a:rPr>
              <a:t>High Effort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2926080"/>
            <a:ext cx="5181447" cy="1280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b="0" i="0">
                <a:solidFill>
                  <a:srgbClr val="94A3B8"/>
                </a:solidFill>
                <a:latin typeface="Calibri"/>
              </a:rPr>
              <a:t>Avoid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78727" y="2926080"/>
            <a:ext cx="5181447" cy="1280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b="0" i="0">
                <a:solidFill>
                  <a:srgbClr val="94A3B8"/>
                </a:solidFill>
                <a:latin typeface="Calibri"/>
              </a:rPr>
              <a:t>Feasible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841228" y="3026664"/>
            <a:ext cx="164592" cy="164592"/>
          </a:xfrm>
          <a:prstGeom prst="roundRect">
            <a:avLst>
              <a:gd name="adj" fmla="val 41666"/>
            </a:avLst>
          </a:prstGeom>
          <a:solidFill>
            <a:srgbClr val="64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051540" y="3017520"/>
            <a:ext cx="54864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 i="0">
                <a:solidFill>
                  <a:srgbClr val="F8FAFC"/>
                </a:solidFill>
                <a:latin typeface="Calibri"/>
              </a:rPr>
              <a:t>Low cost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035160" y="2066544"/>
            <a:ext cx="182880" cy="182880"/>
          </a:xfrm>
          <a:prstGeom prst="roundRect">
            <a:avLst>
              <a:gd name="adj" fmla="val 37500"/>
            </a:avLst>
          </a:prstGeom>
          <a:solidFill>
            <a:srgbClr val="64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63760" y="2066544"/>
            <a:ext cx="54864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 i="0">
                <a:solidFill>
                  <a:srgbClr val="F8FAFC"/>
                </a:solidFill>
                <a:latin typeface="Calibri"/>
              </a:rPr>
              <a:t>Best performer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976297" y="3250692"/>
            <a:ext cx="155448" cy="155448"/>
          </a:xfrm>
          <a:prstGeom prst="roundRect">
            <a:avLst>
              <a:gd name="adj" fmla="val 44117"/>
            </a:avLst>
          </a:prstGeom>
          <a:solidFill>
            <a:srgbClr val="64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77465" y="3236976"/>
            <a:ext cx="54864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 i="0">
                <a:solidFill>
                  <a:srgbClr val="F8FAFC"/>
                </a:solidFill>
                <a:latin typeface="Calibri"/>
              </a:rPr>
              <a:t>Mid-range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058965" y="2514600"/>
            <a:ext cx="164592" cy="164592"/>
          </a:xfrm>
          <a:prstGeom prst="roundRect">
            <a:avLst>
              <a:gd name="adj" fmla="val 41666"/>
            </a:avLst>
          </a:prstGeom>
          <a:solidFill>
            <a:srgbClr val="FF96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269277" y="2505456"/>
            <a:ext cx="54864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 i="0">
                <a:solidFill>
                  <a:srgbClr val="F8FAFC"/>
                </a:solidFill>
                <a:latin typeface="Calibri"/>
              </a:rPr>
              <a:t>High complexity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966209" y="3767328"/>
            <a:ext cx="146304" cy="146304"/>
          </a:xfrm>
          <a:prstGeom prst="roundRect">
            <a:avLst>
              <a:gd name="adj" fmla="val 46875"/>
            </a:avLst>
          </a:prstGeom>
          <a:solidFill>
            <a:srgbClr val="96FF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158233" y="3749040"/>
            <a:ext cx="54864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 i="0">
                <a:solidFill>
                  <a:srgbClr val="F8FAFC"/>
                </a:solidFill>
                <a:latin typeface="Calibri"/>
              </a:rPr>
              <a:t>Simple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97280" y="4251959"/>
            <a:ext cx="1036289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94A3B8"/>
                </a:solidFill>
                <a:latin typeface="Calibri"/>
              </a:rPr>
              <a:t>Implementation Complexity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1645920"/>
            <a:ext cx="320040" cy="2560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94A3B8"/>
                </a:solidFill>
                <a:latin typeface="Calibri"/>
              </a:rPr>
              <a:t>Accuracy (%)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45720" cy="5486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9503359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F8FAFC"/>
                </a:solidFill>
                <a:latin typeface="Calibri Light"/>
              </a:rPr>
              <a:t>Phase 4: Hierarchical Data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372039" y="571500"/>
            <a:ext cx="1362456" cy="320040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GroupedTable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127729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2400" b="1" i="0">
                <a:solidFill>
                  <a:srgbClr val="F8FAFC"/>
                </a:solidFill>
                <a:latin typeface="Calibri"/>
              </a:rPr>
              <a:t>Revenue by Region &amp; Country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600200"/>
            <a:ext cx="3759098" cy="29260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618488"/>
            <a:ext cx="3667658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Region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4216298" y="1600200"/>
            <a:ext cx="2819323" cy="29260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62018" y="1618488"/>
            <a:ext cx="2727883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2025 Revenue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35622" y="1600200"/>
            <a:ext cx="2819323" cy="29260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81342" y="1618488"/>
            <a:ext cx="2727883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2026 Revenue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854946" y="1600200"/>
            <a:ext cx="1879549" cy="29260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00666" y="1618488"/>
            <a:ext cx="1788109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YoY Growth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1892807"/>
            <a:ext cx="3759098" cy="256032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1911095"/>
            <a:ext cx="3667658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F8FAFC"/>
                </a:solidFill>
                <a:latin typeface="Calibri"/>
              </a:rPr>
              <a:t>NORTH AMERICA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16298" y="1892807"/>
            <a:ext cx="2819323" cy="256032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62018" y="1911095"/>
            <a:ext cx="2727883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F8FAFC"/>
                </a:solidFill>
                <a:latin typeface="Calibri"/>
              </a:rPr>
              <a:t>$580M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035622" y="1892807"/>
            <a:ext cx="2819323" cy="256032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081342" y="1911095"/>
            <a:ext cx="2727883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F8FAFC"/>
                </a:solidFill>
                <a:latin typeface="Calibri"/>
              </a:rPr>
              <a:t>$715M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854946" y="1892807"/>
            <a:ext cx="1879549" cy="256032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900666" y="1911095"/>
            <a:ext cx="1788109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F8FAFC"/>
                </a:solidFill>
                <a:latin typeface="Calibri"/>
              </a:rPr>
              <a:t>+23%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2148839"/>
            <a:ext cx="3759098" cy="256032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2167127"/>
            <a:ext cx="3667658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0">
                <a:solidFill>
                  <a:srgbClr val="F8FAFC"/>
                </a:solidFill>
                <a:latin typeface="Calibri"/>
              </a:rPr>
              <a:t>    USA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216298" y="2148839"/>
            <a:ext cx="2819323" cy="256032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262018" y="2167127"/>
            <a:ext cx="2727883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0">
                <a:solidFill>
                  <a:srgbClr val="F8FAFC"/>
                </a:solidFill>
                <a:latin typeface="Calibri"/>
              </a:rPr>
              <a:t>$500M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035622" y="2148839"/>
            <a:ext cx="2819323" cy="256032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081342" y="2167127"/>
            <a:ext cx="2727883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0">
                <a:solidFill>
                  <a:srgbClr val="F8FAFC"/>
                </a:solidFill>
                <a:latin typeface="Calibri"/>
              </a:rPr>
              <a:t>$620M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854946" y="2148839"/>
            <a:ext cx="1879549" cy="256032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900666" y="2167127"/>
            <a:ext cx="1788109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0">
                <a:solidFill>
                  <a:srgbClr val="F8FAFC"/>
                </a:solidFill>
                <a:latin typeface="Calibri"/>
              </a:rPr>
              <a:t>+24%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2404872"/>
            <a:ext cx="3759098" cy="256032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2423160"/>
            <a:ext cx="3667658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0">
                <a:solidFill>
                  <a:srgbClr val="F8FAFC"/>
                </a:solidFill>
                <a:latin typeface="Calibri"/>
              </a:rPr>
              <a:t>    Canada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216298" y="2404872"/>
            <a:ext cx="2819323" cy="256032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262018" y="2423160"/>
            <a:ext cx="2727883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0">
                <a:solidFill>
                  <a:srgbClr val="F8FAFC"/>
                </a:solidFill>
                <a:latin typeface="Calibri"/>
              </a:rPr>
              <a:t>$80M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035622" y="2404872"/>
            <a:ext cx="2819323" cy="256032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081342" y="2423160"/>
            <a:ext cx="2727883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0">
                <a:solidFill>
                  <a:srgbClr val="F8FAFC"/>
                </a:solidFill>
                <a:latin typeface="Calibri"/>
              </a:rPr>
              <a:t>$95M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854946" y="2404872"/>
            <a:ext cx="1879549" cy="256032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900666" y="2423160"/>
            <a:ext cx="1788109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0">
                <a:solidFill>
                  <a:srgbClr val="F8FAFC"/>
                </a:solidFill>
                <a:latin typeface="Calibri"/>
              </a:rPr>
              <a:t>+19%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" y="2660904"/>
            <a:ext cx="3759098" cy="256032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02920" y="2679192"/>
            <a:ext cx="3667658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1" i="0">
                <a:solidFill>
                  <a:srgbClr val="94A3B8"/>
                </a:solidFill>
                <a:latin typeface="Calibri"/>
              </a:rPr>
              <a:t>SubtotalNA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216298" y="2660904"/>
            <a:ext cx="2819323" cy="256032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262018" y="2679192"/>
            <a:ext cx="2727883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1" i="0">
                <a:solidFill>
                  <a:srgbClr val="94A3B8"/>
                </a:solidFill>
                <a:latin typeface="Calibri"/>
              </a:rPr>
              <a:t>$580M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035622" y="2660904"/>
            <a:ext cx="2819323" cy="256032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081342" y="2679192"/>
            <a:ext cx="2727883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1" i="0">
                <a:solidFill>
                  <a:srgbClr val="94A3B8"/>
                </a:solidFill>
                <a:latin typeface="Calibri"/>
              </a:rPr>
              <a:t>$715M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854946" y="2660904"/>
            <a:ext cx="1879549" cy="256032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900666" y="2679192"/>
            <a:ext cx="1788109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1" i="0">
                <a:solidFill>
                  <a:srgbClr val="94A3B8"/>
                </a:solidFill>
                <a:latin typeface="Calibri"/>
              </a:rPr>
              <a:t>+23%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57200" y="3008376"/>
            <a:ext cx="3759098" cy="256032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2920" y="3026664"/>
            <a:ext cx="3667658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F8FAFC"/>
                </a:solidFill>
                <a:latin typeface="Calibri"/>
              </a:rPr>
              <a:t>EMEA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216298" y="3008376"/>
            <a:ext cx="2819323" cy="256032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262018" y="3026664"/>
            <a:ext cx="2727883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F8FAFC"/>
                </a:solidFill>
                <a:latin typeface="Calibri"/>
              </a:rPr>
              <a:t>$350M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035622" y="3008376"/>
            <a:ext cx="2819323" cy="256032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081342" y="3026664"/>
            <a:ext cx="2727883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F8FAFC"/>
                </a:solidFill>
                <a:latin typeface="Calibri"/>
              </a:rPr>
              <a:t>$425M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854946" y="3008376"/>
            <a:ext cx="1879549" cy="256032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900666" y="3026664"/>
            <a:ext cx="1788109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F8FAFC"/>
                </a:solidFill>
                <a:latin typeface="Calibri"/>
              </a:rPr>
              <a:t>+21%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57200" y="3264408"/>
            <a:ext cx="3759098" cy="256032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02920" y="3282696"/>
            <a:ext cx="3667658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0">
                <a:solidFill>
                  <a:srgbClr val="F8FAFC"/>
                </a:solidFill>
                <a:latin typeface="Calibri"/>
              </a:rPr>
              <a:t>    UK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216298" y="3264408"/>
            <a:ext cx="2819323" cy="256032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262018" y="3282696"/>
            <a:ext cx="2727883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0">
                <a:solidFill>
                  <a:srgbClr val="F8FAFC"/>
                </a:solidFill>
                <a:latin typeface="Calibri"/>
              </a:rPr>
              <a:t>$200M</a:t>
            </a:r>
          </a:p>
        </p:txBody>
      </p:sp>
      <p:sp>
        <p:nvSpPr>
          <p:cNvPr id="58" name="Rectangle 57"/>
          <p:cNvSpPr/>
          <p:nvPr/>
        </p:nvSpPr>
        <p:spPr>
          <a:xfrm>
            <a:off x="7035622" y="3264408"/>
            <a:ext cx="2819323" cy="256032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081342" y="3282696"/>
            <a:ext cx="2727883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0">
                <a:solidFill>
                  <a:srgbClr val="F8FAFC"/>
                </a:solidFill>
                <a:latin typeface="Calibri"/>
              </a:rPr>
              <a:t>$245M</a:t>
            </a:r>
          </a:p>
        </p:txBody>
      </p:sp>
      <p:sp>
        <p:nvSpPr>
          <p:cNvPr id="60" name="Rectangle 59"/>
          <p:cNvSpPr/>
          <p:nvPr/>
        </p:nvSpPr>
        <p:spPr>
          <a:xfrm>
            <a:off x="9854946" y="3264408"/>
            <a:ext cx="1879549" cy="256032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900666" y="3282696"/>
            <a:ext cx="1788109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0">
                <a:solidFill>
                  <a:srgbClr val="F8FAFC"/>
                </a:solidFill>
                <a:latin typeface="Calibri"/>
              </a:rPr>
              <a:t>+22%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57200" y="3520440"/>
            <a:ext cx="3759098" cy="256032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02920" y="3538728"/>
            <a:ext cx="3667658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0">
                <a:solidFill>
                  <a:srgbClr val="F8FAFC"/>
                </a:solidFill>
                <a:latin typeface="Calibri"/>
              </a:rPr>
              <a:t>    France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216298" y="3520440"/>
            <a:ext cx="2819323" cy="256032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262018" y="3538728"/>
            <a:ext cx="2727883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0">
                <a:solidFill>
                  <a:srgbClr val="F8FAFC"/>
                </a:solidFill>
                <a:latin typeface="Calibri"/>
              </a:rPr>
              <a:t>$150M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035622" y="3520440"/>
            <a:ext cx="2819323" cy="256032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081342" y="3538728"/>
            <a:ext cx="2727883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0">
                <a:solidFill>
                  <a:srgbClr val="F8FAFC"/>
                </a:solidFill>
                <a:latin typeface="Calibri"/>
              </a:rPr>
              <a:t>$180M</a:t>
            </a:r>
          </a:p>
        </p:txBody>
      </p:sp>
      <p:sp>
        <p:nvSpPr>
          <p:cNvPr id="68" name="Rectangle 67"/>
          <p:cNvSpPr/>
          <p:nvPr/>
        </p:nvSpPr>
        <p:spPr>
          <a:xfrm>
            <a:off x="9854946" y="3520440"/>
            <a:ext cx="1879549" cy="256032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900666" y="3538728"/>
            <a:ext cx="1788109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0">
                <a:solidFill>
                  <a:srgbClr val="F8FAFC"/>
                </a:solidFill>
                <a:latin typeface="Calibri"/>
              </a:rPr>
              <a:t>+20%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57200" y="3776472"/>
            <a:ext cx="3759098" cy="256032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02920" y="3794760"/>
            <a:ext cx="3667658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1" i="0">
                <a:solidFill>
                  <a:srgbClr val="94A3B8"/>
                </a:solidFill>
                <a:latin typeface="Calibri"/>
              </a:rPr>
              <a:t>SubtotalEMEA</a:t>
            </a:r>
          </a:p>
        </p:txBody>
      </p:sp>
      <p:sp>
        <p:nvSpPr>
          <p:cNvPr id="72" name="Rectangle 71"/>
          <p:cNvSpPr/>
          <p:nvPr/>
        </p:nvSpPr>
        <p:spPr>
          <a:xfrm>
            <a:off x="4216298" y="3776472"/>
            <a:ext cx="2819323" cy="256032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4262018" y="3794760"/>
            <a:ext cx="2727883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1" i="0">
                <a:solidFill>
                  <a:srgbClr val="94A3B8"/>
                </a:solidFill>
                <a:latin typeface="Calibri"/>
              </a:rPr>
              <a:t>$350M</a:t>
            </a:r>
          </a:p>
        </p:txBody>
      </p:sp>
      <p:sp>
        <p:nvSpPr>
          <p:cNvPr id="74" name="Rectangle 73"/>
          <p:cNvSpPr/>
          <p:nvPr/>
        </p:nvSpPr>
        <p:spPr>
          <a:xfrm>
            <a:off x="7035622" y="3776472"/>
            <a:ext cx="2819323" cy="256032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7081342" y="3794760"/>
            <a:ext cx="2727883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1" i="0">
                <a:solidFill>
                  <a:srgbClr val="94A3B8"/>
                </a:solidFill>
                <a:latin typeface="Calibri"/>
              </a:rPr>
              <a:t>$425M</a:t>
            </a:r>
          </a:p>
        </p:txBody>
      </p:sp>
      <p:sp>
        <p:nvSpPr>
          <p:cNvPr id="76" name="Rectangle 75"/>
          <p:cNvSpPr/>
          <p:nvPr/>
        </p:nvSpPr>
        <p:spPr>
          <a:xfrm>
            <a:off x="9854946" y="3776472"/>
            <a:ext cx="1879549" cy="256032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9900666" y="3794760"/>
            <a:ext cx="1788109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1" i="0">
                <a:solidFill>
                  <a:srgbClr val="94A3B8"/>
                </a:solidFill>
                <a:latin typeface="Calibri"/>
              </a:rPr>
              <a:t>+21%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457200" y="4123944"/>
            <a:ext cx="3759098" cy="256032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02920" y="4142232"/>
            <a:ext cx="3667658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F8FAFC"/>
                </a:solidFill>
                <a:latin typeface="Calibri"/>
              </a:rPr>
              <a:t>APAC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216298" y="4123944"/>
            <a:ext cx="2819323" cy="256032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262018" y="4142232"/>
            <a:ext cx="2727883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F8FAFC"/>
                </a:solidFill>
                <a:latin typeface="Calibri"/>
              </a:rPr>
              <a:t>$220M</a:t>
            </a:r>
          </a:p>
        </p:txBody>
      </p:sp>
      <p:sp>
        <p:nvSpPr>
          <p:cNvPr id="82" name="Rectangle 81"/>
          <p:cNvSpPr/>
          <p:nvPr/>
        </p:nvSpPr>
        <p:spPr>
          <a:xfrm>
            <a:off x="7035622" y="4123944"/>
            <a:ext cx="2819323" cy="256032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7081342" y="4142232"/>
            <a:ext cx="2727883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F8FAFC"/>
                </a:solidFill>
                <a:latin typeface="Calibri"/>
              </a:rPr>
              <a:t>$285M</a:t>
            </a:r>
          </a:p>
        </p:txBody>
      </p:sp>
      <p:sp>
        <p:nvSpPr>
          <p:cNvPr id="84" name="Rectangle 83"/>
          <p:cNvSpPr/>
          <p:nvPr/>
        </p:nvSpPr>
        <p:spPr>
          <a:xfrm>
            <a:off x="9854946" y="4123944"/>
            <a:ext cx="1879549" cy="256032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9900666" y="4142232"/>
            <a:ext cx="1788109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F8FAFC"/>
                </a:solidFill>
                <a:latin typeface="Calibri"/>
              </a:rPr>
              <a:t>+30%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457200" y="4379976"/>
            <a:ext cx="3759098" cy="256032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502920" y="4398264"/>
            <a:ext cx="3667658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0">
                <a:solidFill>
                  <a:srgbClr val="F8FAFC"/>
                </a:solidFill>
                <a:latin typeface="Calibri"/>
              </a:rPr>
              <a:t>    India</a:t>
            </a:r>
          </a:p>
        </p:txBody>
      </p:sp>
      <p:sp>
        <p:nvSpPr>
          <p:cNvPr id="88" name="Rectangle 87"/>
          <p:cNvSpPr/>
          <p:nvPr/>
        </p:nvSpPr>
        <p:spPr>
          <a:xfrm>
            <a:off x="4216298" y="4379976"/>
            <a:ext cx="2819323" cy="256032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4262018" y="4398264"/>
            <a:ext cx="2727883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0">
                <a:solidFill>
                  <a:srgbClr val="F8FAFC"/>
                </a:solidFill>
                <a:latin typeface="Calibri"/>
              </a:rPr>
              <a:t>$120M</a:t>
            </a:r>
          </a:p>
        </p:txBody>
      </p:sp>
      <p:sp>
        <p:nvSpPr>
          <p:cNvPr id="90" name="Rectangle 89"/>
          <p:cNvSpPr/>
          <p:nvPr/>
        </p:nvSpPr>
        <p:spPr>
          <a:xfrm>
            <a:off x="7035622" y="4379976"/>
            <a:ext cx="2819323" cy="256032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7081342" y="4398264"/>
            <a:ext cx="2727883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0">
                <a:solidFill>
                  <a:srgbClr val="F8FAFC"/>
                </a:solidFill>
                <a:latin typeface="Calibri"/>
              </a:rPr>
              <a:t>$165M</a:t>
            </a:r>
          </a:p>
        </p:txBody>
      </p:sp>
      <p:sp>
        <p:nvSpPr>
          <p:cNvPr id="92" name="Rectangle 91"/>
          <p:cNvSpPr/>
          <p:nvPr/>
        </p:nvSpPr>
        <p:spPr>
          <a:xfrm>
            <a:off x="9854946" y="4379976"/>
            <a:ext cx="1879549" cy="256032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9900666" y="4398264"/>
            <a:ext cx="1788109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0">
                <a:solidFill>
                  <a:srgbClr val="F8FAFC"/>
                </a:solidFill>
                <a:latin typeface="Calibri"/>
              </a:rPr>
              <a:t>+38%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457200" y="4636008"/>
            <a:ext cx="3759098" cy="256032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502920" y="4654296"/>
            <a:ext cx="3667658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0">
                <a:solidFill>
                  <a:srgbClr val="F8FAFC"/>
                </a:solidFill>
                <a:latin typeface="Calibri"/>
              </a:rPr>
              <a:t>    Australia</a:t>
            </a:r>
          </a:p>
        </p:txBody>
      </p:sp>
      <p:sp>
        <p:nvSpPr>
          <p:cNvPr id="96" name="Rectangle 95"/>
          <p:cNvSpPr/>
          <p:nvPr/>
        </p:nvSpPr>
        <p:spPr>
          <a:xfrm>
            <a:off x="4216298" y="4636008"/>
            <a:ext cx="2819323" cy="256032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4262018" y="4654296"/>
            <a:ext cx="2727883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0">
                <a:solidFill>
                  <a:srgbClr val="F8FAFC"/>
                </a:solidFill>
                <a:latin typeface="Calibri"/>
              </a:rPr>
              <a:t>$100M</a:t>
            </a:r>
          </a:p>
        </p:txBody>
      </p:sp>
      <p:sp>
        <p:nvSpPr>
          <p:cNvPr id="98" name="Rectangle 97"/>
          <p:cNvSpPr/>
          <p:nvPr/>
        </p:nvSpPr>
        <p:spPr>
          <a:xfrm>
            <a:off x="7035622" y="4636008"/>
            <a:ext cx="2819323" cy="256032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7081342" y="4654296"/>
            <a:ext cx="2727883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0">
                <a:solidFill>
                  <a:srgbClr val="F8FAFC"/>
                </a:solidFill>
                <a:latin typeface="Calibri"/>
              </a:rPr>
              <a:t>$120M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9854946" y="4636008"/>
            <a:ext cx="1879549" cy="256032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9900666" y="4654296"/>
            <a:ext cx="1788109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0">
                <a:solidFill>
                  <a:srgbClr val="F8FAFC"/>
                </a:solidFill>
                <a:latin typeface="Calibri"/>
              </a:rPr>
              <a:t>+20%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457200" y="4892040"/>
            <a:ext cx="3759098" cy="256032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502920" y="4910328"/>
            <a:ext cx="3667658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1" i="0">
                <a:solidFill>
                  <a:srgbClr val="94A3B8"/>
                </a:solidFill>
                <a:latin typeface="Calibri"/>
              </a:rPr>
              <a:t>SubtotalAPAC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4216298" y="4892040"/>
            <a:ext cx="2819323" cy="256032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4262018" y="4910328"/>
            <a:ext cx="2727883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1" i="0">
                <a:solidFill>
                  <a:srgbClr val="94A3B8"/>
                </a:solidFill>
                <a:latin typeface="Calibri"/>
              </a:rPr>
              <a:t>$220M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7035622" y="4892040"/>
            <a:ext cx="2819323" cy="256032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7081342" y="4910328"/>
            <a:ext cx="2727883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1" i="0">
                <a:solidFill>
                  <a:srgbClr val="94A3B8"/>
                </a:solidFill>
                <a:latin typeface="Calibri"/>
              </a:rPr>
              <a:t>$285M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9854946" y="4892040"/>
            <a:ext cx="1879549" cy="256032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9900666" y="4910328"/>
            <a:ext cx="1788109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1" i="0">
                <a:solidFill>
                  <a:srgbClr val="94A3B8"/>
                </a:solidFill>
                <a:latin typeface="Calibri"/>
              </a:rPr>
              <a:t>+30%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45720" cy="5486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967709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F8FAFC"/>
                </a:solidFill>
                <a:latin typeface="Calibri Light"/>
              </a:rPr>
              <a:t>Phase 4: Animation &amp; Transitions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545775" y="571500"/>
            <a:ext cx="1188720" cy="320040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Effects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25880"/>
            <a:ext cx="11277295" cy="6400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481328"/>
            <a:ext cx="11277295" cy="3520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4000" b="1" i="0">
                <a:solidFill>
                  <a:srgbClr val="F8FAFC"/>
                </a:solidFill>
                <a:latin typeface="Calibri Light"/>
              </a:rPr>
              <a:t>Welcome!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833372"/>
            <a:ext cx="11277295" cy="13258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0" i="0">
                <a:solidFill>
                  <a:srgbClr val="CBD5E1"/>
                </a:solidFill>
                <a:latin typeface="Calibri Light"/>
              </a:rPr>
              <a:t>This title fades in (static → see rendered output)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331720"/>
            <a:ext cx="3637178" cy="1097280"/>
          </a:xfrm>
          <a:prstGeom prst="roundRect">
            <a:avLst>
              <a:gd name="adj" fmla="val 4166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331720"/>
            <a:ext cx="45720" cy="109728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514600"/>
            <a:ext cx="32256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ENGAGEMENT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743200"/>
            <a:ext cx="3225698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F8FAFC"/>
                </a:solidFill>
                <a:latin typeface="Calibri Light"/>
              </a:rPr>
              <a:t>92%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154680"/>
            <a:ext cx="32256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22C55E"/>
                </a:solidFill>
                <a:latin typeface="Calibri"/>
              </a:rPr>
              <a:t>▲ +5pp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77258" y="2331720"/>
            <a:ext cx="3637178" cy="1097280"/>
          </a:xfrm>
          <a:prstGeom prst="roundRect">
            <a:avLst>
              <a:gd name="adj" fmla="val 4166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77258" y="2331720"/>
            <a:ext cx="45720" cy="109728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05858" y="2514600"/>
            <a:ext cx="32256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ACCURACY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05858" y="2743200"/>
            <a:ext cx="3225698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F8FAFC"/>
                </a:solidFill>
                <a:latin typeface="Calibri Light"/>
              </a:rPr>
              <a:t>87%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05858" y="3154680"/>
            <a:ext cx="32256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22C55E"/>
                </a:solidFill>
                <a:latin typeface="Calibri"/>
              </a:rPr>
              <a:t>▲ +8%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97316" y="2331720"/>
            <a:ext cx="3637178" cy="1097280"/>
          </a:xfrm>
          <a:prstGeom prst="roundRect">
            <a:avLst>
              <a:gd name="adj" fmla="val 4166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97316" y="2331720"/>
            <a:ext cx="45720" cy="109728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25916" y="2514600"/>
            <a:ext cx="32256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ADOPTION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5916" y="2743200"/>
            <a:ext cx="3225698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F8FAFC"/>
                </a:solidFill>
                <a:latin typeface="Calibri Light"/>
              </a:rPr>
              <a:t>72%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5916" y="3154680"/>
            <a:ext cx="32256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22C55E"/>
                </a:solidFill>
                <a:latin typeface="Calibri"/>
              </a:rPr>
              <a:t>▲ +12%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3840479"/>
            <a:ext cx="11277295" cy="914400"/>
          </a:xfrm>
          <a:prstGeom prst="roundRect">
            <a:avLst>
              <a:gd name="adj" fmla="val 5000"/>
            </a:avLst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3840479"/>
            <a:ext cx="45720" cy="9144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4023359"/>
            <a:ext cx="10957255" cy="54863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94A3B8"/>
                </a:solidFill>
                <a:latin typeface="Calibri"/>
              </a:rPr>
              <a:t>Note: python-pptx does not natively support embedded slide animations. Animation effects render at their end state in static PowerPoint. For true animations, export slides to PNG via render_frame() or use PowerPoint GUI.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