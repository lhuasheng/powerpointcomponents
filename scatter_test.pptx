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>
                <a:solidFill>
                  <a:srgbClr val="0F172A"/>
                </a:solidFill>
                <a:latin typeface="Calibri"/>
              </a:rPr>
              <a:t>Effort vs Impact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Initiative A</c:v>
                </c:pt>
              </c:strCache>
            </c:strRef>
          </c:tx>
          <c:spPr>
            <a:solidFill>
              <a:srgbClr val="2563EB"/>
            </a:solidFill>
            <a:ln w="47625">
              <a:noFill/>
            </a:ln>
          </c:spPr>
          <c:marker>
            <c:size val="8"/>
            <c:spPr>
              <a:solidFill>
                <a:srgbClr val="3B82F6"/>
              </a:solidFill>
              <a:ln>
                <a:noFill/>
              </a:ln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Initiative B</c:v>
                </c:pt>
              </c:strCache>
            </c:strRef>
          </c:tx>
          <c:spPr>
            <a:solidFill>
              <a:srgbClr val="93C5FD"/>
            </a:solidFill>
            <a:ln w="47625">
              <a:noFill/>
            </a:ln>
          </c:spPr>
          <c:marker>
            <c:size val="8"/>
            <c:spPr>
              <a:solidFill>
                <a:srgbClr val="10B981"/>
              </a:solidFill>
              <a:ln>
                <a:noFill/>
              </a:ln>
            </c:spPr>
          </c:marker>
          <c:xVal>
            <c:numRef>
              <c:f>Sheet1!$A$7:$A$9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xVal>
          <c:yVal>
            <c:numRef>
              <c:f>Sheet1!$B$7:$B$9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Sheet1!$B$11</c:f>
              <c:strCache>
                <c:ptCount val="1"/>
                <c:pt idx="0">
                  <c:v>Initiative C</c:v>
                </c:pt>
              </c:strCache>
            </c:strRef>
          </c:tx>
          <c:spPr>
            <a:solidFill>
              <a:srgbClr val="64748B"/>
            </a:solidFill>
            <a:ln w="47625">
              <a:noFill/>
            </a:ln>
          </c:spPr>
          <c:marker>
            <c:size val="8"/>
            <c:spPr>
              <a:solidFill>
                <a:srgbClr val="F97316"/>
              </a:solidFill>
              <a:ln>
                <a:noFill/>
              </a:ln>
            </c:spPr>
          </c:marker>
          <c:xVal>
            <c:numRef>
              <c:f>Sheet1!$A$12:$A$13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xVal>
          <c:yVal>
            <c:numRef>
              <c:f>Sheet1!$B$12:$B$13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>
                    <a:solidFill>
                      <a:srgbClr val="334155"/>
                    </a:solidFill>
                  </a:rPr>
                  <a:t>Effort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>
                    <a:solidFill>
                      <a:srgbClr val="334155"/>
                    </a:solidFill>
                  </a:rPr>
                  <a:t>Impact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